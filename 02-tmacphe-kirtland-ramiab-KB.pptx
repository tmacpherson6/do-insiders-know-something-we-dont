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3" r:id="rId8"/>
    <p:sldId id="262" r:id="rId9"/>
    <p:sldId id="264" r:id="rId10"/>
    <p:sldId id="265" r:id="rId11"/>
    <p:sldId id="266" r:id="rId12"/>
  </p:sldIdLst>
  <p:sldSz cx="12188825" cy="6858000"/>
  <p:notesSz cx="6858000" cy="9144000"/>
  <p:embeddedFontLst>
    <p:embeddedFont>
      <p:font typeface="Roboto Condensed" panose="02000000000000000000" pitchFamily="2" charset="0"/>
      <p:regular r:id="rId14"/>
      <p:bold r:id="rId15"/>
      <p:italic r:id="rId16"/>
      <p:boldItalic r:id="rId17"/>
    </p:embeddedFont>
    <p:embeddedFont>
      <p:font typeface="Roboto Mono" panose="00000009000000000000" pitchFamily="49"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guide id="3" orient="horz" pos="1200">
          <p15:clr>
            <a:srgbClr val="9AA0A6"/>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5" roundtripDataSignature="AMtx7mhYCERjfTiog5M8ALqiUg2al05/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A2C0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0" d="100"/>
          <a:sy n="140" d="100"/>
        </p:scale>
        <p:origin x="966" y="654"/>
      </p:cViewPr>
      <p:guideLst>
        <p:guide orient="horz" pos="2160"/>
        <p:guide pos="3839"/>
        <p:guide orient="horz" pos="120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customschemas.google.com/relationships/presentationmetadata" Target="meta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omas MacPherson" userId="42c9da909567d9d7" providerId="LiveId" clId="{427B0E29-7DD1-4E2F-B77E-5696920B1BE2}"/>
    <pc:docChg chg="modSld">
      <pc:chgData name="Thomas MacPherson" userId="42c9da909567d9d7" providerId="LiveId" clId="{427B0E29-7DD1-4E2F-B77E-5696920B1BE2}" dt="2025-06-23T00:24:46.496" v="5" actId="20577"/>
      <pc:docMkLst>
        <pc:docMk/>
      </pc:docMkLst>
      <pc:sldChg chg="modSp mod">
        <pc:chgData name="Thomas MacPherson" userId="42c9da909567d9d7" providerId="LiveId" clId="{427B0E29-7DD1-4E2F-B77E-5696920B1BE2}" dt="2025-06-23T00:24:46.496" v="5" actId="20577"/>
        <pc:sldMkLst>
          <pc:docMk/>
          <pc:sldMk cId="0" sldId="256"/>
        </pc:sldMkLst>
        <pc:spChg chg="mod">
          <ac:chgData name="Thomas MacPherson" userId="42c9da909567d9d7" providerId="LiveId" clId="{427B0E29-7DD1-4E2F-B77E-5696920B1BE2}" dt="2025-06-23T00:24:46.496" v="5" actId="20577"/>
          <ac:spMkLst>
            <pc:docMk/>
            <pc:sldMk cId="0" sldId="256"/>
            <ac:spMk id="5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2063" y="685800"/>
            <a:ext cx="60945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
        <p:cNvGrpSpPr/>
        <p:nvPr/>
      </p:nvGrpSpPr>
      <p:grpSpPr>
        <a:xfrm>
          <a:off x="0" y="0"/>
          <a:ext cx="0" cy="0"/>
          <a:chOff x="0" y="0"/>
          <a:chExt cx="0" cy="0"/>
        </a:xfrm>
      </p:grpSpPr>
      <p:sp>
        <p:nvSpPr>
          <p:cNvPr id="33" name="Google Shape;33;p1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 name="Google Shape;34;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3: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 name="Google Shape;63;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607a03d555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8" name="Google Shape;88;g3607a03d55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6592e60c4d_4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g36592e60c4d_4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5: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2" name="Google Shape;152;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61ad93cfdf_0_3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9" name="Google Shape;219;g361ad93cfdf_0_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6a64e074a5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2" name="Google Shape;282;g36a64e074a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6: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36ba9d7cec_0_2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6" name="Google Shape;306;g336ba9d7cec_0_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36592e60c4d_2_8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8" name="Google Shape;328;g36592e60c4d_2_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8" name="Google Shape;35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with 2 Columns">
  <p:cSld name="BLANK_1_1">
    <p:spTree>
      <p:nvGrpSpPr>
        <p:cNvPr id="1" name="Shape 9"/>
        <p:cNvGrpSpPr/>
        <p:nvPr/>
      </p:nvGrpSpPr>
      <p:grpSpPr>
        <a:xfrm>
          <a:off x="0" y="0"/>
          <a:ext cx="0" cy="0"/>
          <a:chOff x="0" y="0"/>
          <a:chExt cx="0" cy="0"/>
        </a:xfrm>
      </p:grpSpPr>
      <p:sp>
        <p:nvSpPr>
          <p:cNvPr id="10" name="Google Shape;10;p12"/>
          <p:cNvSpPr txBox="1">
            <a:spLocks noGrp="1"/>
          </p:cNvSpPr>
          <p:nvPr>
            <p:ph type="sldNum" idx="12"/>
          </p:nvPr>
        </p:nvSpPr>
        <p:spPr>
          <a:xfrm>
            <a:off x="11293784" y="6217622"/>
            <a:ext cx="731400" cy="524700"/>
          </a:xfrm>
          <a:prstGeom prst="rect">
            <a:avLst/>
          </a:prstGeom>
          <a:noFill/>
          <a:ln>
            <a:noFill/>
          </a:ln>
        </p:spPr>
        <p:txBody>
          <a:bodyPr spcFirstLastPara="1" wrap="square" lIns="121875" tIns="121875" rIns="121875" bIns="121875" anchor="ctr"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1" name="Google Shape;11;p12"/>
          <p:cNvSpPr txBox="1">
            <a:spLocks noGrp="1"/>
          </p:cNvSpPr>
          <p:nvPr>
            <p:ph type="body" idx="1"/>
          </p:nvPr>
        </p:nvSpPr>
        <p:spPr>
          <a:xfrm>
            <a:off x="530350" y="1740400"/>
            <a:ext cx="5321700" cy="2481900"/>
          </a:xfrm>
          <a:prstGeom prst="rect">
            <a:avLst/>
          </a:prstGeom>
          <a:noFill/>
          <a:ln>
            <a:noFill/>
          </a:ln>
        </p:spPr>
        <p:txBody>
          <a:bodyPr spcFirstLastPara="1" wrap="square" lIns="121875" tIns="121875" rIns="121875" bIns="121875" anchor="t" anchorCtr="0">
            <a:noAutofit/>
          </a:bodyPr>
          <a:lstStyle>
            <a:lvl1pPr marL="457200" lvl="0" indent="-298450" algn="l">
              <a:lnSpc>
                <a:spcPct val="115000"/>
              </a:lnSpc>
              <a:spcBef>
                <a:spcPts val="0"/>
              </a:spcBef>
              <a:spcAft>
                <a:spcPts val="0"/>
              </a:spcAft>
              <a:buSzPts val="1100"/>
              <a:buChar char="●"/>
              <a:defRPr sz="1100"/>
            </a:lvl1pPr>
            <a:lvl2pPr marL="914400" lvl="1" indent="-298450" algn="l">
              <a:lnSpc>
                <a:spcPct val="115000"/>
              </a:lnSpc>
              <a:spcBef>
                <a:spcPts val="2100"/>
              </a:spcBef>
              <a:spcAft>
                <a:spcPts val="0"/>
              </a:spcAft>
              <a:buSzPts val="1100"/>
              <a:buChar char="○"/>
              <a:defRPr sz="1100"/>
            </a:lvl2pPr>
            <a:lvl3pPr marL="1371600" lvl="2" indent="-298450" algn="l">
              <a:lnSpc>
                <a:spcPct val="115000"/>
              </a:lnSpc>
              <a:spcBef>
                <a:spcPts val="2100"/>
              </a:spcBef>
              <a:spcAft>
                <a:spcPts val="0"/>
              </a:spcAft>
              <a:buSzPts val="1100"/>
              <a:buChar char="■"/>
              <a:defRPr sz="1100"/>
            </a:lvl3pPr>
            <a:lvl4pPr marL="1828800" lvl="3" indent="-298450" algn="l">
              <a:lnSpc>
                <a:spcPct val="115000"/>
              </a:lnSpc>
              <a:spcBef>
                <a:spcPts val="2100"/>
              </a:spcBef>
              <a:spcAft>
                <a:spcPts val="0"/>
              </a:spcAft>
              <a:buSzPts val="1100"/>
              <a:buChar char="●"/>
              <a:defRPr sz="1100"/>
            </a:lvl4pPr>
            <a:lvl5pPr marL="2286000" lvl="4" indent="-298450" algn="l">
              <a:lnSpc>
                <a:spcPct val="115000"/>
              </a:lnSpc>
              <a:spcBef>
                <a:spcPts val="2100"/>
              </a:spcBef>
              <a:spcAft>
                <a:spcPts val="0"/>
              </a:spcAft>
              <a:buSzPts val="1100"/>
              <a:buChar char="○"/>
              <a:defRPr sz="1100"/>
            </a:lvl5pPr>
            <a:lvl6pPr marL="2743200" lvl="5" indent="-298450" algn="l">
              <a:lnSpc>
                <a:spcPct val="115000"/>
              </a:lnSpc>
              <a:spcBef>
                <a:spcPts val="2100"/>
              </a:spcBef>
              <a:spcAft>
                <a:spcPts val="0"/>
              </a:spcAft>
              <a:buSzPts val="1100"/>
              <a:buChar char="■"/>
              <a:defRPr sz="1100"/>
            </a:lvl6pPr>
            <a:lvl7pPr marL="3200400" lvl="6" indent="-298450" algn="l">
              <a:lnSpc>
                <a:spcPct val="115000"/>
              </a:lnSpc>
              <a:spcBef>
                <a:spcPts val="2100"/>
              </a:spcBef>
              <a:spcAft>
                <a:spcPts val="0"/>
              </a:spcAft>
              <a:buSzPts val="1100"/>
              <a:buChar char="●"/>
              <a:defRPr sz="1100"/>
            </a:lvl7pPr>
            <a:lvl8pPr marL="3657600" lvl="7" indent="-298450" algn="l">
              <a:lnSpc>
                <a:spcPct val="115000"/>
              </a:lnSpc>
              <a:spcBef>
                <a:spcPts val="2100"/>
              </a:spcBef>
              <a:spcAft>
                <a:spcPts val="0"/>
              </a:spcAft>
              <a:buSzPts val="1100"/>
              <a:buChar char="○"/>
              <a:defRPr sz="1100"/>
            </a:lvl8pPr>
            <a:lvl9pPr marL="4114800" lvl="8" indent="-298450" algn="l">
              <a:lnSpc>
                <a:spcPct val="115000"/>
              </a:lnSpc>
              <a:spcBef>
                <a:spcPts val="2100"/>
              </a:spcBef>
              <a:spcAft>
                <a:spcPts val="2100"/>
              </a:spcAft>
              <a:buSzPts val="1100"/>
              <a:buChar char="■"/>
              <a:defRPr sz="1100"/>
            </a:lvl9pPr>
          </a:lstStyle>
          <a:p>
            <a:endParaRPr/>
          </a:p>
        </p:txBody>
      </p:sp>
      <p:sp>
        <p:nvSpPr>
          <p:cNvPr id="12" name="Google Shape;12;p12"/>
          <p:cNvSpPr txBox="1">
            <a:spLocks noGrp="1"/>
          </p:cNvSpPr>
          <p:nvPr>
            <p:ph type="body" idx="2"/>
          </p:nvPr>
        </p:nvSpPr>
        <p:spPr>
          <a:xfrm>
            <a:off x="6291072" y="1740400"/>
            <a:ext cx="5321700" cy="4407300"/>
          </a:xfrm>
          <a:prstGeom prst="rect">
            <a:avLst/>
          </a:prstGeom>
          <a:noFill/>
          <a:ln>
            <a:noFill/>
          </a:ln>
        </p:spPr>
        <p:txBody>
          <a:bodyPr spcFirstLastPara="1" wrap="square" lIns="121875" tIns="121875" rIns="121875" bIns="121875" anchor="t" anchorCtr="0">
            <a:noAutofit/>
          </a:bodyPr>
          <a:lstStyle>
            <a:lvl1pPr marL="457200" lvl="0" indent="-298450" algn="l">
              <a:lnSpc>
                <a:spcPct val="115000"/>
              </a:lnSpc>
              <a:spcBef>
                <a:spcPts val="0"/>
              </a:spcBef>
              <a:spcAft>
                <a:spcPts val="0"/>
              </a:spcAft>
              <a:buSzPts val="1100"/>
              <a:buChar char="●"/>
              <a:defRPr sz="1100"/>
            </a:lvl1pPr>
            <a:lvl2pPr marL="914400" lvl="1" indent="-298450" algn="l">
              <a:lnSpc>
                <a:spcPct val="115000"/>
              </a:lnSpc>
              <a:spcBef>
                <a:spcPts val="2100"/>
              </a:spcBef>
              <a:spcAft>
                <a:spcPts val="0"/>
              </a:spcAft>
              <a:buSzPts val="1100"/>
              <a:buChar char="○"/>
              <a:defRPr sz="1100"/>
            </a:lvl2pPr>
            <a:lvl3pPr marL="1371600" lvl="2" indent="-298450" algn="l">
              <a:lnSpc>
                <a:spcPct val="115000"/>
              </a:lnSpc>
              <a:spcBef>
                <a:spcPts val="2100"/>
              </a:spcBef>
              <a:spcAft>
                <a:spcPts val="0"/>
              </a:spcAft>
              <a:buSzPts val="1100"/>
              <a:buChar char="■"/>
              <a:defRPr sz="1100"/>
            </a:lvl3pPr>
            <a:lvl4pPr marL="1828800" lvl="3" indent="-298450" algn="l">
              <a:lnSpc>
                <a:spcPct val="115000"/>
              </a:lnSpc>
              <a:spcBef>
                <a:spcPts val="2100"/>
              </a:spcBef>
              <a:spcAft>
                <a:spcPts val="0"/>
              </a:spcAft>
              <a:buSzPts val="1100"/>
              <a:buChar char="●"/>
              <a:defRPr sz="1100"/>
            </a:lvl4pPr>
            <a:lvl5pPr marL="2286000" lvl="4" indent="-298450" algn="l">
              <a:lnSpc>
                <a:spcPct val="115000"/>
              </a:lnSpc>
              <a:spcBef>
                <a:spcPts val="2100"/>
              </a:spcBef>
              <a:spcAft>
                <a:spcPts val="0"/>
              </a:spcAft>
              <a:buSzPts val="1100"/>
              <a:buChar char="○"/>
              <a:defRPr sz="1100"/>
            </a:lvl5pPr>
            <a:lvl6pPr marL="2743200" lvl="5" indent="-298450" algn="l">
              <a:lnSpc>
                <a:spcPct val="115000"/>
              </a:lnSpc>
              <a:spcBef>
                <a:spcPts val="2100"/>
              </a:spcBef>
              <a:spcAft>
                <a:spcPts val="0"/>
              </a:spcAft>
              <a:buSzPts val="1100"/>
              <a:buChar char="■"/>
              <a:defRPr sz="1100"/>
            </a:lvl6pPr>
            <a:lvl7pPr marL="3200400" lvl="6" indent="-298450" algn="l">
              <a:lnSpc>
                <a:spcPct val="115000"/>
              </a:lnSpc>
              <a:spcBef>
                <a:spcPts val="2100"/>
              </a:spcBef>
              <a:spcAft>
                <a:spcPts val="0"/>
              </a:spcAft>
              <a:buSzPts val="1100"/>
              <a:buChar char="●"/>
              <a:defRPr sz="1100"/>
            </a:lvl7pPr>
            <a:lvl8pPr marL="3657600" lvl="7" indent="-298450" algn="l">
              <a:lnSpc>
                <a:spcPct val="115000"/>
              </a:lnSpc>
              <a:spcBef>
                <a:spcPts val="2100"/>
              </a:spcBef>
              <a:spcAft>
                <a:spcPts val="0"/>
              </a:spcAft>
              <a:buSzPts val="1100"/>
              <a:buChar char="○"/>
              <a:defRPr sz="1100"/>
            </a:lvl8pPr>
            <a:lvl9pPr marL="4114800" lvl="8" indent="-298450" algn="l">
              <a:lnSpc>
                <a:spcPct val="115000"/>
              </a:lnSpc>
              <a:spcBef>
                <a:spcPts val="2100"/>
              </a:spcBef>
              <a:spcAft>
                <a:spcPts val="2100"/>
              </a:spcAft>
              <a:buSzPts val="1100"/>
              <a:buChar char="■"/>
              <a:defRPr sz="1100"/>
            </a:lvl9pPr>
          </a:lstStyle>
          <a:p>
            <a:endParaRPr/>
          </a:p>
        </p:txBody>
      </p:sp>
      <p:sp>
        <p:nvSpPr>
          <p:cNvPr id="13" name="Google Shape;13;p12"/>
          <p:cNvSpPr txBox="1">
            <a:spLocks noGrp="1"/>
          </p:cNvSpPr>
          <p:nvPr>
            <p:ph type="title"/>
          </p:nvPr>
        </p:nvSpPr>
        <p:spPr>
          <a:xfrm>
            <a:off x="415496" y="194567"/>
            <a:ext cx="11358000" cy="763500"/>
          </a:xfrm>
          <a:prstGeom prst="rect">
            <a:avLst/>
          </a:prstGeom>
          <a:noFill/>
          <a:ln>
            <a:noFill/>
          </a:ln>
        </p:spPr>
        <p:txBody>
          <a:bodyPr spcFirstLastPara="1" wrap="square" lIns="121875" tIns="121875" rIns="121875" bIns="121875" anchor="t" anchorCtr="0">
            <a:noAutofit/>
          </a:bodyPr>
          <a:lstStyle>
            <a:lvl1pPr lvl="0" algn="l">
              <a:lnSpc>
                <a:spcPct val="100000"/>
              </a:lnSpc>
              <a:spcBef>
                <a:spcPts val="0"/>
              </a:spcBef>
              <a:spcAft>
                <a:spcPts val="0"/>
              </a:spcAft>
              <a:buSzPts val="3700"/>
              <a:buFont typeface="Roboto Condensed"/>
              <a:buNone/>
              <a:defRPr>
                <a:latin typeface="Roboto Condensed"/>
                <a:ea typeface="Roboto Condensed"/>
                <a:cs typeface="Roboto Condensed"/>
                <a:sym typeface="Roboto Condensed"/>
              </a:defRPr>
            </a:lvl1pPr>
            <a:lvl2pPr lvl="1" algn="l">
              <a:lnSpc>
                <a:spcPct val="100000"/>
              </a:lnSpc>
              <a:spcBef>
                <a:spcPts val="0"/>
              </a:spcBef>
              <a:spcAft>
                <a:spcPts val="0"/>
              </a:spcAft>
              <a:buSzPts val="3700"/>
              <a:buFont typeface="Roboto Condensed"/>
              <a:buNone/>
              <a:defRPr>
                <a:latin typeface="Roboto Condensed"/>
                <a:ea typeface="Roboto Condensed"/>
                <a:cs typeface="Roboto Condensed"/>
                <a:sym typeface="Roboto Condensed"/>
              </a:defRPr>
            </a:lvl2pPr>
            <a:lvl3pPr lvl="2" algn="l">
              <a:lnSpc>
                <a:spcPct val="100000"/>
              </a:lnSpc>
              <a:spcBef>
                <a:spcPts val="0"/>
              </a:spcBef>
              <a:spcAft>
                <a:spcPts val="0"/>
              </a:spcAft>
              <a:buSzPts val="3700"/>
              <a:buFont typeface="Roboto Condensed"/>
              <a:buNone/>
              <a:defRPr>
                <a:latin typeface="Roboto Condensed"/>
                <a:ea typeface="Roboto Condensed"/>
                <a:cs typeface="Roboto Condensed"/>
                <a:sym typeface="Roboto Condensed"/>
              </a:defRPr>
            </a:lvl3pPr>
            <a:lvl4pPr lvl="3" algn="l">
              <a:lnSpc>
                <a:spcPct val="100000"/>
              </a:lnSpc>
              <a:spcBef>
                <a:spcPts val="0"/>
              </a:spcBef>
              <a:spcAft>
                <a:spcPts val="0"/>
              </a:spcAft>
              <a:buSzPts val="3700"/>
              <a:buFont typeface="Roboto Condensed"/>
              <a:buNone/>
              <a:defRPr>
                <a:latin typeface="Roboto Condensed"/>
                <a:ea typeface="Roboto Condensed"/>
                <a:cs typeface="Roboto Condensed"/>
                <a:sym typeface="Roboto Condensed"/>
              </a:defRPr>
            </a:lvl4pPr>
            <a:lvl5pPr lvl="4" algn="l">
              <a:lnSpc>
                <a:spcPct val="100000"/>
              </a:lnSpc>
              <a:spcBef>
                <a:spcPts val="0"/>
              </a:spcBef>
              <a:spcAft>
                <a:spcPts val="0"/>
              </a:spcAft>
              <a:buSzPts val="3700"/>
              <a:buFont typeface="Roboto Condensed"/>
              <a:buNone/>
              <a:defRPr>
                <a:latin typeface="Roboto Condensed"/>
                <a:ea typeface="Roboto Condensed"/>
                <a:cs typeface="Roboto Condensed"/>
                <a:sym typeface="Roboto Condensed"/>
              </a:defRPr>
            </a:lvl5pPr>
            <a:lvl6pPr lvl="5" algn="l">
              <a:lnSpc>
                <a:spcPct val="100000"/>
              </a:lnSpc>
              <a:spcBef>
                <a:spcPts val="0"/>
              </a:spcBef>
              <a:spcAft>
                <a:spcPts val="0"/>
              </a:spcAft>
              <a:buSzPts val="3700"/>
              <a:buFont typeface="Roboto Condensed"/>
              <a:buNone/>
              <a:defRPr>
                <a:latin typeface="Roboto Condensed"/>
                <a:ea typeface="Roboto Condensed"/>
                <a:cs typeface="Roboto Condensed"/>
                <a:sym typeface="Roboto Condensed"/>
              </a:defRPr>
            </a:lvl6pPr>
            <a:lvl7pPr lvl="6" algn="l">
              <a:lnSpc>
                <a:spcPct val="100000"/>
              </a:lnSpc>
              <a:spcBef>
                <a:spcPts val="0"/>
              </a:spcBef>
              <a:spcAft>
                <a:spcPts val="0"/>
              </a:spcAft>
              <a:buSzPts val="3700"/>
              <a:buFont typeface="Roboto Condensed"/>
              <a:buNone/>
              <a:defRPr>
                <a:latin typeface="Roboto Condensed"/>
                <a:ea typeface="Roboto Condensed"/>
                <a:cs typeface="Roboto Condensed"/>
                <a:sym typeface="Roboto Condensed"/>
              </a:defRPr>
            </a:lvl7pPr>
            <a:lvl8pPr lvl="7" algn="l">
              <a:lnSpc>
                <a:spcPct val="100000"/>
              </a:lnSpc>
              <a:spcBef>
                <a:spcPts val="0"/>
              </a:spcBef>
              <a:spcAft>
                <a:spcPts val="0"/>
              </a:spcAft>
              <a:buSzPts val="3700"/>
              <a:buFont typeface="Roboto Condensed"/>
              <a:buNone/>
              <a:defRPr>
                <a:latin typeface="Roboto Condensed"/>
                <a:ea typeface="Roboto Condensed"/>
                <a:cs typeface="Roboto Condensed"/>
                <a:sym typeface="Roboto Condensed"/>
              </a:defRPr>
            </a:lvl8pPr>
            <a:lvl9pPr lvl="8" algn="l">
              <a:lnSpc>
                <a:spcPct val="100000"/>
              </a:lnSpc>
              <a:spcBef>
                <a:spcPts val="0"/>
              </a:spcBef>
              <a:spcAft>
                <a:spcPts val="0"/>
              </a:spcAft>
              <a:buSzPts val="3700"/>
              <a:buFont typeface="Roboto Condensed"/>
              <a:buNone/>
              <a:defRPr>
                <a:latin typeface="Roboto Condensed"/>
                <a:ea typeface="Roboto Condensed"/>
                <a:cs typeface="Roboto Condensed"/>
                <a:sym typeface="Roboto Condensed"/>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4"/>
        <p:cNvGrpSpPr/>
        <p:nvPr/>
      </p:nvGrpSpPr>
      <p:grpSpPr>
        <a:xfrm>
          <a:off x="0" y="0"/>
          <a:ext cx="0" cy="0"/>
          <a:chOff x="0" y="0"/>
          <a:chExt cx="0" cy="0"/>
        </a:xfrm>
      </p:grpSpPr>
      <p:sp>
        <p:nvSpPr>
          <p:cNvPr id="15" name="Google Shape;15;p13"/>
          <p:cNvSpPr txBox="1">
            <a:spLocks noGrp="1"/>
          </p:cNvSpPr>
          <p:nvPr>
            <p:ph type="ctrTitle"/>
          </p:nvPr>
        </p:nvSpPr>
        <p:spPr>
          <a:xfrm>
            <a:off x="415507" y="992767"/>
            <a:ext cx="11358000" cy="2736900"/>
          </a:xfrm>
          <a:prstGeom prst="rect">
            <a:avLst/>
          </a:prstGeom>
          <a:noFill/>
          <a:ln>
            <a:noFill/>
          </a:ln>
        </p:spPr>
        <p:txBody>
          <a:bodyPr spcFirstLastPara="1" wrap="square" lIns="121875" tIns="121875" rIns="121875" bIns="121875" anchor="b" anchorCtr="0">
            <a:no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a:endParaRPr/>
          </a:p>
        </p:txBody>
      </p:sp>
      <p:sp>
        <p:nvSpPr>
          <p:cNvPr id="16" name="Google Shape;16;p13"/>
          <p:cNvSpPr txBox="1">
            <a:spLocks noGrp="1"/>
          </p:cNvSpPr>
          <p:nvPr>
            <p:ph type="subTitle" idx="1"/>
          </p:nvPr>
        </p:nvSpPr>
        <p:spPr>
          <a:xfrm>
            <a:off x="415496" y="3778833"/>
            <a:ext cx="11358000" cy="1056900"/>
          </a:xfrm>
          <a:prstGeom prst="rect">
            <a:avLst/>
          </a:prstGeom>
          <a:noFill/>
          <a:ln>
            <a:noFill/>
          </a:ln>
        </p:spPr>
        <p:txBody>
          <a:bodyPr spcFirstLastPara="1" wrap="square" lIns="121875" tIns="121875" rIns="121875" bIns="121875" anchor="t" anchorCtr="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17" name="Google Shape;17;p13"/>
          <p:cNvSpPr txBox="1">
            <a:spLocks noGrp="1"/>
          </p:cNvSpPr>
          <p:nvPr>
            <p:ph type="sldNum" idx="12"/>
          </p:nvPr>
        </p:nvSpPr>
        <p:spPr>
          <a:xfrm>
            <a:off x="11293784" y="6217622"/>
            <a:ext cx="731400" cy="524700"/>
          </a:xfrm>
          <a:prstGeom prst="rect">
            <a:avLst/>
          </a:prstGeom>
          <a:noFill/>
          <a:ln>
            <a:noFill/>
          </a:ln>
        </p:spPr>
        <p:txBody>
          <a:bodyPr spcFirstLastPara="1" wrap="square" lIns="121875" tIns="121875" rIns="121875" bIns="121875" anchor="ctr"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with 4 Columns - Right Align" type="blank">
  <p:cSld name="BLANK">
    <p:spTree>
      <p:nvGrpSpPr>
        <p:cNvPr id="1" name="Shape 18"/>
        <p:cNvGrpSpPr/>
        <p:nvPr/>
      </p:nvGrpSpPr>
      <p:grpSpPr>
        <a:xfrm>
          <a:off x="0" y="0"/>
          <a:ext cx="0" cy="0"/>
          <a:chOff x="0" y="0"/>
          <a:chExt cx="0" cy="0"/>
        </a:xfrm>
      </p:grpSpPr>
      <p:sp>
        <p:nvSpPr>
          <p:cNvPr id="19" name="Google Shape;19;p14"/>
          <p:cNvSpPr txBox="1">
            <a:spLocks noGrp="1"/>
          </p:cNvSpPr>
          <p:nvPr>
            <p:ph type="sldNum" idx="12"/>
          </p:nvPr>
        </p:nvSpPr>
        <p:spPr>
          <a:xfrm>
            <a:off x="11293784" y="6217622"/>
            <a:ext cx="731400" cy="524700"/>
          </a:xfrm>
          <a:prstGeom prst="rect">
            <a:avLst/>
          </a:prstGeom>
          <a:noFill/>
          <a:ln>
            <a:noFill/>
          </a:ln>
        </p:spPr>
        <p:txBody>
          <a:bodyPr spcFirstLastPara="1" wrap="square" lIns="121875" tIns="121875" rIns="121875" bIns="121875" anchor="ctr"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20" name="Google Shape;20;p14"/>
          <p:cNvSpPr txBox="1">
            <a:spLocks noGrp="1"/>
          </p:cNvSpPr>
          <p:nvPr>
            <p:ph type="body" idx="1"/>
          </p:nvPr>
        </p:nvSpPr>
        <p:spPr>
          <a:xfrm>
            <a:off x="2587752" y="1740408"/>
            <a:ext cx="2286000" cy="4407300"/>
          </a:xfrm>
          <a:prstGeom prst="rect">
            <a:avLst/>
          </a:prstGeom>
          <a:noFill/>
          <a:ln>
            <a:noFill/>
          </a:ln>
        </p:spPr>
        <p:txBody>
          <a:bodyPr spcFirstLastPara="1" wrap="square" lIns="121875" tIns="121875" rIns="121875" bIns="121875" anchor="t" anchorCtr="0">
            <a:noAutofit/>
          </a:bodyPr>
          <a:lstStyle>
            <a:lvl1pPr marL="457200" lvl="0" indent="-298450" algn="l">
              <a:lnSpc>
                <a:spcPct val="115000"/>
              </a:lnSpc>
              <a:spcBef>
                <a:spcPts val="0"/>
              </a:spcBef>
              <a:spcAft>
                <a:spcPts val="0"/>
              </a:spcAft>
              <a:buSzPts val="1100"/>
              <a:buChar char="●"/>
              <a:defRPr sz="1100"/>
            </a:lvl1pPr>
            <a:lvl2pPr marL="914400" lvl="1" indent="-298450" algn="l">
              <a:lnSpc>
                <a:spcPct val="115000"/>
              </a:lnSpc>
              <a:spcBef>
                <a:spcPts val="2100"/>
              </a:spcBef>
              <a:spcAft>
                <a:spcPts val="0"/>
              </a:spcAft>
              <a:buSzPts val="1100"/>
              <a:buChar char="○"/>
              <a:defRPr sz="1100"/>
            </a:lvl2pPr>
            <a:lvl3pPr marL="1371600" lvl="2" indent="-298450" algn="l">
              <a:lnSpc>
                <a:spcPct val="115000"/>
              </a:lnSpc>
              <a:spcBef>
                <a:spcPts val="2100"/>
              </a:spcBef>
              <a:spcAft>
                <a:spcPts val="0"/>
              </a:spcAft>
              <a:buSzPts val="1100"/>
              <a:buChar char="■"/>
              <a:defRPr sz="1100"/>
            </a:lvl3pPr>
            <a:lvl4pPr marL="1828800" lvl="3" indent="-298450" algn="l">
              <a:lnSpc>
                <a:spcPct val="115000"/>
              </a:lnSpc>
              <a:spcBef>
                <a:spcPts val="2100"/>
              </a:spcBef>
              <a:spcAft>
                <a:spcPts val="0"/>
              </a:spcAft>
              <a:buSzPts val="1100"/>
              <a:buChar char="●"/>
              <a:defRPr sz="1100"/>
            </a:lvl4pPr>
            <a:lvl5pPr marL="2286000" lvl="4" indent="-298450" algn="l">
              <a:lnSpc>
                <a:spcPct val="115000"/>
              </a:lnSpc>
              <a:spcBef>
                <a:spcPts val="2100"/>
              </a:spcBef>
              <a:spcAft>
                <a:spcPts val="0"/>
              </a:spcAft>
              <a:buSzPts val="1100"/>
              <a:buChar char="○"/>
              <a:defRPr sz="1100"/>
            </a:lvl5pPr>
            <a:lvl6pPr marL="2743200" lvl="5" indent="-298450" algn="l">
              <a:lnSpc>
                <a:spcPct val="115000"/>
              </a:lnSpc>
              <a:spcBef>
                <a:spcPts val="2100"/>
              </a:spcBef>
              <a:spcAft>
                <a:spcPts val="0"/>
              </a:spcAft>
              <a:buSzPts val="1100"/>
              <a:buChar char="■"/>
              <a:defRPr sz="1100"/>
            </a:lvl6pPr>
            <a:lvl7pPr marL="3200400" lvl="6" indent="-298450" algn="l">
              <a:lnSpc>
                <a:spcPct val="115000"/>
              </a:lnSpc>
              <a:spcBef>
                <a:spcPts val="2100"/>
              </a:spcBef>
              <a:spcAft>
                <a:spcPts val="0"/>
              </a:spcAft>
              <a:buSzPts val="1100"/>
              <a:buChar char="●"/>
              <a:defRPr sz="1100"/>
            </a:lvl7pPr>
            <a:lvl8pPr marL="3657600" lvl="7" indent="-298450" algn="l">
              <a:lnSpc>
                <a:spcPct val="115000"/>
              </a:lnSpc>
              <a:spcBef>
                <a:spcPts val="2100"/>
              </a:spcBef>
              <a:spcAft>
                <a:spcPts val="0"/>
              </a:spcAft>
              <a:buSzPts val="1100"/>
              <a:buChar char="○"/>
              <a:defRPr sz="1100"/>
            </a:lvl8pPr>
            <a:lvl9pPr marL="4114800" lvl="8" indent="-298450" algn="l">
              <a:lnSpc>
                <a:spcPct val="115000"/>
              </a:lnSpc>
              <a:spcBef>
                <a:spcPts val="2100"/>
              </a:spcBef>
              <a:spcAft>
                <a:spcPts val="2100"/>
              </a:spcAft>
              <a:buSzPts val="1100"/>
              <a:buChar char="■"/>
              <a:defRPr sz="1100"/>
            </a:lvl9pPr>
          </a:lstStyle>
          <a:p>
            <a:endParaRPr/>
          </a:p>
        </p:txBody>
      </p:sp>
      <p:sp>
        <p:nvSpPr>
          <p:cNvPr id="21" name="Google Shape;21;p14"/>
          <p:cNvSpPr txBox="1">
            <a:spLocks noGrp="1"/>
          </p:cNvSpPr>
          <p:nvPr>
            <p:ph type="body" idx="2"/>
          </p:nvPr>
        </p:nvSpPr>
        <p:spPr>
          <a:xfrm>
            <a:off x="4887672" y="1741021"/>
            <a:ext cx="2286000" cy="4407300"/>
          </a:xfrm>
          <a:prstGeom prst="rect">
            <a:avLst/>
          </a:prstGeom>
          <a:noFill/>
          <a:ln>
            <a:noFill/>
          </a:ln>
        </p:spPr>
        <p:txBody>
          <a:bodyPr spcFirstLastPara="1" wrap="square" lIns="121875" tIns="121875" rIns="121875" bIns="121875" anchor="t" anchorCtr="0">
            <a:noAutofit/>
          </a:bodyPr>
          <a:lstStyle>
            <a:lvl1pPr marL="457200" lvl="0" indent="-298450" algn="l">
              <a:lnSpc>
                <a:spcPct val="115000"/>
              </a:lnSpc>
              <a:spcBef>
                <a:spcPts val="0"/>
              </a:spcBef>
              <a:spcAft>
                <a:spcPts val="0"/>
              </a:spcAft>
              <a:buSzPts val="1100"/>
              <a:buChar char="●"/>
              <a:defRPr sz="1100"/>
            </a:lvl1pPr>
            <a:lvl2pPr marL="914400" lvl="1" indent="-298450" algn="l">
              <a:lnSpc>
                <a:spcPct val="115000"/>
              </a:lnSpc>
              <a:spcBef>
                <a:spcPts val="2100"/>
              </a:spcBef>
              <a:spcAft>
                <a:spcPts val="0"/>
              </a:spcAft>
              <a:buSzPts val="1100"/>
              <a:buChar char="○"/>
              <a:defRPr sz="1100"/>
            </a:lvl2pPr>
            <a:lvl3pPr marL="1371600" lvl="2" indent="-298450" algn="l">
              <a:lnSpc>
                <a:spcPct val="115000"/>
              </a:lnSpc>
              <a:spcBef>
                <a:spcPts val="2100"/>
              </a:spcBef>
              <a:spcAft>
                <a:spcPts val="0"/>
              </a:spcAft>
              <a:buSzPts val="1100"/>
              <a:buChar char="■"/>
              <a:defRPr sz="1100"/>
            </a:lvl3pPr>
            <a:lvl4pPr marL="1828800" lvl="3" indent="-298450" algn="l">
              <a:lnSpc>
                <a:spcPct val="115000"/>
              </a:lnSpc>
              <a:spcBef>
                <a:spcPts val="2100"/>
              </a:spcBef>
              <a:spcAft>
                <a:spcPts val="0"/>
              </a:spcAft>
              <a:buSzPts val="1100"/>
              <a:buChar char="●"/>
              <a:defRPr sz="1100"/>
            </a:lvl4pPr>
            <a:lvl5pPr marL="2286000" lvl="4" indent="-298450" algn="l">
              <a:lnSpc>
                <a:spcPct val="115000"/>
              </a:lnSpc>
              <a:spcBef>
                <a:spcPts val="2100"/>
              </a:spcBef>
              <a:spcAft>
                <a:spcPts val="0"/>
              </a:spcAft>
              <a:buSzPts val="1100"/>
              <a:buChar char="○"/>
              <a:defRPr sz="1100"/>
            </a:lvl5pPr>
            <a:lvl6pPr marL="2743200" lvl="5" indent="-298450" algn="l">
              <a:lnSpc>
                <a:spcPct val="115000"/>
              </a:lnSpc>
              <a:spcBef>
                <a:spcPts val="2100"/>
              </a:spcBef>
              <a:spcAft>
                <a:spcPts val="0"/>
              </a:spcAft>
              <a:buSzPts val="1100"/>
              <a:buChar char="■"/>
              <a:defRPr sz="1100"/>
            </a:lvl6pPr>
            <a:lvl7pPr marL="3200400" lvl="6" indent="-298450" algn="l">
              <a:lnSpc>
                <a:spcPct val="115000"/>
              </a:lnSpc>
              <a:spcBef>
                <a:spcPts val="2100"/>
              </a:spcBef>
              <a:spcAft>
                <a:spcPts val="0"/>
              </a:spcAft>
              <a:buSzPts val="1100"/>
              <a:buChar char="●"/>
              <a:defRPr sz="1100"/>
            </a:lvl7pPr>
            <a:lvl8pPr marL="3657600" lvl="7" indent="-298450" algn="l">
              <a:lnSpc>
                <a:spcPct val="115000"/>
              </a:lnSpc>
              <a:spcBef>
                <a:spcPts val="2100"/>
              </a:spcBef>
              <a:spcAft>
                <a:spcPts val="0"/>
              </a:spcAft>
              <a:buSzPts val="1100"/>
              <a:buChar char="○"/>
              <a:defRPr sz="1100"/>
            </a:lvl8pPr>
            <a:lvl9pPr marL="4114800" lvl="8" indent="-298450" algn="l">
              <a:lnSpc>
                <a:spcPct val="115000"/>
              </a:lnSpc>
              <a:spcBef>
                <a:spcPts val="2100"/>
              </a:spcBef>
              <a:spcAft>
                <a:spcPts val="2100"/>
              </a:spcAft>
              <a:buSzPts val="1100"/>
              <a:buChar char="■"/>
              <a:defRPr sz="1100"/>
            </a:lvl9pPr>
          </a:lstStyle>
          <a:p>
            <a:endParaRPr/>
          </a:p>
        </p:txBody>
      </p:sp>
      <p:sp>
        <p:nvSpPr>
          <p:cNvPr id="22" name="Google Shape;22;p14"/>
          <p:cNvSpPr txBox="1">
            <a:spLocks noGrp="1"/>
          </p:cNvSpPr>
          <p:nvPr>
            <p:ph type="body" idx="3"/>
          </p:nvPr>
        </p:nvSpPr>
        <p:spPr>
          <a:xfrm>
            <a:off x="7187592" y="1741013"/>
            <a:ext cx="2286000" cy="4407300"/>
          </a:xfrm>
          <a:prstGeom prst="rect">
            <a:avLst/>
          </a:prstGeom>
          <a:noFill/>
          <a:ln>
            <a:noFill/>
          </a:ln>
        </p:spPr>
        <p:txBody>
          <a:bodyPr spcFirstLastPara="1" wrap="square" lIns="121875" tIns="121875" rIns="121875" bIns="121875" anchor="t" anchorCtr="0">
            <a:noAutofit/>
          </a:bodyPr>
          <a:lstStyle>
            <a:lvl1pPr marL="457200" lvl="0" indent="-298450" algn="l">
              <a:lnSpc>
                <a:spcPct val="115000"/>
              </a:lnSpc>
              <a:spcBef>
                <a:spcPts val="0"/>
              </a:spcBef>
              <a:spcAft>
                <a:spcPts val="0"/>
              </a:spcAft>
              <a:buSzPts val="1100"/>
              <a:buChar char="●"/>
              <a:defRPr sz="1100"/>
            </a:lvl1pPr>
            <a:lvl2pPr marL="914400" lvl="1" indent="-298450" algn="l">
              <a:lnSpc>
                <a:spcPct val="115000"/>
              </a:lnSpc>
              <a:spcBef>
                <a:spcPts val="2100"/>
              </a:spcBef>
              <a:spcAft>
                <a:spcPts val="0"/>
              </a:spcAft>
              <a:buSzPts val="1100"/>
              <a:buChar char="○"/>
              <a:defRPr sz="1100"/>
            </a:lvl2pPr>
            <a:lvl3pPr marL="1371600" lvl="2" indent="-298450" algn="l">
              <a:lnSpc>
                <a:spcPct val="115000"/>
              </a:lnSpc>
              <a:spcBef>
                <a:spcPts val="2100"/>
              </a:spcBef>
              <a:spcAft>
                <a:spcPts val="0"/>
              </a:spcAft>
              <a:buSzPts val="1100"/>
              <a:buChar char="■"/>
              <a:defRPr sz="1100"/>
            </a:lvl3pPr>
            <a:lvl4pPr marL="1828800" lvl="3" indent="-298450" algn="l">
              <a:lnSpc>
                <a:spcPct val="115000"/>
              </a:lnSpc>
              <a:spcBef>
                <a:spcPts val="2100"/>
              </a:spcBef>
              <a:spcAft>
                <a:spcPts val="0"/>
              </a:spcAft>
              <a:buSzPts val="1100"/>
              <a:buChar char="●"/>
              <a:defRPr sz="1100"/>
            </a:lvl4pPr>
            <a:lvl5pPr marL="2286000" lvl="4" indent="-298450" algn="l">
              <a:lnSpc>
                <a:spcPct val="115000"/>
              </a:lnSpc>
              <a:spcBef>
                <a:spcPts val="2100"/>
              </a:spcBef>
              <a:spcAft>
                <a:spcPts val="0"/>
              </a:spcAft>
              <a:buSzPts val="1100"/>
              <a:buChar char="○"/>
              <a:defRPr sz="1100"/>
            </a:lvl5pPr>
            <a:lvl6pPr marL="2743200" lvl="5" indent="-298450" algn="l">
              <a:lnSpc>
                <a:spcPct val="115000"/>
              </a:lnSpc>
              <a:spcBef>
                <a:spcPts val="2100"/>
              </a:spcBef>
              <a:spcAft>
                <a:spcPts val="0"/>
              </a:spcAft>
              <a:buSzPts val="1100"/>
              <a:buChar char="■"/>
              <a:defRPr sz="1100"/>
            </a:lvl6pPr>
            <a:lvl7pPr marL="3200400" lvl="6" indent="-298450" algn="l">
              <a:lnSpc>
                <a:spcPct val="115000"/>
              </a:lnSpc>
              <a:spcBef>
                <a:spcPts val="2100"/>
              </a:spcBef>
              <a:spcAft>
                <a:spcPts val="0"/>
              </a:spcAft>
              <a:buSzPts val="1100"/>
              <a:buChar char="●"/>
              <a:defRPr sz="1100"/>
            </a:lvl7pPr>
            <a:lvl8pPr marL="3657600" lvl="7" indent="-298450" algn="l">
              <a:lnSpc>
                <a:spcPct val="115000"/>
              </a:lnSpc>
              <a:spcBef>
                <a:spcPts val="2100"/>
              </a:spcBef>
              <a:spcAft>
                <a:spcPts val="0"/>
              </a:spcAft>
              <a:buSzPts val="1100"/>
              <a:buChar char="○"/>
              <a:defRPr sz="1100"/>
            </a:lvl8pPr>
            <a:lvl9pPr marL="4114800" lvl="8" indent="-298450" algn="l">
              <a:lnSpc>
                <a:spcPct val="115000"/>
              </a:lnSpc>
              <a:spcBef>
                <a:spcPts val="2100"/>
              </a:spcBef>
              <a:spcAft>
                <a:spcPts val="2100"/>
              </a:spcAft>
              <a:buSzPts val="1100"/>
              <a:buChar char="■"/>
              <a:defRPr sz="1100"/>
            </a:lvl9pPr>
          </a:lstStyle>
          <a:p>
            <a:endParaRPr/>
          </a:p>
        </p:txBody>
      </p:sp>
      <p:sp>
        <p:nvSpPr>
          <p:cNvPr id="23" name="Google Shape;23;p14"/>
          <p:cNvSpPr txBox="1">
            <a:spLocks noGrp="1"/>
          </p:cNvSpPr>
          <p:nvPr>
            <p:ph type="title"/>
          </p:nvPr>
        </p:nvSpPr>
        <p:spPr>
          <a:xfrm>
            <a:off x="415496" y="194567"/>
            <a:ext cx="11358000" cy="763500"/>
          </a:xfrm>
          <a:prstGeom prst="rect">
            <a:avLst/>
          </a:prstGeom>
          <a:noFill/>
          <a:ln>
            <a:noFill/>
          </a:ln>
        </p:spPr>
        <p:txBody>
          <a:bodyPr spcFirstLastPara="1" wrap="square" lIns="121875" tIns="121875" rIns="121875" bIns="121875" anchor="t" anchorCtr="0">
            <a:noAutofit/>
          </a:bodyPr>
          <a:lstStyle>
            <a:lvl1pPr lvl="0" algn="l">
              <a:lnSpc>
                <a:spcPct val="100000"/>
              </a:lnSpc>
              <a:spcBef>
                <a:spcPts val="0"/>
              </a:spcBef>
              <a:spcAft>
                <a:spcPts val="0"/>
              </a:spcAft>
              <a:buSzPts val="3700"/>
              <a:buFont typeface="Roboto Condensed"/>
              <a:buNone/>
              <a:defRPr>
                <a:latin typeface="Roboto Condensed"/>
                <a:ea typeface="Roboto Condensed"/>
                <a:cs typeface="Roboto Condensed"/>
                <a:sym typeface="Roboto Condensed"/>
              </a:defRPr>
            </a:lvl1pPr>
            <a:lvl2pPr lvl="1" algn="l">
              <a:lnSpc>
                <a:spcPct val="100000"/>
              </a:lnSpc>
              <a:spcBef>
                <a:spcPts val="0"/>
              </a:spcBef>
              <a:spcAft>
                <a:spcPts val="0"/>
              </a:spcAft>
              <a:buSzPts val="3700"/>
              <a:buFont typeface="Roboto Condensed"/>
              <a:buNone/>
              <a:defRPr>
                <a:latin typeface="Roboto Condensed"/>
                <a:ea typeface="Roboto Condensed"/>
                <a:cs typeface="Roboto Condensed"/>
                <a:sym typeface="Roboto Condensed"/>
              </a:defRPr>
            </a:lvl2pPr>
            <a:lvl3pPr lvl="2" algn="l">
              <a:lnSpc>
                <a:spcPct val="100000"/>
              </a:lnSpc>
              <a:spcBef>
                <a:spcPts val="0"/>
              </a:spcBef>
              <a:spcAft>
                <a:spcPts val="0"/>
              </a:spcAft>
              <a:buSzPts val="3700"/>
              <a:buFont typeface="Roboto Condensed"/>
              <a:buNone/>
              <a:defRPr>
                <a:latin typeface="Roboto Condensed"/>
                <a:ea typeface="Roboto Condensed"/>
                <a:cs typeface="Roboto Condensed"/>
                <a:sym typeface="Roboto Condensed"/>
              </a:defRPr>
            </a:lvl3pPr>
            <a:lvl4pPr lvl="3" algn="l">
              <a:lnSpc>
                <a:spcPct val="100000"/>
              </a:lnSpc>
              <a:spcBef>
                <a:spcPts val="0"/>
              </a:spcBef>
              <a:spcAft>
                <a:spcPts val="0"/>
              </a:spcAft>
              <a:buSzPts val="3700"/>
              <a:buFont typeface="Roboto Condensed"/>
              <a:buNone/>
              <a:defRPr>
                <a:latin typeface="Roboto Condensed"/>
                <a:ea typeface="Roboto Condensed"/>
                <a:cs typeface="Roboto Condensed"/>
                <a:sym typeface="Roboto Condensed"/>
              </a:defRPr>
            </a:lvl4pPr>
            <a:lvl5pPr lvl="4" algn="l">
              <a:lnSpc>
                <a:spcPct val="100000"/>
              </a:lnSpc>
              <a:spcBef>
                <a:spcPts val="0"/>
              </a:spcBef>
              <a:spcAft>
                <a:spcPts val="0"/>
              </a:spcAft>
              <a:buSzPts val="3700"/>
              <a:buFont typeface="Roboto Condensed"/>
              <a:buNone/>
              <a:defRPr>
                <a:latin typeface="Roboto Condensed"/>
                <a:ea typeface="Roboto Condensed"/>
                <a:cs typeface="Roboto Condensed"/>
                <a:sym typeface="Roboto Condensed"/>
              </a:defRPr>
            </a:lvl5pPr>
            <a:lvl6pPr lvl="5" algn="l">
              <a:lnSpc>
                <a:spcPct val="100000"/>
              </a:lnSpc>
              <a:spcBef>
                <a:spcPts val="0"/>
              </a:spcBef>
              <a:spcAft>
                <a:spcPts val="0"/>
              </a:spcAft>
              <a:buSzPts val="3700"/>
              <a:buFont typeface="Roboto Condensed"/>
              <a:buNone/>
              <a:defRPr>
                <a:latin typeface="Roboto Condensed"/>
                <a:ea typeface="Roboto Condensed"/>
                <a:cs typeface="Roboto Condensed"/>
                <a:sym typeface="Roboto Condensed"/>
              </a:defRPr>
            </a:lvl6pPr>
            <a:lvl7pPr lvl="6" algn="l">
              <a:lnSpc>
                <a:spcPct val="100000"/>
              </a:lnSpc>
              <a:spcBef>
                <a:spcPts val="0"/>
              </a:spcBef>
              <a:spcAft>
                <a:spcPts val="0"/>
              </a:spcAft>
              <a:buSzPts val="3700"/>
              <a:buFont typeface="Roboto Condensed"/>
              <a:buNone/>
              <a:defRPr>
                <a:latin typeface="Roboto Condensed"/>
                <a:ea typeface="Roboto Condensed"/>
                <a:cs typeface="Roboto Condensed"/>
                <a:sym typeface="Roboto Condensed"/>
              </a:defRPr>
            </a:lvl7pPr>
            <a:lvl8pPr lvl="7" algn="l">
              <a:lnSpc>
                <a:spcPct val="100000"/>
              </a:lnSpc>
              <a:spcBef>
                <a:spcPts val="0"/>
              </a:spcBef>
              <a:spcAft>
                <a:spcPts val="0"/>
              </a:spcAft>
              <a:buSzPts val="3700"/>
              <a:buFont typeface="Roboto Condensed"/>
              <a:buNone/>
              <a:defRPr>
                <a:latin typeface="Roboto Condensed"/>
                <a:ea typeface="Roboto Condensed"/>
                <a:cs typeface="Roboto Condensed"/>
                <a:sym typeface="Roboto Condensed"/>
              </a:defRPr>
            </a:lvl8pPr>
            <a:lvl9pPr lvl="8" algn="l">
              <a:lnSpc>
                <a:spcPct val="100000"/>
              </a:lnSpc>
              <a:spcBef>
                <a:spcPts val="0"/>
              </a:spcBef>
              <a:spcAft>
                <a:spcPts val="0"/>
              </a:spcAft>
              <a:buSzPts val="3700"/>
              <a:buFont typeface="Roboto Condensed"/>
              <a:buNone/>
              <a:defRPr>
                <a:latin typeface="Roboto Condensed"/>
                <a:ea typeface="Roboto Condensed"/>
                <a:cs typeface="Roboto Condensed"/>
                <a:sym typeface="Roboto Condensed"/>
              </a:defRPr>
            </a:lvl9pPr>
          </a:lstStyle>
          <a:p>
            <a:endParaRPr/>
          </a:p>
        </p:txBody>
      </p:sp>
      <p:sp>
        <p:nvSpPr>
          <p:cNvPr id="24" name="Google Shape;24;p14"/>
          <p:cNvSpPr txBox="1">
            <a:spLocks noGrp="1"/>
          </p:cNvSpPr>
          <p:nvPr>
            <p:ph type="body" idx="4"/>
          </p:nvPr>
        </p:nvSpPr>
        <p:spPr>
          <a:xfrm>
            <a:off x="9487511" y="1741013"/>
            <a:ext cx="2286000" cy="4407300"/>
          </a:xfrm>
          <a:prstGeom prst="rect">
            <a:avLst/>
          </a:prstGeom>
          <a:noFill/>
          <a:ln>
            <a:noFill/>
          </a:ln>
        </p:spPr>
        <p:txBody>
          <a:bodyPr spcFirstLastPara="1" wrap="square" lIns="121875" tIns="121875" rIns="121875" bIns="121875" anchor="t" anchorCtr="0">
            <a:noAutofit/>
          </a:bodyPr>
          <a:lstStyle>
            <a:lvl1pPr marL="457200" lvl="0" indent="-298450" algn="l">
              <a:lnSpc>
                <a:spcPct val="115000"/>
              </a:lnSpc>
              <a:spcBef>
                <a:spcPts val="0"/>
              </a:spcBef>
              <a:spcAft>
                <a:spcPts val="0"/>
              </a:spcAft>
              <a:buSzPts val="1100"/>
              <a:buChar char="●"/>
              <a:defRPr sz="1100"/>
            </a:lvl1pPr>
            <a:lvl2pPr marL="914400" lvl="1" indent="-298450" algn="l">
              <a:lnSpc>
                <a:spcPct val="115000"/>
              </a:lnSpc>
              <a:spcBef>
                <a:spcPts val="2100"/>
              </a:spcBef>
              <a:spcAft>
                <a:spcPts val="0"/>
              </a:spcAft>
              <a:buSzPts val="1100"/>
              <a:buChar char="○"/>
              <a:defRPr sz="1100"/>
            </a:lvl2pPr>
            <a:lvl3pPr marL="1371600" lvl="2" indent="-298450" algn="l">
              <a:lnSpc>
                <a:spcPct val="115000"/>
              </a:lnSpc>
              <a:spcBef>
                <a:spcPts val="2100"/>
              </a:spcBef>
              <a:spcAft>
                <a:spcPts val="0"/>
              </a:spcAft>
              <a:buSzPts val="1100"/>
              <a:buChar char="■"/>
              <a:defRPr sz="1100"/>
            </a:lvl3pPr>
            <a:lvl4pPr marL="1828800" lvl="3" indent="-298450" algn="l">
              <a:lnSpc>
                <a:spcPct val="115000"/>
              </a:lnSpc>
              <a:spcBef>
                <a:spcPts val="2100"/>
              </a:spcBef>
              <a:spcAft>
                <a:spcPts val="0"/>
              </a:spcAft>
              <a:buSzPts val="1100"/>
              <a:buChar char="●"/>
              <a:defRPr sz="1100"/>
            </a:lvl4pPr>
            <a:lvl5pPr marL="2286000" lvl="4" indent="-298450" algn="l">
              <a:lnSpc>
                <a:spcPct val="115000"/>
              </a:lnSpc>
              <a:spcBef>
                <a:spcPts val="2100"/>
              </a:spcBef>
              <a:spcAft>
                <a:spcPts val="0"/>
              </a:spcAft>
              <a:buSzPts val="1100"/>
              <a:buChar char="○"/>
              <a:defRPr sz="1100"/>
            </a:lvl5pPr>
            <a:lvl6pPr marL="2743200" lvl="5" indent="-298450" algn="l">
              <a:lnSpc>
                <a:spcPct val="115000"/>
              </a:lnSpc>
              <a:spcBef>
                <a:spcPts val="2100"/>
              </a:spcBef>
              <a:spcAft>
                <a:spcPts val="0"/>
              </a:spcAft>
              <a:buSzPts val="1100"/>
              <a:buChar char="■"/>
              <a:defRPr sz="1100"/>
            </a:lvl6pPr>
            <a:lvl7pPr marL="3200400" lvl="6" indent="-298450" algn="l">
              <a:lnSpc>
                <a:spcPct val="115000"/>
              </a:lnSpc>
              <a:spcBef>
                <a:spcPts val="2100"/>
              </a:spcBef>
              <a:spcAft>
                <a:spcPts val="0"/>
              </a:spcAft>
              <a:buSzPts val="1100"/>
              <a:buChar char="●"/>
              <a:defRPr sz="1100"/>
            </a:lvl7pPr>
            <a:lvl8pPr marL="3657600" lvl="7" indent="-298450" algn="l">
              <a:lnSpc>
                <a:spcPct val="115000"/>
              </a:lnSpc>
              <a:spcBef>
                <a:spcPts val="2100"/>
              </a:spcBef>
              <a:spcAft>
                <a:spcPts val="0"/>
              </a:spcAft>
              <a:buSzPts val="1100"/>
              <a:buChar char="○"/>
              <a:defRPr sz="1100"/>
            </a:lvl8pPr>
            <a:lvl9pPr marL="4114800" lvl="8" indent="-298450" algn="l">
              <a:lnSpc>
                <a:spcPct val="115000"/>
              </a:lnSpc>
              <a:spcBef>
                <a:spcPts val="2100"/>
              </a:spcBef>
              <a:spcAft>
                <a:spcPts val="2100"/>
              </a:spcAft>
              <a:buSzPts val="1100"/>
              <a:buChar char="■"/>
              <a:defRPr sz="11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with 4 Columns 1 - Left Align">
  <p:cSld name="BLANK_1">
    <p:spTree>
      <p:nvGrpSpPr>
        <p:cNvPr id="1" name="Shape 25"/>
        <p:cNvGrpSpPr/>
        <p:nvPr/>
      </p:nvGrpSpPr>
      <p:grpSpPr>
        <a:xfrm>
          <a:off x="0" y="0"/>
          <a:ext cx="0" cy="0"/>
          <a:chOff x="0" y="0"/>
          <a:chExt cx="0" cy="0"/>
        </a:xfrm>
      </p:grpSpPr>
      <p:sp>
        <p:nvSpPr>
          <p:cNvPr id="26" name="Google Shape;26;p15"/>
          <p:cNvSpPr txBox="1">
            <a:spLocks noGrp="1"/>
          </p:cNvSpPr>
          <p:nvPr>
            <p:ph type="sldNum" idx="12"/>
          </p:nvPr>
        </p:nvSpPr>
        <p:spPr>
          <a:xfrm>
            <a:off x="11293784" y="6217622"/>
            <a:ext cx="731400" cy="524700"/>
          </a:xfrm>
          <a:prstGeom prst="rect">
            <a:avLst/>
          </a:prstGeom>
          <a:noFill/>
          <a:ln>
            <a:noFill/>
          </a:ln>
        </p:spPr>
        <p:txBody>
          <a:bodyPr spcFirstLastPara="1" wrap="square" lIns="121875" tIns="121875" rIns="121875" bIns="121875" anchor="ctr"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27" name="Google Shape;27;p15"/>
          <p:cNvSpPr txBox="1">
            <a:spLocks noGrp="1"/>
          </p:cNvSpPr>
          <p:nvPr>
            <p:ph type="body" idx="1"/>
          </p:nvPr>
        </p:nvSpPr>
        <p:spPr>
          <a:xfrm>
            <a:off x="530352" y="1740408"/>
            <a:ext cx="2286000" cy="4407300"/>
          </a:xfrm>
          <a:prstGeom prst="rect">
            <a:avLst/>
          </a:prstGeom>
          <a:noFill/>
          <a:ln>
            <a:noFill/>
          </a:ln>
        </p:spPr>
        <p:txBody>
          <a:bodyPr spcFirstLastPara="1" wrap="square" lIns="121875" tIns="121875" rIns="121875" bIns="121875" anchor="t" anchorCtr="0">
            <a:noAutofit/>
          </a:bodyPr>
          <a:lstStyle>
            <a:lvl1pPr marL="457200" lvl="0" indent="-298450" algn="l">
              <a:lnSpc>
                <a:spcPct val="115000"/>
              </a:lnSpc>
              <a:spcBef>
                <a:spcPts val="0"/>
              </a:spcBef>
              <a:spcAft>
                <a:spcPts val="0"/>
              </a:spcAft>
              <a:buSzPts val="1100"/>
              <a:buChar char="●"/>
              <a:defRPr sz="1100"/>
            </a:lvl1pPr>
            <a:lvl2pPr marL="914400" lvl="1" indent="-298450" algn="l">
              <a:lnSpc>
                <a:spcPct val="115000"/>
              </a:lnSpc>
              <a:spcBef>
                <a:spcPts val="2100"/>
              </a:spcBef>
              <a:spcAft>
                <a:spcPts val="0"/>
              </a:spcAft>
              <a:buSzPts val="1100"/>
              <a:buChar char="○"/>
              <a:defRPr sz="1100"/>
            </a:lvl2pPr>
            <a:lvl3pPr marL="1371600" lvl="2" indent="-298450" algn="l">
              <a:lnSpc>
                <a:spcPct val="115000"/>
              </a:lnSpc>
              <a:spcBef>
                <a:spcPts val="2100"/>
              </a:spcBef>
              <a:spcAft>
                <a:spcPts val="0"/>
              </a:spcAft>
              <a:buSzPts val="1100"/>
              <a:buChar char="■"/>
              <a:defRPr sz="1100"/>
            </a:lvl3pPr>
            <a:lvl4pPr marL="1828800" lvl="3" indent="-298450" algn="l">
              <a:lnSpc>
                <a:spcPct val="115000"/>
              </a:lnSpc>
              <a:spcBef>
                <a:spcPts val="2100"/>
              </a:spcBef>
              <a:spcAft>
                <a:spcPts val="0"/>
              </a:spcAft>
              <a:buSzPts val="1100"/>
              <a:buChar char="●"/>
              <a:defRPr sz="1100"/>
            </a:lvl4pPr>
            <a:lvl5pPr marL="2286000" lvl="4" indent="-298450" algn="l">
              <a:lnSpc>
                <a:spcPct val="115000"/>
              </a:lnSpc>
              <a:spcBef>
                <a:spcPts val="2100"/>
              </a:spcBef>
              <a:spcAft>
                <a:spcPts val="0"/>
              </a:spcAft>
              <a:buSzPts val="1100"/>
              <a:buChar char="○"/>
              <a:defRPr sz="1100"/>
            </a:lvl5pPr>
            <a:lvl6pPr marL="2743200" lvl="5" indent="-298450" algn="l">
              <a:lnSpc>
                <a:spcPct val="115000"/>
              </a:lnSpc>
              <a:spcBef>
                <a:spcPts val="2100"/>
              </a:spcBef>
              <a:spcAft>
                <a:spcPts val="0"/>
              </a:spcAft>
              <a:buSzPts val="1100"/>
              <a:buChar char="■"/>
              <a:defRPr sz="1100"/>
            </a:lvl6pPr>
            <a:lvl7pPr marL="3200400" lvl="6" indent="-298450" algn="l">
              <a:lnSpc>
                <a:spcPct val="115000"/>
              </a:lnSpc>
              <a:spcBef>
                <a:spcPts val="2100"/>
              </a:spcBef>
              <a:spcAft>
                <a:spcPts val="0"/>
              </a:spcAft>
              <a:buSzPts val="1100"/>
              <a:buChar char="●"/>
              <a:defRPr sz="1100"/>
            </a:lvl7pPr>
            <a:lvl8pPr marL="3657600" lvl="7" indent="-298450" algn="l">
              <a:lnSpc>
                <a:spcPct val="115000"/>
              </a:lnSpc>
              <a:spcBef>
                <a:spcPts val="2100"/>
              </a:spcBef>
              <a:spcAft>
                <a:spcPts val="0"/>
              </a:spcAft>
              <a:buSzPts val="1100"/>
              <a:buChar char="○"/>
              <a:defRPr sz="1100"/>
            </a:lvl8pPr>
            <a:lvl9pPr marL="4114800" lvl="8" indent="-298450" algn="l">
              <a:lnSpc>
                <a:spcPct val="115000"/>
              </a:lnSpc>
              <a:spcBef>
                <a:spcPts val="2100"/>
              </a:spcBef>
              <a:spcAft>
                <a:spcPts val="2100"/>
              </a:spcAft>
              <a:buSzPts val="1100"/>
              <a:buChar char="■"/>
              <a:defRPr sz="1100"/>
            </a:lvl9pPr>
          </a:lstStyle>
          <a:p>
            <a:endParaRPr/>
          </a:p>
        </p:txBody>
      </p:sp>
      <p:sp>
        <p:nvSpPr>
          <p:cNvPr id="28" name="Google Shape;28;p15"/>
          <p:cNvSpPr txBox="1">
            <a:spLocks noGrp="1"/>
          </p:cNvSpPr>
          <p:nvPr>
            <p:ph type="body" idx="2"/>
          </p:nvPr>
        </p:nvSpPr>
        <p:spPr>
          <a:xfrm>
            <a:off x="2830272" y="1741021"/>
            <a:ext cx="2286000" cy="4407300"/>
          </a:xfrm>
          <a:prstGeom prst="rect">
            <a:avLst/>
          </a:prstGeom>
          <a:noFill/>
          <a:ln>
            <a:noFill/>
          </a:ln>
        </p:spPr>
        <p:txBody>
          <a:bodyPr spcFirstLastPara="1" wrap="square" lIns="121875" tIns="121875" rIns="121875" bIns="121875" anchor="t" anchorCtr="0">
            <a:noAutofit/>
          </a:bodyPr>
          <a:lstStyle>
            <a:lvl1pPr marL="457200" lvl="0" indent="-298450" algn="l">
              <a:lnSpc>
                <a:spcPct val="115000"/>
              </a:lnSpc>
              <a:spcBef>
                <a:spcPts val="0"/>
              </a:spcBef>
              <a:spcAft>
                <a:spcPts val="0"/>
              </a:spcAft>
              <a:buSzPts val="1100"/>
              <a:buChar char="●"/>
              <a:defRPr sz="1100"/>
            </a:lvl1pPr>
            <a:lvl2pPr marL="914400" lvl="1" indent="-298450" algn="l">
              <a:lnSpc>
                <a:spcPct val="115000"/>
              </a:lnSpc>
              <a:spcBef>
                <a:spcPts val="2100"/>
              </a:spcBef>
              <a:spcAft>
                <a:spcPts val="0"/>
              </a:spcAft>
              <a:buSzPts val="1100"/>
              <a:buChar char="○"/>
              <a:defRPr sz="1100"/>
            </a:lvl2pPr>
            <a:lvl3pPr marL="1371600" lvl="2" indent="-298450" algn="l">
              <a:lnSpc>
                <a:spcPct val="115000"/>
              </a:lnSpc>
              <a:spcBef>
                <a:spcPts val="2100"/>
              </a:spcBef>
              <a:spcAft>
                <a:spcPts val="0"/>
              </a:spcAft>
              <a:buSzPts val="1100"/>
              <a:buChar char="■"/>
              <a:defRPr sz="1100"/>
            </a:lvl3pPr>
            <a:lvl4pPr marL="1828800" lvl="3" indent="-298450" algn="l">
              <a:lnSpc>
                <a:spcPct val="115000"/>
              </a:lnSpc>
              <a:spcBef>
                <a:spcPts val="2100"/>
              </a:spcBef>
              <a:spcAft>
                <a:spcPts val="0"/>
              </a:spcAft>
              <a:buSzPts val="1100"/>
              <a:buChar char="●"/>
              <a:defRPr sz="1100"/>
            </a:lvl4pPr>
            <a:lvl5pPr marL="2286000" lvl="4" indent="-298450" algn="l">
              <a:lnSpc>
                <a:spcPct val="115000"/>
              </a:lnSpc>
              <a:spcBef>
                <a:spcPts val="2100"/>
              </a:spcBef>
              <a:spcAft>
                <a:spcPts val="0"/>
              </a:spcAft>
              <a:buSzPts val="1100"/>
              <a:buChar char="○"/>
              <a:defRPr sz="1100"/>
            </a:lvl5pPr>
            <a:lvl6pPr marL="2743200" lvl="5" indent="-298450" algn="l">
              <a:lnSpc>
                <a:spcPct val="115000"/>
              </a:lnSpc>
              <a:spcBef>
                <a:spcPts val="2100"/>
              </a:spcBef>
              <a:spcAft>
                <a:spcPts val="0"/>
              </a:spcAft>
              <a:buSzPts val="1100"/>
              <a:buChar char="■"/>
              <a:defRPr sz="1100"/>
            </a:lvl6pPr>
            <a:lvl7pPr marL="3200400" lvl="6" indent="-298450" algn="l">
              <a:lnSpc>
                <a:spcPct val="115000"/>
              </a:lnSpc>
              <a:spcBef>
                <a:spcPts val="2100"/>
              </a:spcBef>
              <a:spcAft>
                <a:spcPts val="0"/>
              </a:spcAft>
              <a:buSzPts val="1100"/>
              <a:buChar char="●"/>
              <a:defRPr sz="1100"/>
            </a:lvl7pPr>
            <a:lvl8pPr marL="3657600" lvl="7" indent="-298450" algn="l">
              <a:lnSpc>
                <a:spcPct val="115000"/>
              </a:lnSpc>
              <a:spcBef>
                <a:spcPts val="2100"/>
              </a:spcBef>
              <a:spcAft>
                <a:spcPts val="0"/>
              </a:spcAft>
              <a:buSzPts val="1100"/>
              <a:buChar char="○"/>
              <a:defRPr sz="1100"/>
            </a:lvl8pPr>
            <a:lvl9pPr marL="4114800" lvl="8" indent="-298450" algn="l">
              <a:lnSpc>
                <a:spcPct val="115000"/>
              </a:lnSpc>
              <a:spcBef>
                <a:spcPts val="2100"/>
              </a:spcBef>
              <a:spcAft>
                <a:spcPts val="2100"/>
              </a:spcAft>
              <a:buSzPts val="1100"/>
              <a:buChar char="■"/>
              <a:defRPr sz="1100"/>
            </a:lvl9pPr>
          </a:lstStyle>
          <a:p>
            <a:endParaRPr/>
          </a:p>
        </p:txBody>
      </p:sp>
      <p:sp>
        <p:nvSpPr>
          <p:cNvPr id="29" name="Google Shape;29;p15"/>
          <p:cNvSpPr txBox="1">
            <a:spLocks noGrp="1"/>
          </p:cNvSpPr>
          <p:nvPr>
            <p:ph type="body" idx="3"/>
          </p:nvPr>
        </p:nvSpPr>
        <p:spPr>
          <a:xfrm>
            <a:off x="5130192" y="1741013"/>
            <a:ext cx="2286000" cy="4407300"/>
          </a:xfrm>
          <a:prstGeom prst="rect">
            <a:avLst/>
          </a:prstGeom>
          <a:noFill/>
          <a:ln>
            <a:noFill/>
          </a:ln>
        </p:spPr>
        <p:txBody>
          <a:bodyPr spcFirstLastPara="1" wrap="square" lIns="121875" tIns="121875" rIns="121875" bIns="121875" anchor="t" anchorCtr="0">
            <a:noAutofit/>
          </a:bodyPr>
          <a:lstStyle>
            <a:lvl1pPr marL="457200" lvl="0" indent="-298450" algn="l">
              <a:lnSpc>
                <a:spcPct val="115000"/>
              </a:lnSpc>
              <a:spcBef>
                <a:spcPts val="0"/>
              </a:spcBef>
              <a:spcAft>
                <a:spcPts val="0"/>
              </a:spcAft>
              <a:buSzPts val="1100"/>
              <a:buChar char="●"/>
              <a:defRPr sz="1100"/>
            </a:lvl1pPr>
            <a:lvl2pPr marL="914400" lvl="1" indent="-298450" algn="l">
              <a:lnSpc>
                <a:spcPct val="115000"/>
              </a:lnSpc>
              <a:spcBef>
                <a:spcPts val="2100"/>
              </a:spcBef>
              <a:spcAft>
                <a:spcPts val="0"/>
              </a:spcAft>
              <a:buSzPts val="1100"/>
              <a:buChar char="○"/>
              <a:defRPr sz="1100"/>
            </a:lvl2pPr>
            <a:lvl3pPr marL="1371600" lvl="2" indent="-298450" algn="l">
              <a:lnSpc>
                <a:spcPct val="115000"/>
              </a:lnSpc>
              <a:spcBef>
                <a:spcPts val="2100"/>
              </a:spcBef>
              <a:spcAft>
                <a:spcPts val="0"/>
              </a:spcAft>
              <a:buSzPts val="1100"/>
              <a:buChar char="■"/>
              <a:defRPr sz="1100"/>
            </a:lvl3pPr>
            <a:lvl4pPr marL="1828800" lvl="3" indent="-298450" algn="l">
              <a:lnSpc>
                <a:spcPct val="115000"/>
              </a:lnSpc>
              <a:spcBef>
                <a:spcPts val="2100"/>
              </a:spcBef>
              <a:spcAft>
                <a:spcPts val="0"/>
              </a:spcAft>
              <a:buSzPts val="1100"/>
              <a:buChar char="●"/>
              <a:defRPr sz="1100"/>
            </a:lvl4pPr>
            <a:lvl5pPr marL="2286000" lvl="4" indent="-298450" algn="l">
              <a:lnSpc>
                <a:spcPct val="115000"/>
              </a:lnSpc>
              <a:spcBef>
                <a:spcPts val="2100"/>
              </a:spcBef>
              <a:spcAft>
                <a:spcPts val="0"/>
              </a:spcAft>
              <a:buSzPts val="1100"/>
              <a:buChar char="○"/>
              <a:defRPr sz="1100"/>
            </a:lvl5pPr>
            <a:lvl6pPr marL="2743200" lvl="5" indent="-298450" algn="l">
              <a:lnSpc>
                <a:spcPct val="115000"/>
              </a:lnSpc>
              <a:spcBef>
                <a:spcPts val="2100"/>
              </a:spcBef>
              <a:spcAft>
                <a:spcPts val="0"/>
              </a:spcAft>
              <a:buSzPts val="1100"/>
              <a:buChar char="■"/>
              <a:defRPr sz="1100"/>
            </a:lvl6pPr>
            <a:lvl7pPr marL="3200400" lvl="6" indent="-298450" algn="l">
              <a:lnSpc>
                <a:spcPct val="115000"/>
              </a:lnSpc>
              <a:spcBef>
                <a:spcPts val="2100"/>
              </a:spcBef>
              <a:spcAft>
                <a:spcPts val="0"/>
              </a:spcAft>
              <a:buSzPts val="1100"/>
              <a:buChar char="●"/>
              <a:defRPr sz="1100"/>
            </a:lvl7pPr>
            <a:lvl8pPr marL="3657600" lvl="7" indent="-298450" algn="l">
              <a:lnSpc>
                <a:spcPct val="115000"/>
              </a:lnSpc>
              <a:spcBef>
                <a:spcPts val="2100"/>
              </a:spcBef>
              <a:spcAft>
                <a:spcPts val="0"/>
              </a:spcAft>
              <a:buSzPts val="1100"/>
              <a:buChar char="○"/>
              <a:defRPr sz="1100"/>
            </a:lvl8pPr>
            <a:lvl9pPr marL="4114800" lvl="8" indent="-298450" algn="l">
              <a:lnSpc>
                <a:spcPct val="115000"/>
              </a:lnSpc>
              <a:spcBef>
                <a:spcPts val="2100"/>
              </a:spcBef>
              <a:spcAft>
                <a:spcPts val="2100"/>
              </a:spcAft>
              <a:buSzPts val="1100"/>
              <a:buChar char="■"/>
              <a:defRPr sz="1100"/>
            </a:lvl9pPr>
          </a:lstStyle>
          <a:p>
            <a:endParaRPr/>
          </a:p>
        </p:txBody>
      </p:sp>
      <p:sp>
        <p:nvSpPr>
          <p:cNvPr id="30" name="Google Shape;30;p15"/>
          <p:cNvSpPr txBox="1">
            <a:spLocks noGrp="1"/>
          </p:cNvSpPr>
          <p:nvPr>
            <p:ph type="title"/>
          </p:nvPr>
        </p:nvSpPr>
        <p:spPr>
          <a:xfrm>
            <a:off x="415496" y="194567"/>
            <a:ext cx="11358000" cy="763500"/>
          </a:xfrm>
          <a:prstGeom prst="rect">
            <a:avLst/>
          </a:prstGeom>
          <a:noFill/>
          <a:ln>
            <a:noFill/>
          </a:ln>
        </p:spPr>
        <p:txBody>
          <a:bodyPr spcFirstLastPara="1" wrap="square" lIns="121875" tIns="121875" rIns="121875" bIns="121875" anchor="t" anchorCtr="0">
            <a:noAutofit/>
          </a:bodyPr>
          <a:lstStyle>
            <a:lvl1pPr lvl="0" algn="l">
              <a:lnSpc>
                <a:spcPct val="100000"/>
              </a:lnSpc>
              <a:spcBef>
                <a:spcPts val="0"/>
              </a:spcBef>
              <a:spcAft>
                <a:spcPts val="0"/>
              </a:spcAft>
              <a:buSzPts val="3700"/>
              <a:buFont typeface="Roboto Condensed"/>
              <a:buNone/>
              <a:defRPr>
                <a:latin typeface="Roboto Condensed"/>
                <a:ea typeface="Roboto Condensed"/>
                <a:cs typeface="Roboto Condensed"/>
                <a:sym typeface="Roboto Condensed"/>
              </a:defRPr>
            </a:lvl1pPr>
            <a:lvl2pPr lvl="1" algn="l">
              <a:lnSpc>
                <a:spcPct val="100000"/>
              </a:lnSpc>
              <a:spcBef>
                <a:spcPts val="0"/>
              </a:spcBef>
              <a:spcAft>
                <a:spcPts val="0"/>
              </a:spcAft>
              <a:buSzPts val="3700"/>
              <a:buFont typeface="Roboto Condensed"/>
              <a:buNone/>
              <a:defRPr>
                <a:latin typeface="Roboto Condensed"/>
                <a:ea typeface="Roboto Condensed"/>
                <a:cs typeface="Roboto Condensed"/>
                <a:sym typeface="Roboto Condensed"/>
              </a:defRPr>
            </a:lvl2pPr>
            <a:lvl3pPr lvl="2" algn="l">
              <a:lnSpc>
                <a:spcPct val="100000"/>
              </a:lnSpc>
              <a:spcBef>
                <a:spcPts val="0"/>
              </a:spcBef>
              <a:spcAft>
                <a:spcPts val="0"/>
              </a:spcAft>
              <a:buSzPts val="3700"/>
              <a:buFont typeface="Roboto Condensed"/>
              <a:buNone/>
              <a:defRPr>
                <a:latin typeface="Roboto Condensed"/>
                <a:ea typeface="Roboto Condensed"/>
                <a:cs typeface="Roboto Condensed"/>
                <a:sym typeface="Roboto Condensed"/>
              </a:defRPr>
            </a:lvl3pPr>
            <a:lvl4pPr lvl="3" algn="l">
              <a:lnSpc>
                <a:spcPct val="100000"/>
              </a:lnSpc>
              <a:spcBef>
                <a:spcPts val="0"/>
              </a:spcBef>
              <a:spcAft>
                <a:spcPts val="0"/>
              </a:spcAft>
              <a:buSzPts val="3700"/>
              <a:buFont typeface="Roboto Condensed"/>
              <a:buNone/>
              <a:defRPr>
                <a:latin typeface="Roboto Condensed"/>
                <a:ea typeface="Roboto Condensed"/>
                <a:cs typeface="Roboto Condensed"/>
                <a:sym typeface="Roboto Condensed"/>
              </a:defRPr>
            </a:lvl4pPr>
            <a:lvl5pPr lvl="4" algn="l">
              <a:lnSpc>
                <a:spcPct val="100000"/>
              </a:lnSpc>
              <a:spcBef>
                <a:spcPts val="0"/>
              </a:spcBef>
              <a:spcAft>
                <a:spcPts val="0"/>
              </a:spcAft>
              <a:buSzPts val="3700"/>
              <a:buFont typeface="Roboto Condensed"/>
              <a:buNone/>
              <a:defRPr>
                <a:latin typeface="Roboto Condensed"/>
                <a:ea typeface="Roboto Condensed"/>
                <a:cs typeface="Roboto Condensed"/>
                <a:sym typeface="Roboto Condensed"/>
              </a:defRPr>
            </a:lvl5pPr>
            <a:lvl6pPr lvl="5" algn="l">
              <a:lnSpc>
                <a:spcPct val="100000"/>
              </a:lnSpc>
              <a:spcBef>
                <a:spcPts val="0"/>
              </a:spcBef>
              <a:spcAft>
                <a:spcPts val="0"/>
              </a:spcAft>
              <a:buSzPts val="3700"/>
              <a:buFont typeface="Roboto Condensed"/>
              <a:buNone/>
              <a:defRPr>
                <a:latin typeface="Roboto Condensed"/>
                <a:ea typeface="Roboto Condensed"/>
                <a:cs typeface="Roboto Condensed"/>
                <a:sym typeface="Roboto Condensed"/>
              </a:defRPr>
            </a:lvl6pPr>
            <a:lvl7pPr lvl="6" algn="l">
              <a:lnSpc>
                <a:spcPct val="100000"/>
              </a:lnSpc>
              <a:spcBef>
                <a:spcPts val="0"/>
              </a:spcBef>
              <a:spcAft>
                <a:spcPts val="0"/>
              </a:spcAft>
              <a:buSzPts val="3700"/>
              <a:buFont typeface="Roboto Condensed"/>
              <a:buNone/>
              <a:defRPr>
                <a:latin typeface="Roboto Condensed"/>
                <a:ea typeface="Roboto Condensed"/>
                <a:cs typeface="Roboto Condensed"/>
                <a:sym typeface="Roboto Condensed"/>
              </a:defRPr>
            </a:lvl7pPr>
            <a:lvl8pPr lvl="7" algn="l">
              <a:lnSpc>
                <a:spcPct val="100000"/>
              </a:lnSpc>
              <a:spcBef>
                <a:spcPts val="0"/>
              </a:spcBef>
              <a:spcAft>
                <a:spcPts val="0"/>
              </a:spcAft>
              <a:buSzPts val="3700"/>
              <a:buFont typeface="Roboto Condensed"/>
              <a:buNone/>
              <a:defRPr>
                <a:latin typeface="Roboto Condensed"/>
                <a:ea typeface="Roboto Condensed"/>
                <a:cs typeface="Roboto Condensed"/>
                <a:sym typeface="Roboto Condensed"/>
              </a:defRPr>
            </a:lvl8pPr>
            <a:lvl9pPr lvl="8" algn="l">
              <a:lnSpc>
                <a:spcPct val="100000"/>
              </a:lnSpc>
              <a:spcBef>
                <a:spcPts val="0"/>
              </a:spcBef>
              <a:spcAft>
                <a:spcPts val="0"/>
              </a:spcAft>
              <a:buSzPts val="3700"/>
              <a:buFont typeface="Roboto Condensed"/>
              <a:buNone/>
              <a:defRPr>
                <a:latin typeface="Roboto Condensed"/>
                <a:ea typeface="Roboto Condensed"/>
                <a:cs typeface="Roboto Condensed"/>
                <a:sym typeface="Roboto Condensed"/>
              </a:defRPr>
            </a:lvl9pPr>
          </a:lstStyle>
          <a:p>
            <a:endParaRPr/>
          </a:p>
        </p:txBody>
      </p:sp>
      <p:sp>
        <p:nvSpPr>
          <p:cNvPr id="31" name="Google Shape;31;p15"/>
          <p:cNvSpPr txBox="1">
            <a:spLocks noGrp="1"/>
          </p:cNvSpPr>
          <p:nvPr>
            <p:ph type="body" idx="4"/>
          </p:nvPr>
        </p:nvSpPr>
        <p:spPr>
          <a:xfrm>
            <a:off x="7430111" y="1741013"/>
            <a:ext cx="2286000" cy="4407300"/>
          </a:xfrm>
          <a:prstGeom prst="rect">
            <a:avLst/>
          </a:prstGeom>
          <a:noFill/>
          <a:ln>
            <a:noFill/>
          </a:ln>
        </p:spPr>
        <p:txBody>
          <a:bodyPr spcFirstLastPara="1" wrap="square" lIns="121875" tIns="121875" rIns="121875" bIns="121875" anchor="t" anchorCtr="0">
            <a:noAutofit/>
          </a:bodyPr>
          <a:lstStyle>
            <a:lvl1pPr marL="457200" lvl="0" indent="-298450" algn="l">
              <a:lnSpc>
                <a:spcPct val="115000"/>
              </a:lnSpc>
              <a:spcBef>
                <a:spcPts val="0"/>
              </a:spcBef>
              <a:spcAft>
                <a:spcPts val="0"/>
              </a:spcAft>
              <a:buSzPts val="1100"/>
              <a:buChar char="●"/>
              <a:defRPr sz="1100"/>
            </a:lvl1pPr>
            <a:lvl2pPr marL="914400" lvl="1" indent="-298450" algn="l">
              <a:lnSpc>
                <a:spcPct val="115000"/>
              </a:lnSpc>
              <a:spcBef>
                <a:spcPts val="2100"/>
              </a:spcBef>
              <a:spcAft>
                <a:spcPts val="0"/>
              </a:spcAft>
              <a:buSzPts val="1100"/>
              <a:buChar char="○"/>
              <a:defRPr sz="1100"/>
            </a:lvl2pPr>
            <a:lvl3pPr marL="1371600" lvl="2" indent="-298450" algn="l">
              <a:lnSpc>
                <a:spcPct val="115000"/>
              </a:lnSpc>
              <a:spcBef>
                <a:spcPts val="2100"/>
              </a:spcBef>
              <a:spcAft>
                <a:spcPts val="0"/>
              </a:spcAft>
              <a:buSzPts val="1100"/>
              <a:buChar char="■"/>
              <a:defRPr sz="1100"/>
            </a:lvl3pPr>
            <a:lvl4pPr marL="1828800" lvl="3" indent="-298450" algn="l">
              <a:lnSpc>
                <a:spcPct val="115000"/>
              </a:lnSpc>
              <a:spcBef>
                <a:spcPts val="2100"/>
              </a:spcBef>
              <a:spcAft>
                <a:spcPts val="0"/>
              </a:spcAft>
              <a:buSzPts val="1100"/>
              <a:buChar char="●"/>
              <a:defRPr sz="1100"/>
            </a:lvl4pPr>
            <a:lvl5pPr marL="2286000" lvl="4" indent="-298450" algn="l">
              <a:lnSpc>
                <a:spcPct val="115000"/>
              </a:lnSpc>
              <a:spcBef>
                <a:spcPts val="2100"/>
              </a:spcBef>
              <a:spcAft>
                <a:spcPts val="0"/>
              </a:spcAft>
              <a:buSzPts val="1100"/>
              <a:buChar char="○"/>
              <a:defRPr sz="1100"/>
            </a:lvl5pPr>
            <a:lvl6pPr marL="2743200" lvl="5" indent="-298450" algn="l">
              <a:lnSpc>
                <a:spcPct val="115000"/>
              </a:lnSpc>
              <a:spcBef>
                <a:spcPts val="2100"/>
              </a:spcBef>
              <a:spcAft>
                <a:spcPts val="0"/>
              </a:spcAft>
              <a:buSzPts val="1100"/>
              <a:buChar char="■"/>
              <a:defRPr sz="1100"/>
            </a:lvl6pPr>
            <a:lvl7pPr marL="3200400" lvl="6" indent="-298450" algn="l">
              <a:lnSpc>
                <a:spcPct val="115000"/>
              </a:lnSpc>
              <a:spcBef>
                <a:spcPts val="2100"/>
              </a:spcBef>
              <a:spcAft>
                <a:spcPts val="0"/>
              </a:spcAft>
              <a:buSzPts val="1100"/>
              <a:buChar char="●"/>
              <a:defRPr sz="1100"/>
            </a:lvl7pPr>
            <a:lvl8pPr marL="3657600" lvl="7" indent="-298450" algn="l">
              <a:lnSpc>
                <a:spcPct val="115000"/>
              </a:lnSpc>
              <a:spcBef>
                <a:spcPts val="2100"/>
              </a:spcBef>
              <a:spcAft>
                <a:spcPts val="0"/>
              </a:spcAft>
              <a:buSzPts val="1100"/>
              <a:buChar char="○"/>
              <a:defRPr sz="1100"/>
            </a:lvl8pPr>
            <a:lvl9pPr marL="4114800" lvl="8" indent="-298450" algn="l">
              <a:lnSpc>
                <a:spcPct val="115000"/>
              </a:lnSpc>
              <a:spcBef>
                <a:spcPts val="2100"/>
              </a:spcBef>
              <a:spcAft>
                <a:spcPts val="2100"/>
              </a:spcAft>
              <a:buSzPts val="1100"/>
              <a:buChar char="■"/>
              <a:defRPr sz="11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1"/>
          <p:cNvSpPr txBox="1">
            <a:spLocks noGrp="1"/>
          </p:cNvSpPr>
          <p:nvPr>
            <p:ph type="title"/>
          </p:nvPr>
        </p:nvSpPr>
        <p:spPr>
          <a:xfrm>
            <a:off x="415496" y="593367"/>
            <a:ext cx="11358000" cy="763500"/>
          </a:xfrm>
          <a:prstGeom prst="rect">
            <a:avLst/>
          </a:prstGeom>
          <a:noFill/>
          <a:ln>
            <a:noFill/>
          </a:ln>
        </p:spPr>
        <p:txBody>
          <a:bodyPr spcFirstLastPara="1" wrap="square" lIns="121875" tIns="121875" rIns="121875" bIns="121875" anchor="t" anchorCtr="0">
            <a:noAutofit/>
          </a:bodyPr>
          <a:lstStyle>
            <a:lvl1pPr marR="0" lvl="0" algn="l" rtl="0">
              <a:lnSpc>
                <a:spcPct val="100000"/>
              </a:lnSpc>
              <a:spcBef>
                <a:spcPts val="0"/>
              </a:spcBef>
              <a:spcAft>
                <a:spcPts val="0"/>
              </a:spcAft>
              <a:buClr>
                <a:schemeClr val="dk1"/>
              </a:buClr>
              <a:buSzPts val="3700"/>
              <a:buFont typeface="Arial"/>
              <a:buNone/>
              <a:defRPr sz="37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3700"/>
              <a:buFont typeface="Arial"/>
              <a:buNone/>
              <a:defRPr sz="37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3700"/>
              <a:buFont typeface="Arial"/>
              <a:buNone/>
              <a:defRPr sz="37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3700"/>
              <a:buFont typeface="Arial"/>
              <a:buNone/>
              <a:defRPr sz="37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3700"/>
              <a:buFont typeface="Arial"/>
              <a:buNone/>
              <a:defRPr sz="37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3700"/>
              <a:buFont typeface="Arial"/>
              <a:buNone/>
              <a:defRPr sz="37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3700"/>
              <a:buFont typeface="Arial"/>
              <a:buNone/>
              <a:defRPr sz="37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3700"/>
              <a:buFont typeface="Arial"/>
              <a:buNone/>
              <a:defRPr sz="37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3700"/>
              <a:buFont typeface="Arial"/>
              <a:buNone/>
              <a:defRPr sz="3700" b="1" i="0" u="none" strike="noStrike" cap="none">
                <a:solidFill>
                  <a:schemeClr val="dk1"/>
                </a:solidFill>
                <a:latin typeface="Arial"/>
                <a:ea typeface="Arial"/>
                <a:cs typeface="Arial"/>
                <a:sym typeface="Arial"/>
              </a:defRPr>
            </a:lvl9pPr>
          </a:lstStyle>
          <a:p>
            <a:endParaRPr/>
          </a:p>
        </p:txBody>
      </p:sp>
      <p:sp>
        <p:nvSpPr>
          <p:cNvPr id="7" name="Google Shape;7;p11"/>
          <p:cNvSpPr txBox="1">
            <a:spLocks noGrp="1"/>
          </p:cNvSpPr>
          <p:nvPr>
            <p:ph type="body" idx="1"/>
          </p:nvPr>
        </p:nvSpPr>
        <p:spPr>
          <a:xfrm>
            <a:off x="415496" y="1536633"/>
            <a:ext cx="11358000" cy="4555200"/>
          </a:xfrm>
          <a:prstGeom prst="rect">
            <a:avLst/>
          </a:prstGeom>
          <a:noFill/>
          <a:ln>
            <a:noFill/>
          </a:ln>
        </p:spPr>
        <p:txBody>
          <a:bodyPr spcFirstLastPara="1" wrap="square" lIns="121875" tIns="121875" rIns="121875" bIns="121875" anchor="t" anchorCtr="0">
            <a:noAutofit/>
          </a:bodyPr>
          <a:lstStyle>
            <a:lvl1pPr marL="457200" marR="0" lvl="0" indent="-381000" algn="l" rtl="0">
              <a:lnSpc>
                <a:spcPct val="115000"/>
              </a:lnSpc>
              <a:spcBef>
                <a:spcPts val="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1pPr>
            <a:lvl2pPr marL="914400" marR="0" lvl="1" indent="-349250" algn="l" rtl="0">
              <a:lnSpc>
                <a:spcPct val="115000"/>
              </a:lnSpc>
              <a:spcBef>
                <a:spcPts val="210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2pPr>
            <a:lvl3pPr marL="1371600" marR="0" lvl="2" indent="-349250" algn="l" rtl="0">
              <a:lnSpc>
                <a:spcPct val="115000"/>
              </a:lnSpc>
              <a:spcBef>
                <a:spcPts val="210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3pPr>
            <a:lvl4pPr marL="1828800" marR="0" lvl="3" indent="-349250" algn="l" rtl="0">
              <a:lnSpc>
                <a:spcPct val="115000"/>
              </a:lnSpc>
              <a:spcBef>
                <a:spcPts val="210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4pPr>
            <a:lvl5pPr marL="2286000" marR="0" lvl="4" indent="-349250" algn="l" rtl="0">
              <a:lnSpc>
                <a:spcPct val="115000"/>
              </a:lnSpc>
              <a:spcBef>
                <a:spcPts val="210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5pPr>
            <a:lvl6pPr marL="2743200" marR="0" lvl="5" indent="-349250" algn="l" rtl="0">
              <a:lnSpc>
                <a:spcPct val="115000"/>
              </a:lnSpc>
              <a:spcBef>
                <a:spcPts val="210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6pPr>
            <a:lvl7pPr marL="3200400" marR="0" lvl="6" indent="-349250" algn="l" rtl="0">
              <a:lnSpc>
                <a:spcPct val="115000"/>
              </a:lnSpc>
              <a:spcBef>
                <a:spcPts val="210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7pPr>
            <a:lvl8pPr marL="3657600" marR="0" lvl="7" indent="-349250" algn="l" rtl="0">
              <a:lnSpc>
                <a:spcPct val="115000"/>
              </a:lnSpc>
              <a:spcBef>
                <a:spcPts val="210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8pPr>
            <a:lvl9pPr marL="4114800" marR="0" lvl="8" indent="-349250" algn="l" rtl="0">
              <a:lnSpc>
                <a:spcPct val="115000"/>
              </a:lnSpc>
              <a:spcBef>
                <a:spcPts val="2100"/>
              </a:spcBef>
              <a:spcAft>
                <a:spcPts val="2100"/>
              </a:spcAft>
              <a:buClr>
                <a:schemeClr val="dk2"/>
              </a:buClr>
              <a:buSzPts val="1900"/>
              <a:buFont typeface="Arial"/>
              <a:buChar char="■"/>
              <a:defRPr sz="1900" b="0" i="0" u="none" strike="noStrike" cap="none">
                <a:solidFill>
                  <a:schemeClr val="dk2"/>
                </a:solidFill>
                <a:latin typeface="Arial"/>
                <a:ea typeface="Arial"/>
                <a:cs typeface="Arial"/>
                <a:sym typeface="Arial"/>
              </a:defRPr>
            </a:lvl9pPr>
          </a:lstStyle>
          <a:p>
            <a:endParaRPr/>
          </a:p>
        </p:txBody>
      </p:sp>
      <p:sp>
        <p:nvSpPr>
          <p:cNvPr id="8" name="Google Shape;8;p11"/>
          <p:cNvSpPr txBox="1">
            <a:spLocks noGrp="1"/>
          </p:cNvSpPr>
          <p:nvPr>
            <p:ph type="sldNum" idx="12"/>
          </p:nvPr>
        </p:nvSpPr>
        <p:spPr>
          <a:xfrm>
            <a:off x="11293784" y="6217622"/>
            <a:ext cx="731400" cy="524700"/>
          </a:xfrm>
          <a:prstGeom prst="rect">
            <a:avLst/>
          </a:prstGeom>
          <a:noFill/>
          <a:ln>
            <a:noFill/>
          </a:ln>
        </p:spPr>
        <p:txBody>
          <a:bodyPr spcFirstLastPara="1" wrap="square" lIns="121875" tIns="121875" rIns="121875" bIns="121875" anchor="ctr" anchorCtr="0">
            <a:no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1.sv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hyperlink" Target="https://www.sec.gov/data-research/sec-markets-data/insider-transactions-data-sets"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8.svg"/><Relationship Id="rId11" Type="http://schemas.openxmlformats.org/officeDocument/2006/relationships/hyperlink" Target="https://ranaroussi.github.io/yfinance/" TargetMode="External"/><Relationship Id="rId5" Type="http://schemas.openxmlformats.org/officeDocument/2006/relationships/image" Target="../media/image17.png"/><Relationship Id="rId10" Type="http://schemas.microsoft.com/office/2007/relationships/hdphoto" Target="../media/hdphoto1.wdp"/><Relationship Id="rId4" Type="http://schemas.openxmlformats.org/officeDocument/2006/relationships/image" Target="../media/image16.svg"/><Relationship Id="rId9" Type="http://schemas.openxmlformats.org/officeDocument/2006/relationships/image" Target="../media/image21.png"/></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5.png"/></Relationships>
</file>

<file path=ppt/slides/_rels/slide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10.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39.png"/><Relationship Id="rId7" Type="http://schemas.openxmlformats.org/officeDocument/2006/relationships/image" Target="../media/image43.png"/><Relationship Id="rId12" Type="http://schemas.microsoft.com/office/2007/relationships/hdphoto" Target="../media/hdphoto1.wdp"/><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2.svg"/><Relationship Id="rId11" Type="http://schemas.openxmlformats.org/officeDocument/2006/relationships/image" Target="../media/image21.png"/><Relationship Id="rId5" Type="http://schemas.openxmlformats.org/officeDocument/2006/relationships/image" Target="../media/image41.png"/><Relationship Id="rId10" Type="http://schemas.openxmlformats.org/officeDocument/2006/relationships/image" Target="../media/image46.svg"/><Relationship Id="rId4" Type="http://schemas.openxmlformats.org/officeDocument/2006/relationships/image" Target="../media/image40.svg"/><Relationship Id="rId9" Type="http://schemas.openxmlformats.org/officeDocument/2006/relationships/image" Target="../media/image45.png"/></Relationships>
</file>

<file path=ppt/slides/_rels/slide11.xml.rels><?xml version="1.0" encoding="UTF-8" standalone="yes"?>
<Relationships xmlns="http://schemas.openxmlformats.org/package/2006/relationships"><Relationship Id="rId8" Type="http://schemas.openxmlformats.org/officeDocument/2006/relationships/hyperlink" Target="http://sec.gov/" TargetMode="External"/><Relationship Id="rId3" Type="http://schemas.openxmlformats.org/officeDocument/2006/relationships/image" Target="../media/image47.png"/><Relationship Id="rId7" Type="http://schemas.openxmlformats.org/officeDocument/2006/relationships/hyperlink" Target="https://www.schwab.com/learn/story/how-well-do-you-know-market-cap"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hyperlink" Target="https://ranaroussi.github.io/yfinance/" TargetMode="External"/><Relationship Id="rId5" Type="http://schemas.openxmlformats.org/officeDocument/2006/relationships/hyperlink" Target="https://www.investopedia.com/terms/i/insider.asp" TargetMode="External"/><Relationship Id="rId4" Type="http://schemas.openxmlformats.org/officeDocument/2006/relationships/image" Target="../media/image48.svg"/><Relationship Id="rId9" Type="http://schemas.openxmlformats.org/officeDocument/2006/relationships/hyperlink" Target="https://www.sec.gov/data-research/sec-markets-data/insider-transactions-data-set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
        <p:cNvGrpSpPr/>
        <p:nvPr/>
      </p:nvGrpSpPr>
      <p:grpSpPr>
        <a:xfrm>
          <a:off x="0" y="0"/>
          <a:ext cx="0" cy="0"/>
          <a:chOff x="0" y="0"/>
          <a:chExt cx="0" cy="0"/>
        </a:xfrm>
      </p:grpSpPr>
      <p:pic>
        <p:nvPicPr>
          <p:cNvPr id="13" name="Graphic 12" descr="Scatterplot with solid fill">
            <a:extLst>
              <a:ext uri="{FF2B5EF4-FFF2-40B4-BE49-F238E27FC236}">
                <a16:creationId xmlns:a16="http://schemas.microsoft.com/office/drawing/2014/main" id="{FA6329A1-F334-5576-430C-66EA0AD8479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52539" y="2599932"/>
            <a:ext cx="630300" cy="630300"/>
          </a:xfrm>
          <a:prstGeom prst="rect">
            <a:avLst/>
          </a:prstGeom>
        </p:spPr>
      </p:pic>
      <p:pic>
        <p:nvPicPr>
          <p:cNvPr id="11" name="Graphic 10" descr="Mop and bucket with solid fill">
            <a:extLst>
              <a:ext uri="{FF2B5EF4-FFF2-40B4-BE49-F238E27FC236}">
                <a16:creationId xmlns:a16="http://schemas.microsoft.com/office/drawing/2014/main" id="{7D40E94B-9607-19AE-EB5F-8022FFAB75A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62074" y="2631391"/>
            <a:ext cx="535200" cy="535200"/>
          </a:xfrm>
          <a:prstGeom prst="rect">
            <a:avLst/>
          </a:prstGeom>
        </p:spPr>
      </p:pic>
      <p:pic>
        <p:nvPicPr>
          <p:cNvPr id="9" name="Graphic 8" descr="Database with solid fill">
            <a:extLst>
              <a:ext uri="{FF2B5EF4-FFF2-40B4-BE49-F238E27FC236}">
                <a16:creationId xmlns:a16="http://schemas.microsoft.com/office/drawing/2014/main" id="{58F03C59-3C18-7B30-C032-254533A024F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315902" y="2718823"/>
            <a:ext cx="477425" cy="477425"/>
          </a:xfrm>
          <a:prstGeom prst="rect">
            <a:avLst/>
          </a:prstGeom>
        </p:spPr>
      </p:pic>
      <p:pic>
        <p:nvPicPr>
          <p:cNvPr id="7" name="Graphic 6" descr="Folder Search with solid fill">
            <a:extLst>
              <a:ext uri="{FF2B5EF4-FFF2-40B4-BE49-F238E27FC236}">
                <a16:creationId xmlns:a16="http://schemas.microsoft.com/office/drawing/2014/main" id="{EF0C90ED-3967-5DB9-3CDB-25C33713DCA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329863" y="2657744"/>
            <a:ext cx="572862" cy="572862"/>
          </a:xfrm>
          <a:prstGeom prst="rect">
            <a:avLst/>
          </a:prstGeom>
        </p:spPr>
      </p:pic>
      <p:sp>
        <p:nvSpPr>
          <p:cNvPr id="5" name="Rectangle 4">
            <a:extLst>
              <a:ext uri="{FF2B5EF4-FFF2-40B4-BE49-F238E27FC236}">
                <a16:creationId xmlns:a16="http://schemas.microsoft.com/office/drawing/2014/main" id="{D116F8C2-5646-DEE0-8B62-5307ABD541C3}"/>
              </a:ext>
            </a:extLst>
          </p:cNvPr>
          <p:cNvSpPr/>
          <p:nvPr/>
        </p:nvSpPr>
        <p:spPr>
          <a:xfrm rot="10800000" flipV="1">
            <a:off x="-1" y="946962"/>
            <a:ext cx="9068025" cy="45719"/>
          </a:xfrm>
          <a:prstGeom prst="rect">
            <a:avLst/>
          </a:prstGeom>
          <a:gradFill>
            <a:gsLst>
              <a:gs pos="100000">
                <a:srgbClr val="14232E"/>
              </a:gs>
              <a:gs pos="0">
                <a:schemeClr val="tx2">
                  <a:lumMod val="20000"/>
                  <a:lumOff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9749CD0-C915-303F-3EB0-CEB61D8E79AE}"/>
              </a:ext>
            </a:extLst>
          </p:cNvPr>
          <p:cNvSpPr/>
          <p:nvPr/>
        </p:nvSpPr>
        <p:spPr>
          <a:xfrm>
            <a:off x="3410275" y="6456178"/>
            <a:ext cx="8781725" cy="45719"/>
          </a:xfrm>
          <a:prstGeom prst="rect">
            <a:avLst/>
          </a:prstGeom>
          <a:gradFill>
            <a:gsLst>
              <a:gs pos="100000">
                <a:srgbClr val="9E7316"/>
              </a:gs>
              <a:gs pos="0">
                <a:schemeClr val="tx2">
                  <a:lumMod val="20000"/>
                  <a:lumOff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Google Shape;36;p10"/>
          <p:cNvSpPr txBox="1"/>
          <p:nvPr/>
        </p:nvSpPr>
        <p:spPr>
          <a:xfrm>
            <a:off x="-84050" y="-938500"/>
            <a:ext cx="2423400" cy="630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2"/>
              </a:solidFill>
              <a:latin typeface="Arial"/>
              <a:ea typeface="Arial"/>
              <a:cs typeface="Arial"/>
              <a:sym typeface="Arial"/>
            </a:endParaRPr>
          </a:p>
        </p:txBody>
      </p:sp>
      <p:sp>
        <p:nvSpPr>
          <p:cNvPr id="37" name="Google Shape;37;p10"/>
          <p:cNvSpPr txBox="1"/>
          <p:nvPr/>
        </p:nvSpPr>
        <p:spPr>
          <a:xfrm>
            <a:off x="494325" y="428652"/>
            <a:ext cx="7768500" cy="5352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600"/>
              <a:buFont typeface="Arial"/>
              <a:buNone/>
            </a:pPr>
            <a:r>
              <a:rPr lang="en" sz="2400" b="1" dirty="0">
                <a:solidFill>
                  <a:schemeClr val="tx1"/>
                </a:solidFill>
                <a:latin typeface="Roboto Condensed"/>
                <a:ea typeface="Roboto Condensed"/>
                <a:cs typeface="Roboto Condensed"/>
                <a:sym typeface="Roboto Condensed"/>
              </a:rPr>
              <a:t>Do Corporate Insiders Know Something We Don’t?</a:t>
            </a:r>
            <a:endParaRPr sz="2400" b="0" i="0" u="none" strike="noStrike" cap="none" dirty="0">
              <a:solidFill>
                <a:schemeClr val="tx1"/>
              </a:solidFill>
              <a:latin typeface="Arial"/>
              <a:ea typeface="Arial"/>
              <a:cs typeface="Arial"/>
              <a:sym typeface="Arial"/>
            </a:endParaRPr>
          </a:p>
        </p:txBody>
      </p:sp>
      <p:sp>
        <p:nvSpPr>
          <p:cNvPr id="38" name="Google Shape;38;p10"/>
          <p:cNvSpPr txBox="1">
            <a:spLocks noGrp="1"/>
          </p:cNvSpPr>
          <p:nvPr>
            <p:ph type="body" idx="1"/>
          </p:nvPr>
        </p:nvSpPr>
        <p:spPr>
          <a:xfrm>
            <a:off x="450775" y="1378467"/>
            <a:ext cx="11275200" cy="1227969"/>
          </a:xfrm>
          <a:prstGeom prst="rect">
            <a:avLst/>
          </a:prstGeom>
          <a:noFill/>
          <a:ln>
            <a:noFill/>
          </a:ln>
        </p:spPr>
        <p:txBody>
          <a:bodyPr spcFirstLastPara="1" wrap="square" lIns="91425" tIns="0" rIns="91425" bIns="91425" anchor="t" anchorCtr="0">
            <a:noAutofit/>
          </a:bodyPr>
          <a:lstStyle/>
          <a:p>
            <a:pPr marL="0" lvl="0" indent="0" algn="l" rtl="0">
              <a:lnSpc>
                <a:spcPct val="115000"/>
              </a:lnSpc>
              <a:spcBef>
                <a:spcPts val="1200"/>
              </a:spcBef>
              <a:spcAft>
                <a:spcPts val="0"/>
              </a:spcAft>
              <a:buSzPts val="1100"/>
              <a:buNone/>
            </a:pPr>
            <a:r>
              <a:rPr lang="en" sz="1300" b="1" dirty="0">
                <a:solidFill>
                  <a:schemeClr val="tx1"/>
                </a:solidFill>
              </a:rPr>
              <a:t>Overview</a:t>
            </a:r>
            <a:r>
              <a:rPr lang="en" sz="1250" b="1" dirty="0">
                <a:solidFill>
                  <a:schemeClr val="tx1"/>
                </a:solidFill>
              </a:rPr>
              <a:t>:</a:t>
            </a:r>
            <a:r>
              <a:rPr lang="en" sz="1250" dirty="0">
                <a:solidFill>
                  <a:schemeClr val="tx1"/>
                </a:solidFill>
              </a:rPr>
              <a:t> </a:t>
            </a:r>
            <a:r>
              <a:rPr lang="en" sz="1000" dirty="0">
                <a:solidFill>
                  <a:schemeClr val="tx1"/>
                </a:solidFill>
              </a:rPr>
              <a:t>When corporate executives, directors, or owners legally buy shares of their own company, it is known as insider trading (Hussain, 2022). This study examines whether open-market insider purchases, reported on SEC Form 4, can reliably predict six-month outperformance relative to the broader market. By focusing solely on buy-side transactions, </a:t>
            </a:r>
            <a:r>
              <a:rPr lang="en" sz="1000" b="1" dirty="0">
                <a:solidFill>
                  <a:schemeClr val="tx1"/>
                </a:solidFill>
              </a:rPr>
              <a:t>we treat insider purchases as signals of confidence in the firm’s health and growth prospects</a:t>
            </a:r>
            <a:r>
              <a:rPr lang="en" sz="1000" dirty="0">
                <a:solidFill>
                  <a:schemeClr val="tx1"/>
                </a:solidFill>
              </a:rPr>
              <a:t>. We hypothesize that the majority of insider activity reflects random noise and yields returns similar to the broader market. However, we also hypothesize that certain insiders consistently achieve significant excess returns (</a:t>
            </a:r>
            <a:r>
              <a:rPr lang="en" sz="1000" dirty="0">
                <a:solidFill>
                  <a:schemeClr val="tx1"/>
                </a:solidFill>
                <a:latin typeface="Roboto Mono"/>
                <a:ea typeface="Roboto Mono"/>
                <a:cs typeface="Roboto Mono"/>
                <a:sym typeface="Roboto Mono"/>
              </a:rPr>
              <a:t>≥</a:t>
            </a:r>
            <a:r>
              <a:rPr lang="en" sz="1000" dirty="0">
                <a:solidFill>
                  <a:schemeClr val="tx1"/>
                </a:solidFill>
              </a:rPr>
              <a:t>20%). After data aggregation and cleaning, we compared post-purchase stock returns and found that most insider trades underperform the market benchmark, while a subset of individuals showed repeatable excess returns. Limitations in the analysis include survivorship bias, as failed companies that are delisted from the exchange may be excluded from the dataset.</a:t>
            </a:r>
            <a:endParaRPr sz="1000" dirty="0">
              <a:solidFill>
                <a:schemeClr val="tx1"/>
              </a:solidFill>
            </a:endParaRPr>
          </a:p>
        </p:txBody>
      </p:sp>
      <p:sp>
        <p:nvSpPr>
          <p:cNvPr id="39" name="Google Shape;39;p10"/>
          <p:cNvSpPr txBox="1"/>
          <p:nvPr/>
        </p:nvSpPr>
        <p:spPr>
          <a:xfrm>
            <a:off x="418125" y="2852863"/>
            <a:ext cx="2085900" cy="341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1600" b="1">
                <a:solidFill>
                  <a:schemeClr val="tx1"/>
                </a:solidFill>
              </a:rPr>
              <a:t>Motivation</a:t>
            </a:r>
            <a:endParaRPr sz="1600" b="1" i="0" u="none" strike="noStrike" cap="none">
              <a:solidFill>
                <a:schemeClr val="tx1"/>
              </a:solidFill>
            </a:endParaRPr>
          </a:p>
        </p:txBody>
      </p:sp>
      <p:sp>
        <p:nvSpPr>
          <p:cNvPr id="40" name="Google Shape;40;p10"/>
          <p:cNvSpPr txBox="1">
            <a:spLocks noGrp="1"/>
          </p:cNvSpPr>
          <p:nvPr>
            <p:ph type="body" idx="1"/>
          </p:nvPr>
        </p:nvSpPr>
        <p:spPr>
          <a:xfrm>
            <a:off x="418125" y="3393075"/>
            <a:ext cx="2731500" cy="3489000"/>
          </a:xfrm>
          <a:prstGeom prst="rect">
            <a:avLst/>
          </a:prstGeom>
          <a:noFill/>
          <a:ln>
            <a:noFill/>
          </a:ln>
        </p:spPr>
        <p:txBody>
          <a:bodyPr spcFirstLastPara="1" wrap="square" lIns="91425" tIns="0" rIns="91425" bIns="91425" anchor="t" anchorCtr="0">
            <a:noAutofit/>
          </a:bodyPr>
          <a:lstStyle/>
          <a:p>
            <a:pPr marL="0" lvl="0" indent="0" algn="l" rtl="0">
              <a:lnSpc>
                <a:spcPct val="115000"/>
              </a:lnSpc>
              <a:spcBef>
                <a:spcPts val="600"/>
              </a:spcBef>
              <a:spcAft>
                <a:spcPts val="0"/>
              </a:spcAft>
              <a:buSzPts val="1100"/>
              <a:buNone/>
            </a:pPr>
            <a:r>
              <a:rPr lang="en" sz="1200" b="1" dirty="0">
                <a:solidFill>
                  <a:schemeClr val="tx1"/>
                </a:solidFill>
              </a:rPr>
              <a:t>Problem: </a:t>
            </a:r>
            <a:r>
              <a:rPr lang="en" sz="1000" dirty="0">
                <a:solidFill>
                  <a:schemeClr val="tx1"/>
                </a:solidFill>
              </a:rPr>
              <a:t>Before including insider activity in active investment management, we aim to assess whether insider buying activity can be systematically leveraged to generate excess returns over the broader market. This evaluation will inform us on whether these transactions contain actionable signals that justify further model development. </a:t>
            </a:r>
            <a:endParaRPr sz="1000" dirty="0">
              <a:solidFill>
                <a:schemeClr val="tx1"/>
              </a:solidFill>
            </a:endParaRPr>
          </a:p>
          <a:p>
            <a:pPr marL="0" lvl="0" indent="0" algn="l" rtl="0">
              <a:lnSpc>
                <a:spcPct val="115000"/>
              </a:lnSpc>
              <a:spcBef>
                <a:spcPts val="1200"/>
              </a:spcBef>
              <a:spcAft>
                <a:spcPts val="0"/>
              </a:spcAft>
              <a:buClr>
                <a:schemeClr val="dk1"/>
              </a:buClr>
              <a:buSzPts val="1100"/>
              <a:buFont typeface="Arial"/>
              <a:buNone/>
            </a:pPr>
            <a:r>
              <a:rPr lang="en" sz="1200" b="1" dirty="0">
                <a:solidFill>
                  <a:schemeClr val="tx1"/>
                </a:solidFill>
              </a:rPr>
              <a:t>Approach: </a:t>
            </a:r>
            <a:r>
              <a:rPr lang="en" sz="1000" dirty="0">
                <a:solidFill>
                  <a:schemeClr val="tx1"/>
                </a:solidFill>
              </a:rPr>
              <a:t>We use historical Form 4 filings from 2006 through Q1 2025. For each open-market insider purchase, we calculate the stock’s return over the subsequent six months and compare it to the return of the SPY ETF over the same period to find excess returns</a:t>
            </a:r>
            <a:endParaRPr sz="1000" dirty="0">
              <a:solidFill>
                <a:schemeClr val="tx1"/>
              </a:solidFill>
            </a:endParaRPr>
          </a:p>
        </p:txBody>
      </p:sp>
      <p:sp>
        <p:nvSpPr>
          <p:cNvPr id="41" name="Google Shape;41;p10"/>
          <p:cNvSpPr/>
          <p:nvPr/>
        </p:nvSpPr>
        <p:spPr>
          <a:xfrm>
            <a:off x="506503" y="3194263"/>
            <a:ext cx="2396700" cy="28800"/>
          </a:xfrm>
          <a:prstGeom prst="rect">
            <a:avLst/>
          </a:prstGeom>
          <a:solidFill>
            <a:schemeClr val="tx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10"/>
          <p:cNvSpPr txBox="1"/>
          <p:nvPr/>
        </p:nvSpPr>
        <p:spPr>
          <a:xfrm>
            <a:off x="526975" y="944510"/>
            <a:ext cx="4694100" cy="300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1" dirty="0">
                <a:solidFill>
                  <a:schemeClr val="accent1"/>
                </a:solidFill>
              </a:rPr>
              <a:t>Thomas MacPherson, Kirtland Corregan, Rami Abushamalah</a:t>
            </a:r>
            <a:endParaRPr sz="1200" b="1" i="1" u="none" strike="noStrike" cap="none" dirty="0">
              <a:solidFill>
                <a:schemeClr val="accent1"/>
              </a:solidFill>
              <a:latin typeface="Arial"/>
              <a:ea typeface="Arial"/>
              <a:cs typeface="Arial"/>
              <a:sym typeface="Arial"/>
            </a:endParaRPr>
          </a:p>
        </p:txBody>
      </p:sp>
      <p:sp>
        <p:nvSpPr>
          <p:cNvPr id="43" name="Google Shape;43;p10"/>
          <p:cNvSpPr txBox="1"/>
          <p:nvPr/>
        </p:nvSpPr>
        <p:spPr>
          <a:xfrm>
            <a:off x="3301425" y="2852863"/>
            <a:ext cx="2085900" cy="341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1600" b="1" dirty="0">
                <a:solidFill>
                  <a:schemeClr val="tx1"/>
                </a:solidFill>
              </a:rPr>
              <a:t>Data Sources</a:t>
            </a:r>
            <a:endParaRPr sz="1600" b="1" i="0" u="none" strike="noStrike" cap="none" dirty="0">
              <a:solidFill>
                <a:schemeClr val="tx1"/>
              </a:solidFill>
            </a:endParaRPr>
          </a:p>
        </p:txBody>
      </p:sp>
      <p:sp>
        <p:nvSpPr>
          <p:cNvPr id="44" name="Google Shape;44;p10"/>
          <p:cNvSpPr txBox="1">
            <a:spLocks noGrp="1"/>
          </p:cNvSpPr>
          <p:nvPr>
            <p:ph type="body" idx="1"/>
          </p:nvPr>
        </p:nvSpPr>
        <p:spPr>
          <a:xfrm>
            <a:off x="3301425" y="3393075"/>
            <a:ext cx="2560800" cy="3489000"/>
          </a:xfrm>
          <a:prstGeom prst="rect">
            <a:avLst/>
          </a:prstGeom>
          <a:noFill/>
          <a:ln>
            <a:noFill/>
          </a:ln>
        </p:spPr>
        <p:txBody>
          <a:bodyPr spcFirstLastPara="1" wrap="square" lIns="91425" tIns="0" rIns="91425" bIns="91425" anchor="t" anchorCtr="0">
            <a:noAutofit/>
          </a:bodyPr>
          <a:lstStyle/>
          <a:p>
            <a:pPr marL="0" lvl="0" indent="0" algn="l" rtl="0">
              <a:lnSpc>
                <a:spcPct val="115000"/>
              </a:lnSpc>
              <a:spcBef>
                <a:spcPts val="600"/>
              </a:spcBef>
              <a:spcAft>
                <a:spcPts val="0"/>
              </a:spcAft>
              <a:buSzPts val="1100"/>
              <a:buNone/>
            </a:pPr>
            <a:r>
              <a:rPr lang="en" sz="1200" b="1">
                <a:solidFill>
                  <a:schemeClr val="tx1"/>
                </a:solidFill>
              </a:rPr>
              <a:t>Source 1: </a:t>
            </a:r>
            <a:r>
              <a:rPr lang="en" sz="1000">
                <a:solidFill>
                  <a:schemeClr val="tx1"/>
                </a:solidFill>
              </a:rPr>
              <a:t>Form 4 filings, available from the SEC website, provide essential details related to insider purchases and sales but do not include stock price performance around the transaction date. To test our hypothesis, we integrate this data with external market data from public sources.</a:t>
            </a:r>
            <a:endParaRPr sz="1000">
              <a:solidFill>
                <a:schemeClr val="tx1"/>
              </a:solidFill>
            </a:endParaRPr>
          </a:p>
          <a:p>
            <a:pPr marL="0" lvl="0" indent="0" algn="l" rtl="0">
              <a:lnSpc>
                <a:spcPct val="115000"/>
              </a:lnSpc>
              <a:spcBef>
                <a:spcPts val="1200"/>
              </a:spcBef>
              <a:spcAft>
                <a:spcPts val="0"/>
              </a:spcAft>
              <a:buClr>
                <a:schemeClr val="dk1"/>
              </a:buClr>
              <a:buSzPts val="1100"/>
              <a:buFont typeface="Arial"/>
              <a:buNone/>
            </a:pPr>
            <a:r>
              <a:rPr lang="en" sz="1200" b="1">
                <a:solidFill>
                  <a:schemeClr val="tx1"/>
                </a:solidFill>
              </a:rPr>
              <a:t>Source 2:</a:t>
            </a:r>
            <a:r>
              <a:rPr lang="en" sz="1000" b="1">
                <a:solidFill>
                  <a:schemeClr val="tx1"/>
                </a:solidFill>
              </a:rPr>
              <a:t> </a:t>
            </a:r>
            <a:r>
              <a:rPr lang="en" sz="1000">
                <a:solidFill>
                  <a:schemeClr val="tx1"/>
                </a:solidFill>
              </a:rPr>
              <a:t> We use the open-source Yahoo! Finance API (yfinance) to retrieve stock price data and company information surrounding each insider transaction. We also include the SPY ETF price data as a benchmark for the S&amp;P 500 broader market performance.</a:t>
            </a:r>
            <a:endParaRPr sz="1200" b="1">
              <a:solidFill>
                <a:schemeClr val="tx1"/>
              </a:solidFill>
            </a:endParaRPr>
          </a:p>
        </p:txBody>
      </p:sp>
      <p:sp>
        <p:nvSpPr>
          <p:cNvPr id="45" name="Google Shape;45;p10"/>
          <p:cNvSpPr/>
          <p:nvPr/>
        </p:nvSpPr>
        <p:spPr>
          <a:xfrm>
            <a:off x="3389803" y="3194263"/>
            <a:ext cx="2396700" cy="28800"/>
          </a:xfrm>
          <a:prstGeom prst="rect">
            <a:avLst/>
          </a:prstGeom>
          <a:solidFill>
            <a:schemeClr val="tx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 name="Google Shape;46;p10"/>
          <p:cNvSpPr txBox="1"/>
          <p:nvPr/>
        </p:nvSpPr>
        <p:spPr>
          <a:xfrm>
            <a:off x="6184725" y="2852863"/>
            <a:ext cx="2085900" cy="341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1600" b="1">
                <a:solidFill>
                  <a:schemeClr val="tx1"/>
                </a:solidFill>
              </a:rPr>
              <a:t>Data Manipulation</a:t>
            </a:r>
            <a:endParaRPr sz="1600" b="1" i="0" u="none" strike="noStrike" cap="none">
              <a:solidFill>
                <a:schemeClr val="tx1"/>
              </a:solidFill>
            </a:endParaRPr>
          </a:p>
        </p:txBody>
      </p:sp>
      <p:sp>
        <p:nvSpPr>
          <p:cNvPr id="47" name="Google Shape;47;p10"/>
          <p:cNvSpPr txBox="1">
            <a:spLocks noGrp="1"/>
          </p:cNvSpPr>
          <p:nvPr>
            <p:ph type="body" idx="1"/>
          </p:nvPr>
        </p:nvSpPr>
        <p:spPr>
          <a:xfrm>
            <a:off x="6184725" y="3393075"/>
            <a:ext cx="2731500" cy="3489000"/>
          </a:xfrm>
          <a:prstGeom prst="rect">
            <a:avLst/>
          </a:prstGeom>
          <a:noFill/>
          <a:ln>
            <a:noFill/>
          </a:ln>
        </p:spPr>
        <p:txBody>
          <a:bodyPr spcFirstLastPara="1" wrap="square" lIns="91425" tIns="0" rIns="91425" bIns="91425" anchor="t" anchorCtr="0">
            <a:noAutofit/>
          </a:bodyPr>
          <a:lstStyle/>
          <a:p>
            <a:pPr marL="0" lvl="0" indent="0" algn="l" rtl="0">
              <a:lnSpc>
                <a:spcPct val="115000"/>
              </a:lnSpc>
              <a:spcBef>
                <a:spcPts val="600"/>
              </a:spcBef>
              <a:spcAft>
                <a:spcPts val="0"/>
              </a:spcAft>
              <a:buSzPts val="1100"/>
              <a:buNone/>
            </a:pPr>
            <a:r>
              <a:rPr lang="en" sz="1200" b="1" dirty="0">
                <a:solidFill>
                  <a:schemeClr val="tx1"/>
                </a:solidFill>
              </a:rPr>
              <a:t>Manipulation:</a:t>
            </a:r>
            <a:r>
              <a:rPr lang="en" sz="1000" dirty="0">
                <a:solidFill>
                  <a:schemeClr val="tx1"/>
                </a:solidFill>
              </a:rPr>
              <a:t> Complex datasets pose several unique challenges. Insider roles and title formats vary widely, transaction and report dates often do not align, and stock prices may contain errors. We applied standard data science techniques such as regular expressions, grouping, filtering, formatting, removing, and replacing to clean and standardize our dataset. </a:t>
            </a:r>
            <a:endParaRPr sz="1000" dirty="0">
              <a:solidFill>
                <a:schemeClr val="tx1"/>
              </a:solidFill>
            </a:endParaRPr>
          </a:p>
          <a:p>
            <a:pPr marL="0" lvl="0" indent="0" algn="l" rtl="0">
              <a:lnSpc>
                <a:spcPct val="115000"/>
              </a:lnSpc>
              <a:spcBef>
                <a:spcPts val="1200"/>
              </a:spcBef>
              <a:spcAft>
                <a:spcPts val="0"/>
              </a:spcAft>
              <a:buClr>
                <a:schemeClr val="dk1"/>
              </a:buClr>
              <a:buSzPts val="1100"/>
              <a:buFont typeface="Arial"/>
              <a:buNone/>
            </a:pPr>
            <a:r>
              <a:rPr lang="en" sz="1200" b="1" dirty="0">
                <a:solidFill>
                  <a:schemeClr val="tx1"/>
                </a:solidFill>
              </a:rPr>
              <a:t>Exploration: </a:t>
            </a:r>
            <a:r>
              <a:rPr lang="en" sz="1000" dirty="0">
                <a:solidFill>
                  <a:schemeClr val="tx1"/>
                </a:solidFill>
              </a:rPr>
              <a:t>Assessing the quality and accuracy of our information was vital to draw conclusions. Our goal was to derive and present one meaningful insight from our large dataset.</a:t>
            </a:r>
            <a:endParaRPr sz="1000" dirty="0">
              <a:solidFill>
                <a:schemeClr val="tx1"/>
              </a:solidFill>
            </a:endParaRPr>
          </a:p>
          <a:p>
            <a:pPr marL="0" lvl="0" indent="0" algn="l" rtl="0">
              <a:lnSpc>
                <a:spcPct val="115000"/>
              </a:lnSpc>
              <a:spcBef>
                <a:spcPts val="1200"/>
              </a:spcBef>
              <a:spcAft>
                <a:spcPts val="0"/>
              </a:spcAft>
              <a:buClr>
                <a:schemeClr val="dk1"/>
              </a:buClr>
              <a:buSzPts val="1100"/>
              <a:buFont typeface="Arial"/>
              <a:buNone/>
            </a:pPr>
            <a:endParaRPr sz="1200" b="1" dirty="0">
              <a:solidFill>
                <a:schemeClr val="tx1"/>
              </a:solidFill>
            </a:endParaRPr>
          </a:p>
        </p:txBody>
      </p:sp>
      <p:sp>
        <p:nvSpPr>
          <p:cNvPr id="48" name="Google Shape;48;p10"/>
          <p:cNvSpPr/>
          <p:nvPr/>
        </p:nvSpPr>
        <p:spPr>
          <a:xfrm>
            <a:off x="6279927" y="3194263"/>
            <a:ext cx="2396700" cy="28800"/>
          </a:xfrm>
          <a:prstGeom prst="rect">
            <a:avLst/>
          </a:prstGeom>
          <a:solidFill>
            <a:schemeClr val="tx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 name="Google Shape;49;p10"/>
          <p:cNvSpPr txBox="1"/>
          <p:nvPr/>
        </p:nvSpPr>
        <p:spPr>
          <a:xfrm>
            <a:off x="9068025" y="2852863"/>
            <a:ext cx="2085900" cy="341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1600" b="1">
                <a:solidFill>
                  <a:schemeClr val="tx1"/>
                </a:solidFill>
              </a:rPr>
              <a:t>Analysis</a:t>
            </a:r>
            <a:endParaRPr sz="1600" b="1" i="0" u="none" strike="noStrike" cap="none">
              <a:solidFill>
                <a:schemeClr val="tx1"/>
              </a:solidFill>
            </a:endParaRPr>
          </a:p>
        </p:txBody>
      </p:sp>
      <p:sp>
        <p:nvSpPr>
          <p:cNvPr id="50" name="Google Shape;50;p10"/>
          <p:cNvSpPr txBox="1">
            <a:spLocks noGrp="1"/>
          </p:cNvSpPr>
          <p:nvPr>
            <p:ph type="body" idx="1"/>
          </p:nvPr>
        </p:nvSpPr>
        <p:spPr>
          <a:xfrm>
            <a:off x="9068025" y="3393075"/>
            <a:ext cx="2616600" cy="3489000"/>
          </a:xfrm>
          <a:prstGeom prst="rect">
            <a:avLst/>
          </a:prstGeom>
          <a:noFill/>
          <a:ln>
            <a:noFill/>
          </a:ln>
        </p:spPr>
        <p:txBody>
          <a:bodyPr spcFirstLastPara="1" wrap="square" lIns="91425" tIns="0" rIns="91425" bIns="91425" anchor="t" anchorCtr="0">
            <a:noAutofit/>
          </a:bodyPr>
          <a:lstStyle/>
          <a:p>
            <a:pPr marL="0" lvl="0" indent="0" algn="l" rtl="0">
              <a:lnSpc>
                <a:spcPct val="115000"/>
              </a:lnSpc>
              <a:spcBef>
                <a:spcPts val="600"/>
              </a:spcBef>
              <a:spcAft>
                <a:spcPts val="0"/>
              </a:spcAft>
              <a:buSzPts val="1100"/>
              <a:buNone/>
            </a:pPr>
            <a:r>
              <a:rPr lang="en" sz="1200" b="1" dirty="0">
                <a:solidFill>
                  <a:schemeClr val="tx1"/>
                </a:solidFill>
              </a:rPr>
              <a:t>Positions: </a:t>
            </a:r>
            <a:r>
              <a:rPr lang="en" sz="1000" dirty="0">
                <a:solidFill>
                  <a:schemeClr val="tx1"/>
                </a:solidFill>
              </a:rPr>
              <a:t>Our analysis confirmed that most insider trading activity resembles random noise. In fact, the median return following insider purchases underperformed the broader market. No insider position, including high-ranking financial roles like Chief Financial Officer, consistently outperformed others.</a:t>
            </a:r>
            <a:endParaRPr sz="1000" dirty="0">
              <a:solidFill>
                <a:schemeClr val="tx1"/>
              </a:solidFill>
            </a:endParaRPr>
          </a:p>
          <a:p>
            <a:pPr marL="0" lvl="0" indent="0" algn="l" rtl="0">
              <a:lnSpc>
                <a:spcPct val="115000"/>
              </a:lnSpc>
              <a:spcBef>
                <a:spcPts val="1200"/>
              </a:spcBef>
              <a:spcAft>
                <a:spcPts val="0"/>
              </a:spcAft>
              <a:buClr>
                <a:schemeClr val="dk1"/>
              </a:buClr>
              <a:buSzPts val="1100"/>
              <a:buFont typeface="Arial"/>
              <a:buNone/>
            </a:pPr>
            <a:r>
              <a:rPr lang="en" sz="1200" b="1" dirty="0">
                <a:solidFill>
                  <a:schemeClr val="tx1"/>
                </a:solidFill>
              </a:rPr>
              <a:t>Individuals: </a:t>
            </a:r>
            <a:r>
              <a:rPr lang="en" sz="1000" dirty="0">
                <a:solidFill>
                  <a:schemeClr val="tx1"/>
                </a:solidFill>
              </a:rPr>
              <a:t>However, a small subset of individual insiders generated significant alpha. We </a:t>
            </a:r>
            <a:r>
              <a:rPr lang="en" sz="1000">
                <a:solidFill>
                  <a:schemeClr val="tx1"/>
                </a:solidFill>
              </a:rPr>
              <a:t>identified 169 </a:t>
            </a:r>
            <a:r>
              <a:rPr lang="en" sz="1000" dirty="0">
                <a:solidFill>
                  <a:schemeClr val="tx1"/>
                </a:solidFill>
              </a:rPr>
              <a:t>“elite alpha insiders”, each with three or more purchases that produced raw six-month excess returns of 20% or more.</a:t>
            </a:r>
            <a:endParaRPr dirty="0">
              <a:solidFill>
                <a:schemeClr val="tx1"/>
              </a:solidFill>
            </a:endParaRPr>
          </a:p>
        </p:txBody>
      </p:sp>
      <p:sp>
        <p:nvSpPr>
          <p:cNvPr id="51" name="Google Shape;51;p10"/>
          <p:cNvSpPr/>
          <p:nvPr/>
        </p:nvSpPr>
        <p:spPr>
          <a:xfrm>
            <a:off x="9156403" y="3194274"/>
            <a:ext cx="2396700" cy="28800"/>
          </a:xfrm>
          <a:prstGeom prst="rect">
            <a:avLst/>
          </a:prstGeom>
          <a:solidFill>
            <a:schemeClr val="tx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52;p10"/>
          <p:cNvSpPr/>
          <p:nvPr/>
        </p:nvSpPr>
        <p:spPr>
          <a:xfrm rot="892442">
            <a:off x="6814749" y="-1453411"/>
            <a:ext cx="6593299" cy="2421717"/>
          </a:xfrm>
          <a:custGeom>
            <a:avLst/>
            <a:gdLst/>
            <a:ahLst/>
            <a:cxnLst/>
            <a:rect l="l" t="t" r="r" b="b"/>
            <a:pathLst>
              <a:path w="99433" h="78149" extrusionOk="0">
                <a:moveTo>
                  <a:pt x="84497" y="6088"/>
                </a:moveTo>
                <a:cubicBezTo>
                  <a:pt x="97179" y="15908"/>
                  <a:pt x="99313" y="49968"/>
                  <a:pt x="99431" y="61945"/>
                </a:cubicBezTo>
                <a:cubicBezTo>
                  <a:pt x="99550" y="73922"/>
                  <a:pt x="91312" y="76590"/>
                  <a:pt x="85208" y="77952"/>
                </a:cubicBezTo>
                <a:cubicBezTo>
                  <a:pt x="79104" y="79314"/>
                  <a:pt x="67963" y="73297"/>
                  <a:pt x="62807" y="70118"/>
                </a:cubicBezTo>
                <a:cubicBezTo>
                  <a:pt x="57651" y="66939"/>
                  <a:pt x="57593" y="61206"/>
                  <a:pt x="54274" y="58879"/>
                </a:cubicBezTo>
                <a:cubicBezTo>
                  <a:pt x="50956" y="56552"/>
                  <a:pt x="47041" y="55209"/>
                  <a:pt x="42896" y="56155"/>
                </a:cubicBezTo>
                <a:cubicBezTo>
                  <a:pt x="38751" y="57102"/>
                  <a:pt x="34441" y="63877"/>
                  <a:pt x="29404" y="64558"/>
                </a:cubicBezTo>
                <a:cubicBezTo>
                  <a:pt x="24367" y="65239"/>
                  <a:pt x="17537" y="67699"/>
                  <a:pt x="12673" y="60241"/>
                </a:cubicBezTo>
                <a:cubicBezTo>
                  <a:pt x="7809" y="52783"/>
                  <a:pt x="-1557" y="29347"/>
                  <a:pt x="221" y="19811"/>
                </a:cubicBezTo>
                <a:cubicBezTo>
                  <a:pt x="1999" y="10275"/>
                  <a:pt x="9293" y="5310"/>
                  <a:pt x="23339" y="3023"/>
                </a:cubicBezTo>
                <a:cubicBezTo>
                  <a:pt x="37385" y="736"/>
                  <a:pt x="71815" y="-3732"/>
                  <a:pt x="84497" y="6088"/>
                </a:cubicBezTo>
                <a:close/>
              </a:path>
            </a:pathLst>
          </a:custGeom>
          <a:solidFill>
            <a:schemeClr val="accent1"/>
          </a:solidFill>
          <a:ln w="9525" cap="flat" cmpd="sng">
            <a:noFill/>
            <a:prstDash val="solid"/>
            <a:round/>
            <a:headEnd type="none" w="med" len="med"/>
            <a:tailEnd type="none" w="med" len="med"/>
          </a:ln>
        </p:spPr>
        <p:txBody>
          <a:bodyPr/>
          <a:lstStyle/>
          <a:p>
            <a:endParaRPr lang="en-US"/>
          </a:p>
        </p:txBody>
      </p:sp>
      <p:sp>
        <p:nvSpPr>
          <p:cNvPr id="59" name="Google Shape;59;p10"/>
          <p:cNvSpPr txBox="1"/>
          <p:nvPr/>
        </p:nvSpPr>
        <p:spPr>
          <a:xfrm>
            <a:off x="11773475" y="6502122"/>
            <a:ext cx="261600" cy="295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dirty="0">
                <a:solidFill>
                  <a:schemeClr val="tx1"/>
                </a:solidFill>
                <a:latin typeface="Arial"/>
                <a:ea typeface="Arial"/>
                <a:cs typeface="Arial"/>
                <a:sym typeface="Arial"/>
              </a:rPr>
              <a:t>1</a:t>
            </a:r>
            <a:endParaRPr sz="1200" b="1" i="0" u="none" strike="noStrike" cap="none" dirty="0">
              <a:solidFill>
                <a:schemeClr val="tx1"/>
              </a:solidFill>
              <a:latin typeface="Arial"/>
              <a:ea typeface="Arial"/>
              <a:cs typeface="Arial"/>
              <a:sym typeface="Arial"/>
            </a:endParaRPr>
          </a:p>
        </p:txBody>
      </p:sp>
      <p:sp>
        <p:nvSpPr>
          <p:cNvPr id="60" name="Google Shape;60;p10"/>
          <p:cNvSpPr txBox="1"/>
          <p:nvPr/>
        </p:nvSpPr>
        <p:spPr>
          <a:xfrm>
            <a:off x="11103953" y="-217453"/>
            <a:ext cx="914400" cy="1292631"/>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200" b="1" dirty="0">
                <a:solidFill>
                  <a:schemeClr val="accent1">
                    <a:lumMod val="60000"/>
                    <a:lumOff val="40000"/>
                  </a:schemeClr>
                </a:solidFill>
              </a:rPr>
              <a:t>α</a:t>
            </a:r>
            <a:endParaRPr sz="7200" b="1" dirty="0">
              <a:solidFill>
                <a:schemeClr val="accent1">
                  <a:lumMod val="60000"/>
                  <a:lumOff val="4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4"/>
        <p:cNvGrpSpPr/>
        <p:nvPr/>
      </p:nvGrpSpPr>
      <p:grpSpPr>
        <a:xfrm>
          <a:off x="0" y="0"/>
          <a:ext cx="0" cy="0"/>
          <a:chOff x="0" y="0"/>
          <a:chExt cx="0" cy="0"/>
        </a:xfrm>
      </p:grpSpPr>
      <p:sp>
        <p:nvSpPr>
          <p:cNvPr id="65" name="Google Shape;65;p3"/>
          <p:cNvSpPr/>
          <p:nvPr/>
        </p:nvSpPr>
        <p:spPr>
          <a:xfrm>
            <a:off x="8076350" y="1329349"/>
            <a:ext cx="3461100" cy="2247903"/>
          </a:xfrm>
          <a:prstGeom prst="roundRect">
            <a:avLst>
              <a:gd name="adj" fmla="val 4753"/>
            </a:avLst>
          </a:prstGeom>
          <a:solidFill>
            <a:schemeClr val="accent1">
              <a:lumMod val="20000"/>
              <a:lumOff val="80000"/>
            </a:schemeClr>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6" name="Google Shape;66;p3"/>
          <p:cNvSpPr/>
          <p:nvPr/>
        </p:nvSpPr>
        <p:spPr>
          <a:xfrm>
            <a:off x="9646250" y="256574"/>
            <a:ext cx="1957500" cy="436800"/>
          </a:xfrm>
          <a:prstGeom prst="chevron">
            <a:avLst>
              <a:gd name="adj" fmla="val 50000"/>
            </a:avLst>
          </a:prstGeom>
          <a:solidFill>
            <a:schemeClr val="accent1">
              <a:lumMod val="20000"/>
              <a:lumOff val="80000"/>
            </a:schemeClr>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7" name="Google Shape;67;p3"/>
          <p:cNvSpPr/>
          <p:nvPr/>
        </p:nvSpPr>
        <p:spPr>
          <a:xfrm>
            <a:off x="9314154" y="256574"/>
            <a:ext cx="1957500" cy="436800"/>
          </a:xfrm>
          <a:prstGeom prst="chevron">
            <a:avLst>
              <a:gd name="adj" fmla="val 50000"/>
            </a:avLst>
          </a:prstGeom>
          <a:solidFill>
            <a:schemeClr val="accent1">
              <a:lumMod val="20000"/>
              <a:lumOff val="80000"/>
            </a:schemeClr>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8" name="Google Shape;68;p3"/>
          <p:cNvSpPr/>
          <p:nvPr/>
        </p:nvSpPr>
        <p:spPr>
          <a:xfrm>
            <a:off x="8946802" y="256574"/>
            <a:ext cx="1957500" cy="436800"/>
          </a:xfrm>
          <a:prstGeom prst="chevron">
            <a:avLst>
              <a:gd name="adj" fmla="val 50000"/>
            </a:avLst>
          </a:prstGeom>
          <a:solidFill>
            <a:schemeClr val="accent1">
              <a:lumMod val="20000"/>
              <a:lumOff val="80000"/>
            </a:schemeClr>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69" name="Google Shape;69;p3"/>
          <p:cNvGrpSpPr/>
          <p:nvPr/>
        </p:nvGrpSpPr>
        <p:grpSpPr>
          <a:xfrm>
            <a:off x="553132" y="3287587"/>
            <a:ext cx="5226190" cy="2876689"/>
            <a:chOff x="408643" y="3889999"/>
            <a:chExt cx="5012653" cy="2759148"/>
          </a:xfrm>
        </p:grpSpPr>
        <p:pic>
          <p:nvPicPr>
            <p:cNvPr id="70" name="Google Shape;70;p3"/>
            <p:cNvPicPr preferRelativeResize="0"/>
            <p:nvPr/>
          </p:nvPicPr>
          <p:blipFill>
            <a:blip r:embed="rId3">
              <a:alphaModFix/>
            </a:blip>
            <a:stretch>
              <a:fillRect/>
            </a:stretch>
          </p:blipFill>
          <p:spPr>
            <a:xfrm>
              <a:off x="408643" y="3889999"/>
              <a:ext cx="3363900" cy="2515464"/>
            </a:xfrm>
            <a:prstGeom prst="rect">
              <a:avLst/>
            </a:prstGeom>
            <a:noFill/>
            <a:ln>
              <a:noFill/>
            </a:ln>
          </p:spPr>
        </p:pic>
        <p:cxnSp>
          <p:nvCxnSpPr>
            <p:cNvPr id="71" name="Google Shape;71;p3"/>
            <p:cNvCxnSpPr/>
            <p:nvPr/>
          </p:nvCxnSpPr>
          <p:spPr>
            <a:xfrm flipH="1">
              <a:off x="2901425" y="4790575"/>
              <a:ext cx="8700" cy="714300"/>
            </a:xfrm>
            <a:prstGeom prst="straightConnector1">
              <a:avLst/>
            </a:prstGeom>
            <a:noFill/>
            <a:ln w="9525" cap="flat" cmpd="sng">
              <a:solidFill>
                <a:schemeClr val="dk2"/>
              </a:solidFill>
              <a:prstDash val="dash"/>
              <a:round/>
              <a:headEnd type="none" w="med" len="med"/>
              <a:tailEnd type="none" w="med" len="med"/>
            </a:ln>
          </p:spPr>
        </p:cxnSp>
        <p:sp>
          <p:nvSpPr>
            <p:cNvPr id="72" name="Google Shape;72;p3"/>
            <p:cNvSpPr txBox="1"/>
            <p:nvPr/>
          </p:nvSpPr>
          <p:spPr>
            <a:xfrm>
              <a:off x="464996" y="6353947"/>
              <a:ext cx="4956300" cy="295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dirty="0">
                  <a:solidFill>
                    <a:schemeClr val="tx1">
                      <a:lumMod val="90000"/>
                      <a:lumOff val="10000"/>
                    </a:schemeClr>
                  </a:solidFill>
                </a:rPr>
                <a:t>Figure 1 - </a:t>
              </a:r>
              <a:r>
                <a:rPr lang="en" sz="800" dirty="0">
                  <a:solidFill>
                    <a:schemeClr val="tx1">
                      <a:lumMod val="90000"/>
                      <a:lumOff val="10000"/>
                    </a:schemeClr>
                  </a:solidFill>
                </a:rPr>
                <a:t>Hypothetical example of alpha </a:t>
              </a:r>
              <a:endParaRPr sz="800" dirty="0">
                <a:solidFill>
                  <a:schemeClr val="tx1">
                    <a:lumMod val="90000"/>
                    <a:lumOff val="10000"/>
                  </a:schemeClr>
                </a:solidFill>
              </a:endParaRPr>
            </a:p>
          </p:txBody>
        </p:sp>
      </p:grpSp>
      <p:sp>
        <p:nvSpPr>
          <p:cNvPr id="73" name="Google Shape;73;p3"/>
          <p:cNvSpPr txBox="1">
            <a:spLocks noGrp="1"/>
          </p:cNvSpPr>
          <p:nvPr>
            <p:ph type="body" idx="1"/>
          </p:nvPr>
        </p:nvSpPr>
        <p:spPr>
          <a:xfrm>
            <a:off x="586050" y="1244135"/>
            <a:ext cx="3595200" cy="1658100"/>
          </a:xfrm>
          <a:prstGeom prst="rect">
            <a:avLst/>
          </a:prstGeom>
          <a:noFill/>
          <a:ln>
            <a:noFill/>
          </a:ln>
        </p:spPr>
        <p:txBody>
          <a:bodyPr spcFirstLastPara="1" wrap="square" lIns="91425" tIns="0" rIns="91425" bIns="91425" anchor="t" anchorCtr="0">
            <a:noAutofit/>
          </a:bodyPr>
          <a:lstStyle/>
          <a:p>
            <a:pPr marL="0" lvl="0" indent="0" algn="l" rtl="0">
              <a:lnSpc>
                <a:spcPct val="115000"/>
              </a:lnSpc>
              <a:spcBef>
                <a:spcPts val="600"/>
              </a:spcBef>
              <a:spcAft>
                <a:spcPts val="0"/>
              </a:spcAft>
              <a:buSzPts val="1100"/>
              <a:buNone/>
            </a:pPr>
            <a:r>
              <a:rPr lang="en" sz="1200" b="1" dirty="0">
                <a:solidFill>
                  <a:schemeClr val="tx1"/>
                </a:solidFill>
              </a:rPr>
              <a:t>Background</a:t>
            </a:r>
            <a:endParaRPr sz="1200" b="1" dirty="0">
              <a:solidFill>
                <a:schemeClr val="tx1"/>
              </a:solidFill>
            </a:endParaRPr>
          </a:p>
          <a:p>
            <a:pPr marL="0" lvl="0" indent="0" algn="l" rtl="0">
              <a:spcBef>
                <a:spcPts val="1200"/>
              </a:spcBef>
              <a:spcAft>
                <a:spcPts val="0"/>
              </a:spcAft>
              <a:buClr>
                <a:schemeClr val="dk1"/>
              </a:buClr>
              <a:buSzPts val="1100"/>
              <a:buFont typeface="Arial"/>
              <a:buNone/>
            </a:pPr>
            <a:r>
              <a:rPr lang="en" sz="1000" dirty="0">
                <a:solidFill>
                  <a:schemeClr val="tx1"/>
                </a:solidFill>
              </a:rPr>
              <a:t>The goal of active investment management is to generate returns that exceed a chosen market benchmark on a risk-adjusted basis, commonly referred to as “generating alpha” </a:t>
            </a:r>
            <a:r>
              <a:rPr lang="en" sz="1000" b="1" dirty="0">
                <a:solidFill>
                  <a:schemeClr val="tx1"/>
                </a:solidFill>
              </a:rPr>
              <a:t>(Fig. 1)</a:t>
            </a:r>
            <a:r>
              <a:rPr lang="en" sz="1000" dirty="0">
                <a:solidFill>
                  <a:schemeClr val="tx1"/>
                </a:solidFill>
              </a:rPr>
              <a:t>. Investors often measure success by comparing their returns against a broad market index like the S&amp;P 500, which tracks a diversified portfolio of 500 large-cap U.S. companies. </a:t>
            </a:r>
            <a:endParaRPr sz="1000" dirty="0">
              <a:solidFill>
                <a:schemeClr val="tx1"/>
              </a:solidFill>
            </a:endParaRPr>
          </a:p>
          <a:p>
            <a:pPr marL="0" lvl="0" indent="0" algn="l" rtl="0">
              <a:spcBef>
                <a:spcPts val="1200"/>
              </a:spcBef>
              <a:spcAft>
                <a:spcPts val="0"/>
              </a:spcAft>
              <a:buClr>
                <a:schemeClr val="dk1"/>
              </a:buClr>
              <a:buSzPts val="1100"/>
              <a:buFont typeface="Arial"/>
              <a:buNone/>
            </a:pPr>
            <a:endParaRPr dirty="0">
              <a:solidFill>
                <a:schemeClr val="tx1"/>
              </a:solidFill>
            </a:endParaRPr>
          </a:p>
          <a:p>
            <a:pPr marL="0" lvl="0" indent="0" algn="l" rtl="0">
              <a:spcBef>
                <a:spcPts val="1200"/>
              </a:spcBef>
              <a:spcAft>
                <a:spcPts val="0"/>
              </a:spcAft>
              <a:buClr>
                <a:schemeClr val="dk1"/>
              </a:buClr>
              <a:buSzPts val="1100"/>
              <a:buFont typeface="Arial"/>
              <a:buNone/>
            </a:pPr>
            <a:endParaRPr dirty="0">
              <a:solidFill>
                <a:schemeClr val="tx1"/>
              </a:solidFill>
            </a:endParaRPr>
          </a:p>
          <a:p>
            <a:pPr marL="0" lvl="0" indent="0" algn="l" rtl="0">
              <a:lnSpc>
                <a:spcPct val="115000"/>
              </a:lnSpc>
              <a:spcBef>
                <a:spcPts val="1200"/>
              </a:spcBef>
              <a:spcAft>
                <a:spcPts val="0"/>
              </a:spcAft>
              <a:buSzPts val="1100"/>
              <a:buNone/>
            </a:pPr>
            <a:endParaRPr dirty="0">
              <a:solidFill>
                <a:schemeClr val="tx1"/>
              </a:solidFill>
            </a:endParaRPr>
          </a:p>
          <a:p>
            <a:pPr marL="0" lvl="0" indent="0" algn="l" rtl="0">
              <a:lnSpc>
                <a:spcPct val="115000"/>
              </a:lnSpc>
              <a:spcBef>
                <a:spcPts val="1200"/>
              </a:spcBef>
              <a:spcAft>
                <a:spcPts val="600"/>
              </a:spcAft>
              <a:buSzPts val="1100"/>
              <a:buNone/>
            </a:pPr>
            <a:endParaRPr dirty="0">
              <a:solidFill>
                <a:schemeClr val="tx1"/>
              </a:solidFill>
            </a:endParaRPr>
          </a:p>
        </p:txBody>
      </p:sp>
      <p:sp>
        <p:nvSpPr>
          <p:cNvPr id="74" name="Google Shape;74;p3"/>
          <p:cNvSpPr txBox="1">
            <a:spLocks noGrp="1"/>
          </p:cNvSpPr>
          <p:nvPr>
            <p:ph type="body" idx="2"/>
          </p:nvPr>
        </p:nvSpPr>
        <p:spPr>
          <a:xfrm>
            <a:off x="8171425" y="1451127"/>
            <a:ext cx="3287100" cy="2158200"/>
          </a:xfrm>
          <a:prstGeom prst="rect">
            <a:avLst/>
          </a:prstGeom>
          <a:noFill/>
          <a:ln>
            <a:noFill/>
          </a:ln>
        </p:spPr>
        <p:txBody>
          <a:bodyPr spcFirstLastPara="1" wrap="square" lIns="91425" tIns="0" rIns="91425" bIns="91425" anchor="t" anchorCtr="0">
            <a:noAutofit/>
          </a:bodyPr>
          <a:lstStyle/>
          <a:p>
            <a:pPr marL="0" lvl="0" indent="0" algn="l" rtl="0">
              <a:spcBef>
                <a:spcPts val="600"/>
              </a:spcBef>
              <a:spcAft>
                <a:spcPts val="0"/>
              </a:spcAft>
              <a:buClr>
                <a:schemeClr val="dk1"/>
              </a:buClr>
              <a:buSzPts val="1100"/>
              <a:buFont typeface="Arial"/>
              <a:buNone/>
            </a:pPr>
            <a:r>
              <a:rPr lang="en" sz="1200" b="1" dirty="0">
                <a:solidFill>
                  <a:schemeClr val="bg2"/>
                </a:solidFill>
              </a:rPr>
              <a:t>Hypothesis</a:t>
            </a:r>
            <a:endParaRPr dirty="0">
              <a:solidFill>
                <a:schemeClr val="bg2"/>
              </a:solidFill>
            </a:endParaRPr>
          </a:p>
          <a:p>
            <a:pPr marL="0" lvl="0" indent="0" algn="l" rtl="0">
              <a:spcBef>
                <a:spcPts val="1200"/>
              </a:spcBef>
              <a:spcAft>
                <a:spcPts val="0"/>
              </a:spcAft>
              <a:buClr>
                <a:schemeClr val="dk1"/>
              </a:buClr>
              <a:buSzPts val="1100"/>
              <a:buFont typeface="Arial"/>
              <a:buNone/>
            </a:pPr>
            <a:r>
              <a:rPr lang="en" dirty="0">
                <a:solidFill>
                  <a:schemeClr val="bg2"/>
                </a:solidFill>
              </a:rPr>
              <a:t>We propose that most insider purchases, while suggestive of insider optimism, will not consistently outperform the market. However, </a:t>
            </a:r>
            <a:r>
              <a:rPr lang="en" b="1" dirty="0">
                <a:solidFill>
                  <a:schemeClr val="bg2"/>
                </a:solidFill>
              </a:rPr>
              <a:t>we hypothesize that a small subset of insiders, with deeper insight and good timing, will generate significant alpha, defined as returns at least 20% higher than the market over the following six months.</a:t>
            </a:r>
            <a:endParaRPr sz="1200" dirty="0">
              <a:solidFill>
                <a:schemeClr val="bg2"/>
              </a:solidFill>
            </a:endParaRPr>
          </a:p>
          <a:p>
            <a:pPr marL="0" lvl="0" indent="0" algn="l" rtl="0">
              <a:lnSpc>
                <a:spcPct val="115000"/>
              </a:lnSpc>
              <a:spcBef>
                <a:spcPts val="1200"/>
              </a:spcBef>
              <a:spcAft>
                <a:spcPts val="0"/>
              </a:spcAft>
              <a:buClr>
                <a:schemeClr val="dk1"/>
              </a:buClr>
              <a:buSzPts val="1100"/>
              <a:buFont typeface="Arial"/>
              <a:buNone/>
            </a:pPr>
            <a:r>
              <a:rPr lang="en" dirty="0">
                <a:solidFill>
                  <a:schemeClr val="bg2"/>
                </a:solidFill>
              </a:rPr>
              <a:t> </a:t>
            </a:r>
            <a:endParaRPr dirty="0">
              <a:solidFill>
                <a:schemeClr val="bg2"/>
              </a:solidFill>
            </a:endParaRPr>
          </a:p>
          <a:p>
            <a:pPr marL="0" lvl="0" indent="0" algn="l" rtl="0">
              <a:lnSpc>
                <a:spcPct val="115000"/>
              </a:lnSpc>
              <a:spcBef>
                <a:spcPts val="1200"/>
              </a:spcBef>
              <a:spcAft>
                <a:spcPts val="0"/>
              </a:spcAft>
              <a:buClr>
                <a:schemeClr val="dk1"/>
              </a:buClr>
              <a:buSzPts val="1100"/>
              <a:buFont typeface="Arial"/>
              <a:buNone/>
            </a:pPr>
            <a:endParaRPr dirty="0">
              <a:solidFill>
                <a:schemeClr val="bg2"/>
              </a:solidFill>
            </a:endParaRPr>
          </a:p>
          <a:p>
            <a:pPr marL="0" lvl="0" indent="0" algn="l" rtl="0">
              <a:lnSpc>
                <a:spcPct val="115000"/>
              </a:lnSpc>
              <a:spcBef>
                <a:spcPts val="600"/>
              </a:spcBef>
              <a:spcAft>
                <a:spcPts val="2100"/>
              </a:spcAft>
              <a:buSzPts val="1100"/>
              <a:buNone/>
            </a:pPr>
            <a:endParaRPr b="1" dirty="0">
              <a:solidFill>
                <a:schemeClr val="bg2"/>
              </a:solidFill>
            </a:endParaRPr>
          </a:p>
        </p:txBody>
      </p:sp>
      <p:sp>
        <p:nvSpPr>
          <p:cNvPr id="75" name="Google Shape;75;p3"/>
          <p:cNvSpPr txBox="1">
            <a:spLocks noGrp="1"/>
          </p:cNvSpPr>
          <p:nvPr>
            <p:ph type="title"/>
          </p:nvPr>
        </p:nvSpPr>
        <p:spPr>
          <a:xfrm>
            <a:off x="433650" y="374677"/>
            <a:ext cx="3202200" cy="512700"/>
          </a:xfrm>
          <a:prstGeom prst="rect">
            <a:avLst/>
          </a:prstGeom>
          <a:noFill/>
          <a:ln>
            <a:noFill/>
          </a:ln>
        </p:spPr>
        <p:txBody>
          <a:bodyPr spcFirstLastPara="1" wrap="square" lIns="121875" tIns="121875" rIns="121875" bIns="121875" anchor="t" anchorCtr="0">
            <a:noAutofit/>
          </a:bodyPr>
          <a:lstStyle/>
          <a:p>
            <a:pPr marL="0" lvl="0" indent="0" algn="l" rtl="0">
              <a:lnSpc>
                <a:spcPct val="100000"/>
              </a:lnSpc>
              <a:spcBef>
                <a:spcPts val="0"/>
              </a:spcBef>
              <a:spcAft>
                <a:spcPts val="0"/>
              </a:spcAft>
              <a:buSzPts val="3700"/>
              <a:buNone/>
            </a:pPr>
            <a:r>
              <a:rPr lang="en" sz="2400" dirty="0">
                <a:solidFill>
                  <a:schemeClr val="tx1"/>
                </a:solidFill>
              </a:rPr>
              <a:t>Motivation</a:t>
            </a:r>
            <a:endParaRPr sz="2400" dirty="0">
              <a:solidFill>
                <a:schemeClr val="tx1"/>
              </a:solidFill>
            </a:endParaRPr>
          </a:p>
        </p:txBody>
      </p:sp>
      <p:sp>
        <p:nvSpPr>
          <p:cNvPr id="76" name="Google Shape;76;p3"/>
          <p:cNvSpPr txBox="1"/>
          <p:nvPr/>
        </p:nvSpPr>
        <p:spPr>
          <a:xfrm>
            <a:off x="-84050" y="-938500"/>
            <a:ext cx="2423400" cy="630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2"/>
              </a:solidFill>
              <a:latin typeface="Arial"/>
              <a:ea typeface="Arial"/>
              <a:cs typeface="Arial"/>
              <a:sym typeface="Arial"/>
            </a:endParaRPr>
          </a:p>
        </p:txBody>
      </p:sp>
      <p:sp>
        <p:nvSpPr>
          <p:cNvPr id="77" name="Google Shape;77;p3"/>
          <p:cNvSpPr txBox="1"/>
          <p:nvPr/>
        </p:nvSpPr>
        <p:spPr>
          <a:xfrm>
            <a:off x="11773475" y="6502122"/>
            <a:ext cx="261600" cy="295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a:solidFill>
                  <a:schemeClr val="dk1"/>
                </a:solidFill>
              </a:rPr>
              <a:t>2</a:t>
            </a:r>
            <a:endParaRPr sz="1200" b="1" i="0" u="none" strike="noStrike" cap="none">
              <a:solidFill>
                <a:schemeClr val="dk1"/>
              </a:solidFill>
              <a:latin typeface="Arial"/>
              <a:ea typeface="Arial"/>
              <a:cs typeface="Arial"/>
              <a:sym typeface="Arial"/>
            </a:endParaRPr>
          </a:p>
        </p:txBody>
      </p:sp>
      <p:sp>
        <p:nvSpPr>
          <p:cNvPr id="78" name="Google Shape;78;p3"/>
          <p:cNvSpPr txBox="1">
            <a:spLocks noGrp="1"/>
          </p:cNvSpPr>
          <p:nvPr>
            <p:ph type="body" idx="1"/>
          </p:nvPr>
        </p:nvSpPr>
        <p:spPr>
          <a:xfrm>
            <a:off x="4302050" y="1244135"/>
            <a:ext cx="3461100" cy="4986300"/>
          </a:xfrm>
          <a:prstGeom prst="rect">
            <a:avLst/>
          </a:prstGeom>
          <a:noFill/>
          <a:ln>
            <a:noFill/>
          </a:ln>
        </p:spPr>
        <p:txBody>
          <a:bodyPr spcFirstLastPara="1" wrap="square" lIns="91425" tIns="0" rIns="91425" bIns="91425" anchor="t" anchorCtr="0">
            <a:noAutofit/>
          </a:bodyPr>
          <a:lstStyle/>
          <a:p>
            <a:pPr marL="0" lvl="0" indent="0" algn="l" rtl="0">
              <a:spcBef>
                <a:spcPts val="1200"/>
              </a:spcBef>
              <a:spcAft>
                <a:spcPts val="0"/>
              </a:spcAft>
              <a:buSzPts val="1100"/>
              <a:buNone/>
            </a:pPr>
            <a:r>
              <a:rPr lang="en" sz="1000" dirty="0">
                <a:solidFill>
                  <a:schemeClr val="tx1"/>
                </a:solidFill>
              </a:rPr>
              <a:t>Insider trading, in the legal sense, refers to open-market purchases or sales of a company’s stock by individuals who are likely to have privileged insight into the company’s future performance. These insiders include but are not limited to, CEOs, CFOs, board members, and major shareholders. While trading based on confidential, nonpublic information is illegal, the U.S. Securities and Exchange Commission (SEC) requires all legal insider trades to be disclosed publicly within two business days via Form 4 filings.</a:t>
            </a:r>
            <a:endParaRPr sz="1000" dirty="0">
              <a:solidFill>
                <a:schemeClr val="tx1"/>
              </a:solidFill>
            </a:endParaRPr>
          </a:p>
          <a:p>
            <a:pPr marL="0" lvl="0" indent="0" algn="l" rtl="0">
              <a:spcBef>
                <a:spcPts val="1200"/>
              </a:spcBef>
              <a:spcAft>
                <a:spcPts val="0"/>
              </a:spcAft>
              <a:buSzPts val="1100"/>
              <a:buNone/>
            </a:pPr>
            <a:endParaRPr sz="500" dirty="0">
              <a:solidFill>
                <a:schemeClr val="tx1"/>
              </a:solidFill>
            </a:endParaRPr>
          </a:p>
          <a:p>
            <a:pPr marL="0" lvl="0" indent="0" algn="l" rtl="0">
              <a:spcBef>
                <a:spcPts val="1200"/>
              </a:spcBef>
              <a:spcAft>
                <a:spcPts val="0"/>
              </a:spcAft>
              <a:buSzPts val="1100"/>
              <a:buNone/>
            </a:pPr>
            <a:endParaRPr sz="500" b="1" dirty="0">
              <a:solidFill>
                <a:schemeClr val="tx1"/>
              </a:solidFill>
            </a:endParaRPr>
          </a:p>
          <a:p>
            <a:pPr marL="0" lvl="0" indent="0" algn="l" rtl="0">
              <a:spcBef>
                <a:spcPts val="1200"/>
              </a:spcBef>
              <a:spcAft>
                <a:spcPts val="0"/>
              </a:spcAft>
              <a:buSzPts val="1100"/>
              <a:buNone/>
            </a:pPr>
            <a:endParaRPr sz="500" b="1" dirty="0">
              <a:solidFill>
                <a:schemeClr val="tx1"/>
              </a:solidFill>
            </a:endParaRPr>
          </a:p>
          <a:p>
            <a:pPr marL="0" lvl="0" indent="0" algn="l" rtl="0">
              <a:spcBef>
                <a:spcPts val="1200"/>
              </a:spcBef>
              <a:spcAft>
                <a:spcPts val="0"/>
              </a:spcAft>
              <a:buSzPts val="1100"/>
              <a:buNone/>
            </a:pPr>
            <a:endParaRPr sz="1000" b="1" dirty="0">
              <a:solidFill>
                <a:schemeClr val="tx1"/>
              </a:solidFill>
            </a:endParaRPr>
          </a:p>
          <a:p>
            <a:pPr marL="0" lvl="0" indent="0" algn="l" rtl="0">
              <a:lnSpc>
                <a:spcPct val="115000"/>
              </a:lnSpc>
              <a:spcBef>
                <a:spcPts val="1200"/>
              </a:spcBef>
              <a:spcAft>
                <a:spcPts val="600"/>
              </a:spcAft>
              <a:buSzPts val="1100"/>
              <a:buNone/>
            </a:pPr>
            <a:r>
              <a:rPr lang="en" sz="1000" b="1" dirty="0">
                <a:solidFill>
                  <a:schemeClr val="tx1"/>
                </a:solidFill>
              </a:rPr>
              <a:t>This study focuses solely on insider purchases, which are more likely to reflect confidence in the company’s future.</a:t>
            </a:r>
            <a:r>
              <a:rPr lang="en" sz="1000" dirty="0">
                <a:solidFill>
                  <a:schemeClr val="tx1"/>
                </a:solidFill>
              </a:rPr>
              <a:t> By contrast, insider sales may be driven by personal reasons unrelated to company fundamentals (eg. paying taxes or purchasing a new house). To assess performance, we compare insider-driven stock returns to those of the SPY ETF, a widely used fund that mirrors the S&amp;P 500. We evaluate performance over the six months following each insider purchase.</a:t>
            </a:r>
            <a:endParaRPr sz="1000" dirty="0">
              <a:solidFill>
                <a:schemeClr val="tx1"/>
              </a:solidFill>
            </a:endParaRPr>
          </a:p>
        </p:txBody>
      </p:sp>
      <p:sp>
        <p:nvSpPr>
          <p:cNvPr id="81" name="Google Shape;81;p3"/>
          <p:cNvSpPr/>
          <p:nvPr/>
        </p:nvSpPr>
        <p:spPr>
          <a:xfrm>
            <a:off x="8579450" y="256574"/>
            <a:ext cx="1957500" cy="436800"/>
          </a:xfrm>
          <a:prstGeom prst="chevron">
            <a:avLst>
              <a:gd name="adj" fmla="val 50000"/>
            </a:avLst>
          </a:prstGeom>
          <a:solidFill>
            <a:schemeClr val="accent1">
              <a:lumMod val="20000"/>
              <a:lumOff val="80000"/>
            </a:schemeClr>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2" name="Google Shape;82;p3"/>
          <p:cNvSpPr/>
          <p:nvPr/>
        </p:nvSpPr>
        <p:spPr>
          <a:xfrm>
            <a:off x="8087025" y="242375"/>
            <a:ext cx="2109900" cy="470700"/>
          </a:xfrm>
          <a:prstGeom prst="chevron">
            <a:avLst>
              <a:gd name="adj" fmla="val 50000"/>
            </a:avLst>
          </a:prstGeom>
          <a:solidFill>
            <a:schemeClr val="accent1"/>
          </a:solidFill>
          <a:ln w="19050"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chemeClr val="tx1"/>
                </a:solidFill>
              </a:rPr>
              <a:t>Motivation</a:t>
            </a:r>
            <a:endParaRPr b="1" dirty="0">
              <a:solidFill>
                <a:schemeClr val="tx1"/>
              </a:solidFill>
            </a:endParaRPr>
          </a:p>
        </p:txBody>
      </p:sp>
      <p:sp>
        <p:nvSpPr>
          <p:cNvPr id="83" name="Google Shape;83;p3"/>
          <p:cNvSpPr txBox="1">
            <a:spLocks noGrp="1"/>
          </p:cNvSpPr>
          <p:nvPr>
            <p:ph type="body" idx="2"/>
          </p:nvPr>
        </p:nvSpPr>
        <p:spPr>
          <a:xfrm>
            <a:off x="8076350" y="3994807"/>
            <a:ext cx="3595200" cy="1824300"/>
          </a:xfrm>
          <a:prstGeom prst="rect">
            <a:avLst/>
          </a:prstGeom>
          <a:noFill/>
          <a:ln>
            <a:noFill/>
          </a:ln>
        </p:spPr>
        <p:txBody>
          <a:bodyPr spcFirstLastPara="1" wrap="square" lIns="91425" tIns="0" rIns="91425" bIns="91425" anchor="t" anchorCtr="0">
            <a:noAutofit/>
          </a:bodyPr>
          <a:lstStyle/>
          <a:p>
            <a:pPr marL="0" lvl="0" indent="0" algn="l" rtl="0">
              <a:spcBef>
                <a:spcPts val="600"/>
              </a:spcBef>
              <a:spcAft>
                <a:spcPts val="0"/>
              </a:spcAft>
              <a:buClr>
                <a:schemeClr val="dk1"/>
              </a:buClr>
              <a:buSzPts val="1100"/>
              <a:buFont typeface="Arial"/>
              <a:buNone/>
            </a:pPr>
            <a:r>
              <a:rPr lang="en" sz="1200" b="1" dirty="0">
                <a:solidFill>
                  <a:schemeClr val="tx1"/>
                </a:solidFill>
              </a:rPr>
              <a:t>Caveats</a:t>
            </a:r>
            <a:endParaRPr dirty="0">
              <a:solidFill>
                <a:schemeClr val="tx1"/>
              </a:solidFill>
            </a:endParaRPr>
          </a:p>
          <a:p>
            <a:pPr marL="0" lvl="0" indent="0" algn="l" rtl="0">
              <a:spcBef>
                <a:spcPts val="1200"/>
              </a:spcBef>
              <a:spcAft>
                <a:spcPts val="0"/>
              </a:spcAft>
              <a:buClr>
                <a:schemeClr val="dk1"/>
              </a:buClr>
              <a:buSzPts val="1100"/>
              <a:buFont typeface="Arial"/>
              <a:buNone/>
            </a:pPr>
            <a:r>
              <a:rPr lang="en" sz="1000" dirty="0">
                <a:solidFill>
                  <a:schemeClr val="tx1"/>
                </a:solidFill>
              </a:rPr>
              <a:t>While our finalized dataset is large, spanning thousands of companies and over 100,000 insider transactions, it does not represent the entire universe of insider activity. One important limitation is survivorship bias because our analysis only includes companies that remain publicly traded today. Firms that failed were delisted from the exchange and are excluded (eg. during the 2008 financial crisis). This may skew results toward more successful companies and overstate average performance.</a:t>
            </a:r>
            <a:endParaRPr sz="1000" dirty="0">
              <a:solidFill>
                <a:schemeClr val="tx1"/>
              </a:solidFill>
            </a:endParaRPr>
          </a:p>
          <a:p>
            <a:pPr marL="0" lvl="0" indent="0" algn="l" rtl="0">
              <a:lnSpc>
                <a:spcPct val="115000"/>
              </a:lnSpc>
              <a:spcBef>
                <a:spcPts val="1200"/>
              </a:spcBef>
              <a:spcAft>
                <a:spcPts val="0"/>
              </a:spcAft>
              <a:buClr>
                <a:schemeClr val="dk1"/>
              </a:buClr>
              <a:buSzPts val="1100"/>
              <a:buFont typeface="Arial"/>
              <a:buNone/>
            </a:pPr>
            <a:endParaRPr dirty="0">
              <a:solidFill>
                <a:schemeClr val="tx1"/>
              </a:solidFill>
            </a:endParaRPr>
          </a:p>
          <a:p>
            <a:pPr marL="457200" lvl="0" indent="0" algn="l" rtl="0">
              <a:lnSpc>
                <a:spcPct val="115000"/>
              </a:lnSpc>
              <a:spcBef>
                <a:spcPts val="1200"/>
              </a:spcBef>
              <a:spcAft>
                <a:spcPts val="0"/>
              </a:spcAft>
              <a:buSzPts val="1100"/>
              <a:buNone/>
            </a:pPr>
            <a:endParaRPr dirty="0">
              <a:solidFill>
                <a:schemeClr val="tx1"/>
              </a:solidFill>
            </a:endParaRPr>
          </a:p>
          <a:p>
            <a:pPr marL="0" lvl="0" indent="0" algn="l" rtl="0">
              <a:lnSpc>
                <a:spcPct val="115000"/>
              </a:lnSpc>
              <a:spcBef>
                <a:spcPts val="1200"/>
              </a:spcBef>
              <a:spcAft>
                <a:spcPts val="0"/>
              </a:spcAft>
              <a:buClr>
                <a:schemeClr val="dk1"/>
              </a:buClr>
              <a:buSzPts val="1100"/>
              <a:buFont typeface="Arial"/>
              <a:buNone/>
            </a:pPr>
            <a:r>
              <a:rPr lang="en" dirty="0">
                <a:solidFill>
                  <a:schemeClr val="tx1"/>
                </a:solidFill>
              </a:rPr>
              <a:t> </a:t>
            </a:r>
            <a:endParaRPr dirty="0">
              <a:solidFill>
                <a:schemeClr val="tx1"/>
              </a:solidFill>
            </a:endParaRPr>
          </a:p>
          <a:p>
            <a:pPr marL="0" lvl="0" indent="0" algn="l" rtl="0">
              <a:lnSpc>
                <a:spcPct val="115000"/>
              </a:lnSpc>
              <a:spcBef>
                <a:spcPts val="1200"/>
              </a:spcBef>
              <a:spcAft>
                <a:spcPts val="0"/>
              </a:spcAft>
              <a:buClr>
                <a:schemeClr val="dk1"/>
              </a:buClr>
              <a:buSzPts val="1100"/>
              <a:buFont typeface="Arial"/>
              <a:buNone/>
            </a:pPr>
            <a:endParaRPr dirty="0">
              <a:solidFill>
                <a:schemeClr val="tx1"/>
              </a:solidFill>
            </a:endParaRPr>
          </a:p>
          <a:p>
            <a:pPr marL="0" lvl="0" indent="0" algn="l" rtl="0">
              <a:lnSpc>
                <a:spcPct val="115000"/>
              </a:lnSpc>
              <a:spcBef>
                <a:spcPts val="600"/>
              </a:spcBef>
              <a:spcAft>
                <a:spcPts val="2100"/>
              </a:spcAft>
              <a:buSzPts val="1100"/>
              <a:buNone/>
            </a:pPr>
            <a:endParaRPr b="1" dirty="0">
              <a:solidFill>
                <a:schemeClr val="tx1"/>
              </a:solidFill>
            </a:endParaRPr>
          </a:p>
        </p:txBody>
      </p:sp>
      <p:sp>
        <p:nvSpPr>
          <p:cNvPr id="85" name="Google Shape;85;p3"/>
          <p:cNvSpPr txBox="1"/>
          <p:nvPr/>
        </p:nvSpPr>
        <p:spPr>
          <a:xfrm>
            <a:off x="4261075" y="3150082"/>
            <a:ext cx="3287100" cy="1182601"/>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1200"/>
              </a:spcAft>
              <a:buClr>
                <a:schemeClr val="dk1"/>
              </a:buClr>
              <a:buSzPts val="1100"/>
              <a:buFont typeface="Arial"/>
              <a:buNone/>
            </a:pPr>
            <a:r>
              <a:rPr lang="en" sz="1300" b="1" dirty="0">
                <a:solidFill>
                  <a:schemeClr val="bg2"/>
                </a:solidFill>
              </a:rPr>
              <a:t>“Can Insider activity help predict which stocks will outperform the broader market?”</a:t>
            </a:r>
            <a:endParaRPr sz="1300" b="1" dirty="0">
              <a:solidFill>
                <a:schemeClr val="bg2"/>
              </a:solidFill>
            </a:endParaRPr>
          </a:p>
        </p:txBody>
      </p:sp>
      <p:pic>
        <p:nvPicPr>
          <p:cNvPr id="5" name="Graphic 4" descr="Thought with solid fill">
            <a:extLst>
              <a:ext uri="{FF2B5EF4-FFF2-40B4-BE49-F238E27FC236}">
                <a16:creationId xmlns:a16="http://schemas.microsoft.com/office/drawing/2014/main" id="{9DE0979A-9BFD-46A0-ACEC-7EA533C1853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110475" y="1433788"/>
            <a:ext cx="358722" cy="358722"/>
          </a:xfrm>
          <a:prstGeom prst="rect">
            <a:avLst/>
          </a:prstGeom>
        </p:spPr>
      </p:pic>
      <p:sp>
        <p:nvSpPr>
          <p:cNvPr id="2" name="Rectangle 1">
            <a:extLst>
              <a:ext uri="{FF2B5EF4-FFF2-40B4-BE49-F238E27FC236}">
                <a16:creationId xmlns:a16="http://schemas.microsoft.com/office/drawing/2014/main" id="{2796B4B3-DF5A-D43E-2039-4B31EC6A9571}"/>
              </a:ext>
            </a:extLst>
          </p:cNvPr>
          <p:cNvSpPr/>
          <p:nvPr/>
        </p:nvSpPr>
        <p:spPr>
          <a:xfrm rot="10800000" flipV="1">
            <a:off x="-1" y="946962"/>
            <a:ext cx="9068025" cy="45719"/>
          </a:xfrm>
          <a:prstGeom prst="rect">
            <a:avLst/>
          </a:prstGeom>
          <a:gradFill>
            <a:gsLst>
              <a:gs pos="100000">
                <a:srgbClr val="14232E"/>
              </a:gs>
              <a:gs pos="0">
                <a:schemeClr val="tx2">
                  <a:lumMod val="20000"/>
                  <a:lumOff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EDDD899-07CC-7BE1-D17C-FCBBA3BE087B}"/>
              </a:ext>
            </a:extLst>
          </p:cNvPr>
          <p:cNvSpPr/>
          <p:nvPr/>
        </p:nvSpPr>
        <p:spPr>
          <a:xfrm>
            <a:off x="3410275" y="6456178"/>
            <a:ext cx="8781725" cy="45719"/>
          </a:xfrm>
          <a:prstGeom prst="rect">
            <a:avLst/>
          </a:prstGeom>
          <a:gradFill>
            <a:gsLst>
              <a:gs pos="100000">
                <a:srgbClr val="9E7316"/>
              </a:gs>
              <a:gs pos="0">
                <a:schemeClr val="tx2">
                  <a:lumMod val="20000"/>
                  <a:lumOff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9"/>
        <p:cNvGrpSpPr/>
        <p:nvPr/>
      </p:nvGrpSpPr>
      <p:grpSpPr>
        <a:xfrm>
          <a:off x="0" y="0"/>
          <a:ext cx="0" cy="0"/>
          <a:chOff x="0" y="0"/>
          <a:chExt cx="0" cy="0"/>
        </a:xfrm>
      </p:grpSpPr>
      <p:pic>
        <p:nvPicPr>
          <p:cNvPr id="90" name="Google Shape;90;g3607a03d555_0_0" title="Capture.PNG"/>
          <p:cNvPicPr preferRelativeResize="0"/>
          <p:nvPr/>
        </p:nvPicPr>
        <p:blipFill>
          <a:blip r:embed="rId3">
            <a:alphaModFix/>
          </a:blip>
          <a:stretch>
            <a:fillRect/>
          </a:stretch>
        </p:blipFill>
        <p:spPr>
          <a:xfrm>
            <a:off x="1006688" y="3913761"/>
            <a:ext cx="3960824" cy="1397925"/>
          </a:xfrm>
          <a:prstGeom prst="rect">
            <a:avLst/>
          </a:prstGeom>
          <a:noFill/>
          <a:ln>
            <a:noFill/>
          </a:ln>
        </p:spPr>
      </p:pic>
      <p:sp>
        <p:nvSpPr>
          <p:cNvPr id="112" name="Google Shape;112;g3607a03d555_0_0"/>
          <p:cNvSpPr/>
          <p:nvPr/>
        </p:nvSpPr>
        <p:spPr>
          <a:xfrm>
            <a:off x="2107326" y="4298450"/>
            <a:ext cx="50100" cy="51900"/>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3" name="Google Shape;113;g3607a03d555_0_0"/>
          <p:cNvSpPr txBox="1"/>
          <p:nvPr/>
        </p:nvSpPr>
        <p:spPr>
          <a:xfrm>
            <a:off x="2093064" y="4255066"/>
            <a:ext cx="45900" cy="6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00" dirty="0">
                <a:solidFill>
                  <a:srgbClr val="666666"/>
                </a:solidFill>
              </a:rPr>
              <a:t>7</a:t>
            </a:r>
            <a:endParaRPr sz="500" dirty="0">
              <a:solidFill>
                <a:srgbClr val="666666"/>
              </a:solidFill>
            </a:endParaRPr>
          </a:p>
        </p:txBody>
      </p:sp>
      <p:sp>
        <p:nvSpPr>
          <p:cNvPr id="103" name="Google Shape;103;g3607a03d555_0_0"/>
          <p:cNvSpPr txBox="1">
            <a:spLocks noGrp="1"/>
          </p:cNvSpPr>
          <p:nvPr>
            <p:ph type="body" idx="1"/>
          </p:nvPr>
        </p:nvSpPr>
        <p:spPr>
          <a:xfrm>
            <a:off x="549350" y="3542857"/>
            <a:ext cx="5300400" cy="1891800"/>
          </a:xfrm>
          <a:prstGeom prst="rect">
            <a:avLst/>
          </a:prstGeom>
          <a:noFill/>
          <a:ln>
            <a:noFill/>
          </a:ln>
        </p:spPr>
        <p:txBody>
          <a:bodyPr spcFirstLastPara="1" wrap="square" lIns="91425" tIns="0" rIns="91425" bIns="91425" anchor="t" anchorCtr="0">
            <a:noAutofit/>
          </a:bodyPr>
          <a:lstStyle/>
          <a:p>
            <a:pPr marL="0" lvl="0" indent="0" algn="l" rtl="0">
              <a:lnSpc>
                <a:spcPct val="115000"/>
              </a:lnSpc>
              <a:spcBef>
                <a:spcPts val="600"/>
              </a:spcBef>
              <a:spcAft>
                <a:spcPts val="0"/>
              </a:spcAft>
              <a:buSzPts val="1100"/>
              <a:buNone/>
            </a:pPr>
            <a:r>
              <a:rPr lang="en" sz="1200" b="1" dirty="0">
                <a:solidFill>
                  <a:schemeClr val="tx1"/>
                </a:solidFill>
              </a:rPr>
              <a:t>Data Acquisition Pipeline</a:t>
            </a:r>
            <a:endParaRPr sz="1200" b="1" dirty="0">
              <a:solidFill>
                <a:schemeClr val="tx1"/>
              </a:solidFill>
            </a:endParaRPr>
          </a:p>
          <a:p>
            <a:pPr marL="0" lvl="0" indent="0" algn="l" rtl="0">
              <a:lnSpc>
                <a:spcPct val="115000"/>
              </a:lnSpc>
              <a:spcBef>
                <a:spcPts val="1200"/>
              </a:spcBef>
              <a:spcAft>
                <a:spcPts val="0"/>
              </a:spcAft>
              <a:buClr>
                <a:schemeClr val="dk1"/>
              </a:buClr>
              <a:buSzPts val="1100"/>
              <a:buFont typeface="Arial"/>
              <a:buNone/>
            </a:pPr>
            <a:endParaRPr dirty="0">
              <a:solidFill>
                <a:schemeClr val="tx1"/>
              </a:solidFill>
            </a:endParaRPr>
          </a:p>
        </p:txBody>
      </p:sp>
      <p:sp>
        <p:nvSpPr>
          <p:cNvPr id="91" name="Google Shape;91;g3607a03d555_0_0"/>
          <p:cNvSpPr/>
          <p:nvPr/>
        </p:nvSpPr>
        <p:spPr>
          <a:xfrm>
            <a:off x="9646250" y="256574"/>
            <a:ext cx="1957500" cy="436800"/>
          </a:xfrm>
          <a:prstGeom prst="chevron">
            <a:avLst>
              <a:gd name="adj" fmla="val 50000"/>
            </a:avLst>
          </a:prstGeom>
          <a:solidFill>
            <a:schemeClr val="accent1">
              <a:lumMod val="20000"/>
              <a:lumOff val="80000"/>
            </a:schemeClr>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2" name="Google Shape;92;g3607a03d555_0_0"/>
          <p:cNvSpPr/>
          <p:nvPr/>
        </p:nvSpPr>
        <p:spPr>
          <a:xfrm>
            <a:off x="9300506" y="256574"/>
            <a:ext cx="1957500" cy="436800"/>
          </a:xfrm>
          <a:prstGeom prst="chevron">
            <a:avLst>
              <a:gd name="adj" fmla="val 50000"/>
            </a:avLst>
          </a:prstGeom>
          <a:solidFill>
            <a:schemeClr val="accent1">
              <a:lumMod val="20000"/>
              <a:lumOff val="80000"/>
            </a:schemeClr>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3" name="Google Shape;93;g3607a03d555_0_0"/>
          <p:cNvSpPr/>
          <p:nvPr/>
        </p:nvSpPr>
        <p:spPr>
          <a:xfrm>
            <a:off x="8933154" y="256574"/>
            <a:ext cx="1957500" cy="436800"/>
          </a:xfrm>
          <a:prstGeom prst="chevron">
            <a:avLst>
              <a:gd name="adj" fmla="val 50000"/>
            </a:avLst>
          </a:prstGeom>
          <a:solidFill>
            <a:schemeClr val="accent1">
              <a:lumMod val="20000"/>
              <a:lumOff val="80000"/>
            </a:schemeClr>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4" name="Google Shape;94;g3607a03d555_0_0"/>
          <p:cNvSpPr/>
          <p:nvPr/>
        </p:nvSpPr>
        <p:spPr>
          <a:xfrm>
            <a:off x="8046050" y="256574"/>
            <a:ext cx="1957500" cy="436800"/>
          </a:xfrm>
          <a:prstGeom prst="chevron">
            <a:avLst>
              <a:gd name="adj" fmla="val 50000"/>
            </a:avLst>
          </a:prstGeom>
          <a:solidFill>
            <a:schemeClr val="accent1">
              <a:lumMod val="20000"/>
              <a:lumOff val="80000"/>
            </a:schemeClr>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5" name="Google Shape;95;g3607a03d555_0_0"/>
          <p:cNvSpPr/>
          <p:nvPr/>
        </p:nvSpPr>
        <p:spPr>
          <a:xfrm>
            <a:off x="8391825" y="242375"/>
            <a:ext cx="2109900" cy="470700"/>
          </a:xfrm>
          <a:prstGeom prst="chevron">
            <a:avLst>
              <a:gd name="adj" fmla="val 50000"/>
            </a:avLst>
          </a:prstGeom>
          <a:solidFill>
            <a:schemeClr val="accent1"/>
          </a:solidFill>
          <a:ln w="19050"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chemeClr val="tx1"/>
                </a:solidFill>
              </a:rPr>
              <a:t>Data Sources</a:t>
            </a:r>
            <a:endParaRPr b="1" dirty="0">
              <a:solidFill>
                <a:schemeClr val="tx1"/>
              </a:solidFill>
            </a:endParaRPr>
          </a:p>
        </p:txBody>
      </p:sp>
      <p:sp>
        <p:nvSpPr>
          <p:cNvPr id="96" name="Google Shape;96;g3607a03d555_0_0"/>
          <p:cNvSpPr txBox="1">
            <a:spLocks noGrp="1"/>
          </p:cNvSpPr>
          <p:nvPr>
            <p:ph type="body" idx="1"/>
          </p:nvPr>
        </p:nvSpPr>
        <p:spPr>
          <a:xfrm>
            <a:off x="455100" y="1099757"/>
            <a:ext cx="5053800" cy="1891800"/>
          </a:xfrm>
          <a:prstGeom prst="rect">
            <a:avLst/>
          </a:prstGeom>
          <a:noFill/>
          <a:ln>
            <a:noFill/>
          </a:ln>
        </p:spPr>
        <p:txBody>
          <a:bodyPr spcFirstLastPara="1" wrap="square" lIns="91425" tIns="0" rIns="91425" bIns="91425" anchor="t" anchorCtr="0">
            <a:noAutofit/>
          </a:bodyPr>
          <a:lstStyle/>
          <a:p>
            <a:pPr marL="0" lvl="0" indent="0" algn="l" rtl="0">
              <a:lnSpc>
                <a:spcPct val="115000"/>
              </a:lnSpc>
              <a:spcBef>
                <a:spcPts val="600"/>
              </a:spcBef>
              <a:spcAft>
                <a:spcPts val="0"/>
              </a:spcAft>
              <a:buSzPts val="1100"/>
              <a:buNone/>
            </a:pPr>
            <a:r>
              <a:rPr lang="en" sz="1200" b="1" dirty="0">
                <a:solidFill>
                  <a:schemeClr val="tx1"/>
                </a:solidFill>
              </a:rPr>
              <a:t>Primary Dataset</a:t>
            </a:r>
            <a:endParaRPr sz="1200" b="1" dirty="0">
              <a:solidFill>
                <a:schemeClr val="tx1"/>
              </a:solidFill>
            </a:endParaRPr>
          </a:p>
          <a:p>
            <a:pPr marL="0" lvl="0" indent="0" algn="l" rtl="0">
              <a:lnSpc>
                <a:spcPct val="115000"/>
              </a:lnSpc>
              <a:spcBef>
                <a:spcPts val="1200"/>
              </a:spcBef>
              <a:spcAft>
                <a:spcPts val="0"/>
              </a:spcAft>
              <a:buClr>
                <a:schemeClr val="dk1"/>
              </a:buClr>
              <a:buSzPts val="1100"/>
              <a:buFont typeface="Arial"/>
              <a:buNone/>
            </a:pPr>
            <a:r>
              <a:rPr lang="en" sz="1000" dirty="0">
                <a:solidFill>
                  <a:schemeClr val="tx1"/>
                </a:solidFill>
              </a:rPr>
              <a:t>Our primary dataset consists of SEC Form 4 insider trading filings, sourced directly from the Securities and Exchange Commission's publicly available archive (</a:t>
            </a:r>
            <a:r>
              <a:rPr lang="en" sz="1000" u="sng" dirty="0">
                <a:solidFill>
                  <a:schemeClr val="accent1"/>
                </a:solidFill>
                <a:hlinkClick r:id="rId4">
                  <a:extLst>
                    <a:ext uri="{A12FA001-AC4F-418D-AE19-62706E023703}">
                      <ahyp:hlinkClr xmlns:ahyp="http://schemas.microsoft.com/office/drawing/2018/hyperlinkcolor" val="tx"/>
                    </a:ext>
                  </a:extLst>
                </a:hlinkClick>
              </a:rPr>
              <a:t>https://www.sec.gov/data-research/sec-markets-data/insider-transactions-data-sets</a:t>
            </a:r>
            <a:r>
              <a:rPr lang="en" sz="1000" dirty="0">
                <a:solidFill>
                  <a:schemeClr val="tx1"/>
                </a:solidFill>
              </a:rPr>
              <a:t>). This comprehensive dataset spans Q1 2006 through Q1 2025, capturing nearly two decades of insider trading activity across all U.S. public companies.</a:t>
            </a:r>
            <a:endParaRPr sz="1000" dirty="0">
              <a:solidFill>
                <a:schemeClr val="tx1"/>
              </a:solidFill>
            </a:endParaRPr>
          </a:p>
        </p:txBody>
      </p:sp>
      <p:sp>
        <p:nvSpPr>
          <p:cNvPr id="97" name="Google Shape;97;g3607a03d555_0_0"/>
          <p:cNvSpPr txBox="1"/>
          <p:nvPr/>
        </p:nvSpPr>
        <p:spPr>
          <a:xfrm>
            <a:off x="-84050" y="-938500"/>
            <a:ext cx="2423400" cy="630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2"/>
              </a:solidFill>
              <a:latin typeface="Arial"/>
              <a:ea typeface="Arial"/>
              <a:cs typeface="Arial"/>
              <a:sym typeface="Arial"/>
            </a:endParaRPr>
          </a:p>
        </p:txBody>
      </p:sp>
      <p:sp>
        <p:nvSpPr>
          <p:cNvPr id="98" name="Google Shape;98;g3607a03d555_0_0"/>
          <p:cNvSpPr txBox="1"/>
          <p:nvPr/>
        </p:nvSpPr>
        <p:spPr>
          <a:xfrm>
            <a:off x="11773475" y="6508946"/>
            <a:ext cx="261600" cy="295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dirty="0">
                <a:solidFill>
                  <a:schemeClr val="dk1"/>
                </a:solidFill>
              </a:rPr>
              <a:t>3</a:t>
            </a:r>
            <a:endParaRPr sz="1200" b="1" i="0" u="none" strike="noStrike" cap="none" dirty="0">
              <a:solidFill>
                <a:schemeClr val="dk1"/>
              </a:solidFill>
              <a:latin typeface="Arial"/>
              <a:ea typeface="Arial"/>
              <a:cs typeface="Arial"/>
              <a:sym typeface="Arial"/>
            </a:endParaRPr>
          </a:p>
        </p:txBody>
      </p:sp>
      <p:sp>
        <p:nvSpPr>
          <p:cNvPr id="99" name="Google Shape;99;g3607a03d555_0_0"/>
          <p:cNvSpPr txBox="1">
            <a:spLocks noGrp="1"/>
          </p:cNvSpPr>
          <p:nvPr>
            <p:ph type="body" idx="1"/>
          </p:nvPr>
        </p:nvSpPr>
        <p:spPr>
          <a:xfrm>
            <a:off x="6095150" y="2712330"/>
            <a:ext cx="5470500" cy="949800"/>
          </a:xfrm>
          <a:prstGeom prst="rect">
            <a:avLst/>
          </a:prstGeom>
          <a:noFill/>
          <a:ln>
            <a:noFill/>
          </a:ln>
        </p:spPr>
        <p:txBody>
          <a:bodyPr spcFirstLastPara="1" wrap="square" lIns="91425" tIns="0" rIns="91425" bIns="91425" anchor="t" anchorCtr="0">
            <a:noAutofit/>
          </a:bodyPr>
          <a:lstStyle/>
          <a:p>
            <a:pPr marL="0" lvl="0" indent="0" algn="l" rtl="0">
              <a:lnSpc>
                <a:spcPct val="115000"/>
              </a:lnSpc>
              <a:spcBef>
                <a:spcPts val="0"/>
              </a:spcBef>
              <a:spcAft>
                <a:spcPts val="0"/>
              </a:spcAft>
              <a:buSzPts val="1100"/>
              <a:buNone/>
            </a:pPr>
            <a:r>
              <a:rPr lang="en" sz="1000" dirty="0">
                <a:solidFill>
                  <a:schemeClr val="tx1"/>
                </a:solidFill>
              </a:rPr>
              <a:t>Our most innovative contribution is the regex-based entity filtering system. Using negative lookbehind and positive lookahead assertions, we accurately identify and remove 28+ types of investment entities (LLC, LP, Trust, Fund, etc.) while preserving legitimate individual insider transactions. This prevents false positives like 'PR</a:t>
            </a:r>
            <a:r>
              <a:rPr lang="en" sz="1000" dirty="0">
                <a:solidFill>
                  <a:schemeClr val="tx1"/>
                </a:solidFill>
                <a:highlight>
                  <a:srgbClr val="CCCCCC"/>
                </a:highlight>
              </a:rPr>
              <a:t>INC</a:t>
            </a:r>
            <a:r>
              <a:rPr lang="en" sz="1000" dirty="0">
                <a:solidFill>
                  <a:schemeClr val="tx1"/>
                </a:solidFill>
              </a:rPr>
              <a:t>ETON JOHN' being flagged as '</a:t>
            </a:r>
            <a:r>
              <a:rPr lang="en" sz="1000" dirty="0">
                <a:solidFill>
                  <a:schemeClr val="tx1"/>
                </a:solidFill>
                <a:highlight>
                  <a:srgbClr val="CCCCCC"/>
                </a:highlight>
              </a:rPr>
              <a:t>INC</a:t>
            </a:r>
            <a:r>
              <a:rPr lang="en" sz="1000" dirty="0">
                <a:solidFill>
                  <a:schemeClr val="tx1"/>
                </a:solidFill>
              </a:rPr>
              <a:t>' while correctly filtering investment entities like 'SMITH INVESTMENT LLC'."</a:t>
            </a:r>
            <a:endParaRPr sz="1000" dirty="0">
              <a:solidFill>
                <a:schemeClr val="tx1"/>
              </a:solidFill>
            </a:endParaRPr>
          </a:p>
          <a:p>
            <a:pPr marL="0" lvl="0" indent="0" algn="l" rtl="0">
              <a:lnSpc>
                <a:spcPct val="115000"/>
              </a:lnSpc>
              <a:spcBef>
                <a:spcPts val="1000"/>
              </a:spcBef>
              <a:spcAft>
                <a:spcPts val="1000"/>
              </a:spcAft>
              <a:buSzPts val="1100"/>
              <a:buNone/>
            </a:pPr>
            <a:endParaRPr sz="1000" dirty="0">
              <a:solidFill>
                <a:schemeClr val="tx1"/>
              </a:solidFill>
            </a:endParaRPr>
          </a:p>
        </p:txBody>
      </p:sp>
      <p:sp>
        <p:nvSpPr>
          <p:cNvPr id="102" name="Google Shape;102;g3607a03d555_0_0"/>
          <p:cNvSpPr txBox="1">
            <a:spLocks noGrp="1"/>
          </p:cNvSpPr>
          <p:nvPr>
            <p:ph type="title"/>
          </p:nvPr>
        </p:nvSpPr>
        <p:spPr>
          <a:xfrm>
            <a:off x="433650" y="388325"/>
            <a:ext cx="3202200" cy="512700"/>
          </a:xfrm>
          <a:prstGeom prst="rect">
            <a:avLst/>
          </a:prstGeom>
          <a:noFill/>
          <a:ln>
            <a:noFill/>
          </a:ln>
        </p:spPr>
        <p:txBody>
          <a:bodyPr spcFirstLastPara="1" wrap="square" lIns="121875" tIns="121875" rIns="121875" bIns="121875" anchor="t" anchorCtr="0">
            <a:noAutofit/>
          </a:bodyPr>
          <a:lstStyle/>
          <a:p>
            <a:pPr marL="0" lvl="0" indent="0" algn="l" rtl="0">
              <a:lnSpc>
                <a:spcPct val="100000"/>
              </a:lnSpc>
              <a:spcBef>
                <a:spcPts val="0"/>
              </a:spcBef>
              <a:spcAft>
                <a:spcPts val="0"/>
              </a:spcAft>
              <a:buSzPts val="3700"/>
              <a:buNone/>
            </a:pPr>
            <a:r>
              <a:rPr lang="en" sz="2400" dirty="0">
                <a:solidFill>
                  <a:schemeClr val="tx1"/>
                </a:solidFill>
              </a:rPr>
              <a:t>Data Sources</a:t>
            </a:r>
            <a:endParaRPr sz="2400" dirty="0">
              <a:solidFill>
                <a:schemeClr val="tx1"/>
              </a:solidFill>
            </a:endParaRPr>
          </a:p>
        </p:txBody>
      </p:sp>
      <p:sp>
        <p:nvSpPr>
          <p:cNvPr id="104" name="Google Shape;104;g3607a03d555_0_0"/>
          <p:cNvSpPr txBox="1">
            <a:spLocks noGrp="1"/>
          </p:cNvSpPr>
          <p:nvPr>
            <p:ph type="body" idx="1"/>
          </p:nvPr>
        </p:nvSpPr>
        <p:spPr>
          <a:xfrm>
            <a:off x="523750" y="5358457"/>
            <a:ext cx="4985100" cy="865200"/>
          </a:xfrm>
          <a:prstGeom prst="rect">
            <a:avLst/>
          </a:prstGeom>
          <a:noFill/>
          <a:ln>
            <a:noFill/>
          </a:ln>
        </p:spPr>
        <p:txBody>
          <a:bodyPr spcFirstLastPara="1" wrap="square" lIns="91425" tIns="0"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1000" dirty="0">
                <a:solidFill>
                  <a:schemeClr val="tx1"/>
                </a:solidFill>
              </a:rPr>
              <a:t>We implemented a systematic 3-stage approach to ensure reproducible coverage and data quality. Step 1 automates the download of 77 quarterly zip files. Step 2 extracts and merges three critical TSV files using accession numbers as primary keys. Finally, Stage 3 applies advanced filtering via Regular Expressions (Regex) to distinguish individual insiders from investment entities.</a:t>
            </a:r>
            <a:endParaRPr dirty="0">
              <a:solidFill>
                <a:schemeClr val="tx1"/>
              </a:solidFill>
            </a:endParaRPr>
          </a:p>
        </p:txBody>
      </p:sp>
      <p:pic>
        <p:nvPicPr>
          <p:cNvPr id="105" name="Google Shape;105;g3607a03d555_0_0" title="poop.PNG"/>
          <p:cNvPicPr preferRelativeResize="0"/>
          <p:nvPr/>
        </p:nvPicPr>
        <p:blipFill>
          <a:blip r:embed="rId5">
            <a:alphaModFix/>
          </a:blip>
          <a:stretch>
            <a:fillRect/>
          </a:stretch>
        </p:blipFill>
        <p:spPr>
          <a:xfrm>
            <a:off x="7038350" y="1060573"/>
            <a:ext cx="3630800" cy="1536447"/>
          </a:xfrm>
          <a:prstGeom prst="rect">
            <a:avLst/>
          </a:prstGeom>
          <a:noFill/>
          <a:ln>
            <a:noFill/>
          </a:ln>
        </p:spPr>
      </p:pic>
      <p:pic>
        <p:nvPicPr>
          <p:cNvPr id="106" name="Google Shape;106;g3607a03d555_0_0" title="poop2.PNG"/>
          <p:cNvPicPr preferRelativeResize="0"/>
          <p:nvPr/>
        </p:nvPicPr>
        <p:blipFill>
          <a:blip r:embed="rId6">
            <a:alphaModFix/>
          </a:blip>
          <a:stretch>
            <a:fillRect/>
          </a:stretch>
        </p:blipFill>
        <p:spPr>
          <a:xfrm>
            <a:off x="6802700" y="3662130"/>
            <a:ext cx="4254501" cy="1868325"/>
          </a:xfrm>
          <a:prstGeom prst="rect">
            <a:avLst/>
          </a:prstGeom>
          <a:noFill/>
          <a:ln>
            <a:noFill/>
          </a:ln>
        </p:spPr>
      </p:pic>
      <p:sp>
        <p:nvSpPr>
          <p:cNvPr id="107" name="Google Shape;107;g3607a03d555_0_0"/>
          <p:cNvSpPr txBox="1">
            <a:spLocks noGrp="1"/>
          </p:cNvSpPr>
          <p:nvPr>
            <p:ph type="body" idx="1"/>
          </p:nvPr>
        </p:nvSpPr>
        <p:spPr>
          <a:xfrm>
            <a:off x="6095150" y="5717330"/>
            <a:ext cx="5541600" cy="949800"/>
          </a:xfrm>
          <a:prstGeom prst="rect">
            <a:avLst/>
          </a:prstGeom>
          <a:noFill/>
          <a:ln>
            <a:noFill/>
          </a:ln>
        </p:spPr>
        <p:txBody>
          <a:bodyPr spcFirstLastPara="1" wrap="square" lIns="91425" tIns="0" rIns="91425" bIns="91425" anchor="t" anchorCtr="0">
            <a:noAutofit/>
          </a:bodyPr>
          <a:lstStyle/>
          <a:p>
            <a:pPr marL="0" lvl="0" indent="0" algn="l" rtl="0">
              <a:lnSpc>
                <a:spcPct val="115000"/>
              </a:lnSpc>
              <a:spcBef>
                <a:spcPts val="0"/>
              </a:spcBef>
              <a:spcAft>
                <a:spcPts val="1000"/>
              </a:spcAft>
              <a:buSzPts val="1100"/>
              <a:buNone/>
            </a:pPr>
            <a:r>
              <a:rPr lang="en" sz="1000">
                <a:solidFill>
                  <a:schemeClr val="tx1"/>
                </a:solidFill>
              </a:rPr>
              <a:t>Each insider transaction captures detailed information across three key dimensions. The result is a clean, verified dataset of corporate insider transactions, eliminating institutional noise and focusing exclusively on genuine insider trading signals.</a:t>
            </a:r>
            <a:endParaRPr sz="1000">
              <a:solidFill>
                <a:schemeClr val="tx1"/>
              </a:solidFill>
            </a:endParaRPr>
          </a:p>
        </p:txBody>
      </p:sp>
      <p:sp>
        <p:nvSpPr>
          <p:cNvPr id="108" name="Google Shape;108;g3607a03d555_0_0"/>
          <p:cNvSpPr txBox="1"/>
          <p:nvPr/>
        </p:nvSpPr>
        <p:spPr>
          <a:xfrm>
            <a:off x="1160325" y="2511290"/>
            <a:ext cx="1619700" cy="585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600"/>
              <a:buFont typeface="Arial"/>
              <a:buNone/>
            </a:pPr>
            <a:r>
              <a:rPr lang="en" sz="2600" b="1" i="0" u="none" strike="noStrike" cap="none" dirty="0">
                <a:solidFill>
                  <a:schemeClr val="accent1"/>
                </a:solidFill>
                <a:latin typeface="Arial"/>
                <a:ea typeface="Arial"/>
                <a:cs typeface="Arial"/>
                <a:sym typeface="Arial"/>
              </a:rPr>
              <a:t>~</a:t>
            </a:r>
            <a:r>
              <a:rPr lang="en" sz="2600" b="1" dirty="0">
                <a:solidFill>
                  <a:schemeClr val="accent1"/>
                </a:solidFill>
              </a:rPr>
              <a:t>305,000</a:t>
            </a:r>
            <a:endParaRPr sz="2600" b="1" i="0" u="none" strike="noStrike" cap="none" dirty="0">
              <a:solidFill>
                <a:schemeClr val="accent1"/>
              </a:solidFill>
              <a:latin typeface="Arial"/>
              <a:ea typeface="Arial"/>
              <a:cs typeface="Arial"/>
              <a:sym typeface="Arial"/>
            </a:endParaRPr>
          </a:p>
        </p:txBody>
      </p:sp>
      <p:sp>
        <p:nvSpPr>
          <p:cNvPr id="109" name="Google Shape;109;g3607a03d555_0_0"/>
          <p:cNvSpPr txBox="1"/>
          <p:nvPr/>
        </p:nvSpPr>
        <p:spPr>
          <a:xfrm>
            <a:off x="3184425" y="2511290"/>
            <a:ext cx="1706700" cy="585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600"/>
              <a:buFont typeface="Arial"/>
              <a:buNone/>
            </a:pPr>
            <a:r>
              <a:rPr lang="en" sz="2600" b="1" i="0" u="none" strike="noStrike" cap="none" dirty="0">
                <a:solidFill>
                  <a:schemeClr val="accent1"/>
                </a:solidFill>
                <a:latin typeface="Arial"/>
                <a:ea typeface="Arial"/>
                <a:cs typeface="Arial"/>
                <a:sym typeface="Arial"/>
              </a:rPr>
              <a:t>~</a:t>
            </a:r>
            <a:r>
              <a:rPr lang="en" sz="2600" b="1" dirty="0">
                <a:solidFill>
                  <a:schemeClr val="accent1"/>
                </a:solidFill>
              </a:rPr>
              <a:t>7,200</a:t>
            </a:r>
            <a:endParaRPr sz="2600" b="1" i="0" u="none" strike="noStrike" cap="none" dirty="0">
              <a:solidFill>
                <a:schemeClr val="accent1"/>
              </a:solidFill>
              <a:latin typeface="Arial"/>
              <a:ea typeface="Arial"/>
              <a:cs typeface="Arial"/>
              <a:sym typeface="Arial"/>
            </a:endParaRPr>
          </a:p>
        </p:txBody>
      </p:sp>
      <p:sp>
        <p:nvSpPr>
          <p:cNvPr id="110" name="Google Shape;110;g3607a03d555_0_0"/>
          <p:cNvSpPr txBox="1"/>
          <p:nvPr/>
        </p:nvSpPr>
        <p:spPr>
          <a:xfrm>
            <a:off x="1248900" y="2934574"/>
            <a:ext cx="1479300" cy="554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 sz="1200" b="1" dirty="0">
                <a:solidFill>
                  <a:schemeClr val="tx1"/>
                </a:solidFill>
              </a:rPr>
              <a:t>Insider transactions </a:t>
            </a:r>
            <a:endParaRPr sz="1200" b="1" i="0" u="none" strike="noStrike" cap="none" dirty="0">
              <a:solidFill>
                <a:schemeClr val="tx1"/>
              </a:solidFill>
              <a:latin typeface="Arial"/>
              <a:ea typeface="Arial"/>
              <a:cs typeface="Arial"/>
              <a:sym typeface="Arial"/>
            </a:endParaRPr>
          </a:p>
        </p:txBody>
      </p:sp>
      <p:sp>
        <p:nvSpPr>
          <p:cNvPr id="111" name="Google Shape;111;g3607a03d555_0_0"/>
          <p:cNvSpPr txBox="1"/>
          <p:nvPr/>
        </p:nvSpPr>
        <p:spPr>
          <a:xfrm>
            <a:off x="3108225" y="2934574"/>
            <a:ext cx="1479300" cy="554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 sz="1200" b="1" dirty="0">
                <a:solidFill>
                  <a:schemeClr val="tx1"/>
                </a:solidFill>
              </a:rPr>
              <a:t>Unique companies</a:t>
            </a:r>
            <a:endParaRPr sz="1200" b="1" i="0" u="none" strike="noStrike" cap="none" dirty="0">
              <a:solidFill>
                <a:schemeClr val="tx1"/>
              </a:solidFill>
              <a:latin typeface="Arial"/>
              <a:ea typeface="Arial"/>
              <a:cs typeface="Arial"/>
              <a:sym typeface="Arial"/>
            </a:endParaRPr>
          </a:p>
        </p:txBody>
      </p:sp>
      <p:sp>
        <p:nvSpPr>
          <p:cNvPr id="2" name="Rectangle 1">
            <a:extLst>
              <a:ext uri="{FF2B5EF4-FFF2-40B4-BE49-F238E27FC236}">
                <a16:creationId xmlns:a16="http://schemas.microsoft.com/office/drawing/2014/main" id="{456C13E6-5908-ABD5-CE90-3F9FE792F9D0}"/>
              </a:ext>
            </a:extLst>
          </p:cNvPr>
          <p:cNvSpPr/>
          <p:nvPr/>
        </p:nvSpPr>
        <p:spPr>
          <a:xfrm rot="10800000" flipV="1">
            <a:off x="-1" y="946962"/>
            <a:ext cx="9068025" cy="45719"/>
          </a:xfrm>
          <a:prstGeom prst="rect">
            <a:avLst/>
          </a:prstGeom>
          <a:gradFill>
            <a:gsLst>
              <a:gs pos="100000">
                <a:srgbClr val="14232E"/>
              </a:gs>
              <a:gs pos="0">
                <a:schemeClr val="tx2">
                  <a:lumMod val="20000"/>
                  <a:lumOff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6628FD7-4B54-05A2-6C63-BBF225880B2F}"/>
              </a:ext>
            </a:extLst>
          </p:cNvPr>
          <p:cNvSpPr/>
          <p:nvPr/>
        </p:nvSpPr>
        <p:spPr>
          <a:xfrm>
            <a:off x="3410275" y="6456178"/>
            <a:ext cx="8781725" cy="45719"/>
          </a:xfrm>
          <a:prstGeom prst="rect">
            <a:avLst/>
          </a:prstGeom>
          <a:gradFill>
            <a:gsLst>
              <a:gs pos="100000">
                <a:srgbClr val="9E7316"/>
              </a:gs>
              <a:gs pos="0">
                <a:schemeClr val="tx2">
                  <a:lumMod val="20000"/>
                  <a:lumOff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7"/>
        <p:cNvGrpSpPr/>
        <p:nvPr/>
      </p:nvGrpSpPr>
      <p:grpSpPr>
        <a:xfrm>
          <a:off x="0" y="0"/>
          <a:ext cx="0" cy="0"/>
          <a:chOff x="0" y="0"/>
          <a:chExt cx="0" cy="0"/>
        </a:xfrm>
      </p:grpSpPr>
      <p:pic>
        <p:nvPicPr>
          <p:cNvPr id="11" name="Graphic 10" descr="Calculator with solid fill">
            <a:extLst>
              <a:ext uri="{FF2B5EF4-FFF2-40B4-BE49-F238E27FC236}">
                <a16:creationId xmlns:a16="http://schemas.microsoft.com/office/drawing/2014/main" id="{912253E1-F01F-EFFF-A6A8-FA299B7E443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71678" y="4000231"/>
            <a:ext cx="630300" cy="630300"/>
          </a:xfrm>
          <a:prstGeom prst="rect">
            <a:avLst/>
          </a:prstGeom>
        </p:spPr>
      </p:pic>
      <p:pic>
        <p:nvPicPr>
          <p:cNvPr id="9" name="Graphic 8" descr="Money with solid fill">
            <a:extLst>
              <a:ext uri="{FF2B5EF4-FFF2-40B4-BE49-F238E27FC236}">
                <a16:creationId xmlns:a16="http://schemas.microsoft.com/office/drawing/2014/main" id="{0C09825A-B04C-99E1-CD29-A3D4A8DD40C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879774" y="3978541"/>
            <a:ext cx="692032" cy="692032"/>
          </a:xfrm>
          <a:prstGeom prst="rect">
            <a:avLst/>
          </a:prstGeom>
        </p:spPr>
      </p:pic>
      <p:pic>
        <p:nvPicPr>
          <p:cNvPr id="7" name="Graphic 6" descr="City outline">
            <a:extLst>
              <a:ext uri="{FF2B5EF4-FFF2-40B4-BE49-F238E27FC236}">
                <a16:creationId xmlns:a16="http://schemas.microsoft.com/office/drawing/2014/main" id="{BD77EAA8-7078-A4E8-E0AD-C927D5E5850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3929" y="3872812"/>
            <a:ext cx="872325" cy="872325"/>
          </a:xfrm>
          <a:prstGeom prst="rect">
            <a:avLst/>
          </a:prstGeom>
        </p:spPr>
      </p:pic>
      <p:pic>
        <p:nvPicPr>
          <p:cNvPr id="5" name="Picture 4" descr="A blue and white logo&#10;&#10;AI-generated content may be incorrect.">
            <a:extLst>
              <a:ext uri="{FF2B5EF4-FFF2-40B4-BE49-F238E27FC236}">
                <a16:creationId xmlns:a16="http://schemas.microsoft.com/office/drawing/2014/main" id="{5DD8F886-9D11-8D36-C274-D740ADC37D84}"/>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10000" b="90000" l="10000" r="90000">
                        <a14:foregroundMark x1="34222" y1="58667" x2="56000" y2="55111"/>
                        <a14:foregroundMark x1="56000" y1="55111" x2="56000" y2="52889"/>
                      </a14:backgroundRemoval>
                    </a14:imgEffect>
                  </a14:imgLayer>
                </a14:imgProps>
              </a:ext>
            </a:extLst>
          </a:blip>
          <a:stretch>
            <a:fillRect/>
          </a:stretch>
        </p:blipFill>
        <p:spPr>
          <a:xfrm>
            <a:off x="924978" y="2983391"/>
            <a:ext cx="567315" cy="567315"/>
          </a:xfrm>
          <a:prstGeom prst="rect">
            <a:avLst/>
          </a:prstGeom>
        </p:spPr>
      </p:pic>
      <p:sp>
        <p:nvSpPr>
          <p:cNvPr id="118" name="Google Shape;118;g36592e60c4d_4_0"/>
          <p:cNvSpPr/>
          <p:nvPr/>
        </p:nvSpPr>
        <p:spPr>
          <a:xfrm>
            <a:off x="9646250" y="256574"/>
            <a:ext cx="1957500" cy="436800"/>
          </a:xfrm>
          <a:prstGeom prst="chevron">
            <a:avLst>
              <a:gd name="adj" fmla="val 50000"/>
            </a:avLst>
          </a:prstGeom>
          <a:solidFill>
            <a:schemeClr val="accent1">
              <a:lumMod val="20000"/>
              <a:lumOff val="80000"/>
            </a:schemeClr>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9" name="Google Shape;119;g36592e60c4d_4_0"/>
          <p:cNvSpPr/>
          <p:nvPr/>
        </p:nvSpPr>
        <p:spPr>
          <a:xfrm>
            <a:off x="9307330" y="256574"/>
            <a:ext cx="1957500" cy="436800"/>
          </a:xfrm>
          <a:prstGeom prst="chevron">
            <a:avLst>
              <a:gd name="adj" fmla="val 50000"/>
            </a:avLst>
          </a:prstGeom>
          <a:solidFill>
            <a:schemeClr val="accent1">
              <a:lumMod val="20000"/>
              <a:lumOff val="80000"/>
            </a:schemeClr>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0" name="Google Shape;120;g36592e60c4d_4_0"/>
          <p:cNvSpPr/>
          <p:nvPr/>
        </p:nvSpPr>
        <p:spPr>
          <a:xfrm>
            <a:off x="8919506" y="256574"/>
            <a:ext cx="1957500" cy="436800"/>
          </a:xfrm>
          <a:prstGeom prst="chevron">
            <a:avLst>
              <a:gd name="adj" fmla="val 50000"/>
            </a:avLst>
          </a:prstGeom>
          <a:solidFill>
            <a:schemeClr val="accent1">
              <a:lumMod val="20000"/>
              <a:lumOff val="80000"/>
            </a:schemeClr>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1" name="Google Shape;121;g36592e60c4d_4_0"/>
          <p:cNvSpPr/>
          <p:nvPr/>
        </p:nvSpPr>
        <p:spPr>
          <a:xfrm>
            <a:off x="8046050" y="256574"/>
            <a:ext cx="1957500" cy="436800"/>
          </a:xfrm>
          <a:prstGeom prst="chevron">
            <a:avLst>
              <a:gd name="adj" fmla="val 50000"/>
            </a:avLst>
          </a:prstGeom>
          <a:solidFill>
            <a:schemeClr val="accent1">
              <a:lumMod val="20000"/>
              <a:lumOff val="80000"/>
            </a:schemeClr>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2" name="Google Shape;122;g36592e60c4d_4_0"/>
          <p:cNvSpPr/>
          <p:nvPr/>
        </p:nvSpPr>
        <p:spPr>
          <a:xfrm>
            <a:off x="8391825" y="242375"/>
            <a:ext cx="2109900" cy="470700"/>
          </a:xfrm>
          <a:prstGeom prst="chevron">
            <a:avLst>
              <a:gd name="adj" fmla="val 50000"/>
            </a:avLst>
          </a:prstGeom>
          <a:solidFill>
            <a:schemeClr val="accent1"/>
          </a:solidFill>
          <a:ln w="19050"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tx1"/>
                </a:solidFill>
              </a:rPr>
              <a:t>Data Sources</a:t>
            </a:r>
            <a:endParaRPr b="1">
              <a:solidFill>
                <a:schemeClr val="tx1"/>
              </a:solidFill>
            </a:endParaRPr>
          </a:p>
        </p:txBody>
      </p:sp>
      <p:sp>
        <p:nvSpPr>
          <p:cNvPr id="123" name="Google Shape;123;g36592e60c4d_4_0"/>
          <p:cNvSpPr txBox="1">
            <a:spLocks noGrp="1"/>
          </p:cNvSpPr>
          <p:nvPr>
            <p:ph type="body" idx="1"/>
          </p:nvPr>
        </p:nvSpPr>
        <p:spPr>
          <a:xfrm>
            <a:off x="455100" y="1106581"/>
            <a:ext cx="5300400" cy="1891800"/>
          </a:xfrm>
          <a:prstGeom prst="rect">
            <a:avLst/>
          </a:prstGeom>
          <a:noFill/>
          <a:ln>
            <a:noFill/>
          </a:ln>
        </p:spPr>
        <p:txBody>
          <a:bodyPr spcFirstLastPara="1" wrap="square" lIns="91425" tIns="0" rIns="91425" bIns="91425" anchor="t" anchorCtr="0">
            <a:noAutofit/>
          </a:bodyPr>
          <a:lstStyle/>
          <a:p>
            <a:pPr marL="0" lvl="0" indent="0" algn="l" rtl="0">
              <a:lnSpc>
                <a:spcPct val="115000"/>
              </a:lnSpc>
              <a:spcBef>
                <a:spcPts val="600"/>
              </a:spcBef>
              <a:spcAft>
                <a:spcPts val="0"/>
              </a:spcAft>
              <a:buSzPts val="1100"/>
              <a:buNone/>
            </a:pPr>
            <a:r>
              <a:rPr lang="en" sz="1200" b="1" dirty="0">
                <a:solidFill>
                  <a:schemeClr val="tx1"/>
                </a:solidFill>
              </a:rPr>
              <a:t>Secondary Dataset</a:t>
            </a:r>
            <a:endParaRPr sz="1200" b="1" dirty="0">
              <a:solidFill>
                <a:schemeClr val="tx1"/>
              </a:solidFill>
            </a:endParaRPr>
          </a:p>
          <a:p>
            <a:pPr marL="0" lvl="0" indent="0" algn="l" rtl="0">
              <a:lnSpc>
                <a:spcPct val="115000"/>
              </a:lnSpc>
              <a:spcBef>
                <a:spcPts val="1200"/>
              </a:spcBef>
              <a:spcAft>
                <a:spcPts val="0"/>
              </a:spcAft>
              <a:buClr>
                <a:schemeClr val="dk1"/>
              </a:buClr>
              <a:buSzPts val="1100"/>
              <a:buFont typeface="Arial"/>
              <a:buNone/>
            </a:pPr>
            <a:r>
              <a:rPr lang="en" sz="1000" dirty="0">
                <a:solidFill>
                  <a:schemeClr val="tx1"/>
                </a:solidFill>
              </a:rPr>
              <a:t>After filtering our first dataset, we were able to secure data for approximately 305,000 transactions between Q1 2006 and Q1 2025. From this data, we had 7,201 unique stocks that we used to query the yahoo finance API, ‘yfinance’. This API is a popular open source library for python that reliably scrapes the yahoo finance website for corporate information and historical price data which is primarily intended for education and research purposes (</a:t>
            </a:r>
            <a:r>
              <a:rPr lang="en" sz="1000" u="sng" dirty="0">
                <a:solidFill>
                  <a:schemeClr val="accent1"/>
                </a:solidFill>
                <a:hlinkClick r:id="rId11">
                  <a:extLst>
                    <a:ext uri="{A12FA001-AC4F-418D-AE19-62706E023703}">
                      <ahyp:hlinkClr xmlns:ahyp="http://schemas.microsoft.com/office/drawing/2018/hyperlinkcolor" val="tx"/>
                    </a:ext>
                  </a:extLst>
                </a:hlinkClick>
              </a:rPr>
              <a:t>https://ranaroussi.github.io/yfinance/</a:t>
            </a:r>
            <a:r>
              <a:rPr lang="en" sz="1000" dirty="0">
                <a:solidFill>
                  <a:schemeClr val="tx1"/>
                </a:solidFill>
              </a:rPr>
              <a:t>). </a:t>
            </a:r>
            <a:endParaRPr sz="1000" dirty="0">
              <a:solidFill>
                <a:schemeClr val="tx1"/>
              </a:solidFill>
            </a:endParaRPr>
          </a:p>
          <a:p>
            <a:pPr marL="0" lvl="0" indent="0" algn="l" rtl="0">
              <a:lnSpc>
                <a:spcPct val="115000"/>
              </a:lnSpc>
              <a:spcBef>
                <a:spcPts val="1200"/>
              </a:spcBef>
              <a:spcAft>
                <a:spcPts val="600"/>
              </a:spcAft>
              <a:buSzPts val="1100"/>
              <a:buNone/>
            </a:pPr>
            <a:endParaRPr dirty="0">
              <a:solidFill>
                <a:schemeClr val="tx1"/>
              </a:solidFill>
            </a:endParaRPr>
          </a:p>
        </p:txBody>
      </p:sp>
      <p:sp>
        <p:nvSpPr>
          <p:cNvPr id="124" name="Google Shape;124;g36592e60c4d_4_0"/>
          <p:cNvSpPr txBox="1"/>
          <p:nvPr/>
        </p:nvSpPr>
        <p:spPr>
          <a:xfrm>
            <a:off x="-84050" y="-938500"/>
            <a:ext cx="2423400" cy="630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2"/>
              </a:solidFill>
              <a:latin typeface="Arial"/>
              <a:ea typeface="Arial"/>
              <a:cs typeface="Arial"/>
              <a:sym typeface="Arial"/>
            </a:endParaRPr>
          </a:p>
        </p:txBody>
      </p:sp>
      <p:sp>
        <p:nvSpPr>
          <p:cNvPr id="125" name="Google Shape;125;g36592e60c4d_4_0"/>
          <p:cNvSpPr txBox="1"/>
          <p:nvPr/>
        </p:nvSpPr>
        <p:spPr>
          <a:xfrm>
            <a:off x="11773475" y="6508946"/>
            <a:ext cx="261600" cy="295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dirty="0">
                <a:solidFill>
                  <a:schemeClr val="dk1"/>
                </a:solidFill>
              </a:rPr>
              <a:t>4</a:t>
            </a:r>
            <a:endParaRPr sz="1200" b="1" i="0" u="none" strike="noStrike" cap="none" dirty="0">
              <a:solidFill>
                <a:schemeClr val="dk1"/>
              </a:solidFill>
              <a:latin typeface="Arial"/>
              <a:ea typeface="Arial"/>
              <a:cs typeface="Arial"/>
              <a:sym typeface="Arial"/>
            </a:endParaRPr>
          </a:p>
        </p:txBody>
      </p:sp>
      <p:sp>
        <p:nvSpPr>
          <p:cNvPr id="126" name="Google Shape;126;g36592e60c4d_4_0"/>
          <p:cNvSpPr txBox="1">
            <a:spLocks noGrp="1"/>
          </p:cNvSpPr>
          <p:nvPr>
            <p:ph type="body" idx="1"/>
          </p:nvPr>
        </p:nvSpPr>
        <p:spPr>
          <a:xfrm>
            <a:off x="6343350" y="2796756"/>
            <a:ext cx="5336700" cy="3406500"/>
          </a:xfrm>
          <a:prstGeom prst="rect">
            <a:avLst/>
          </a:prstGeom>
          <a:noFill/>
          <a:ln>
            <a:noFill/>
          </a:ln>
        </p:spPr>
        <p:txBody>
          <a:bodyPr spcFirstLastPara="1" wrap="square" lIns="91425" tIns="0" rIns="91425" bIns="91425" anchor="t" anchorCtr="0">
            <a:noAutofit/>
          </a:bodyPr>
          <a:lstStyle/>
          <a:p>
            <a:pPr marL="0" lvl="0" indent="0" algn="l" rtl="0">
              <a:lnSpc>
                <a:spcPct val="115000"/>
              </a:lnSpc>
              <a:spcBef>
                <a:spcPts val="0"/>
              </a:spcBef>
              <a:spcAft>
                <a:spcPts val="0"/>
              </a:spcAft>
              <a:buSzPts val="1100"/>
              <a:buNone/>
            </a:pPr>
            <a:r>
              <a:rPr lang="en" sz="1200" b="1" dirty="0">
                <a:solidFill>
                  <a:schemeClr val="tx1"/>
                </a:solidFill>
              </a:rPr>
              <a:t>Data Aggregation</a:t>
            </a:r>
            <a:endParaRPr sz="1200" b="1" dirty="0">
              <a:solidFill>
                <a:schemeClr val="tx1"/>
              </a:solidFill>
            </a:endParaRPr>
          </a:p>
          <a:p>
            <a:pPr marL="0" lvl="0" indent="0" algn="l" rtl="0">
              <a:lnSpc>
                <a:spcPct val="115000"/>
              </a:lnSpc>
              <a:spcBef>
                <a:spcPts val="1000"/>
              </a:spcBef>
              <a:spcAft>
                <a:spcPts val="0"/>
              </a:spcAft>
              <a:buSzPts val="1100"/>
              <a:buNone/>
            </a:pPr>
            <a:r>
              <a:rPr lang="en" sz="1000" dirty="0">
                <a:solidFill>
                  <a:schemeClr val="tx1"/>
                </a:solidFill>
              </a:rPr>
              <a:t>Our financial data aggregation process consisted of three primary steps. First, for each unique stock symbol, we queried the ‘yfinance’ API to retrieve all daily transaction data, including open, high, low, close prices, and daily trading volume. We then calculated a 28–period moving average to smooth the time series and applied a second 28-period moving average to extract the longer-term monthly trend of price movement.  </a:t>
            </a:r>
            <a:endParaRPr sz="1000" dirty="0">
              <a:solidFill>
                <a:schemeClr val="tx1"/>
              </a:solidFill>
            </a:endParaRPr>
          </a:p>
          <a:p>
            <a:pPr marL="0" lvl="0" indent="0" algn="l" rtl="0">
              <a:lnSpc>
                <a:spcPct val="115000"/>
              </a:lnSpc>
              <a:spcBef>
                <a:spcPts val="1000"/>
              </a:spcBef>
              <a:spcAft>
                <a:spcPts val="0"/>
              </a:spcAft>
              <a:buSzPts val="1100"/>
              <a:buNone/>
            </a:pPr>
            <a:r>
              <a:rPr lang="en" sz="1000" dirty="0">
                <a:solidFill>
                  <a:schemeClr val="tx1"/>
                </a:solidFill>
              </a:rPr>
              <a:t>Next, for each insider transaction associated with a given stock symbol, we collected corresponding price and trend data for the month prior to the transaction, the transaction date itself, and at monthly intervals for six months following the transaction. We also retrieved historical price data for our benchmark, the SPY ETF, and aligned it with the same transaction timeline to enable direct comparisons.</a:t>
            </a:r>
            <a:endParaRPr sz="1000" dirty="0">
              <a:solidFill>
                <a:schemeClr val="tx1"/>
              </a:solidFill>
            </a:endParaRPr>
          </a:p>
          <a:p>
            <a:pPr marL="0" lvl="0" indent="0" algn="l" rtl="0">
              <a:lnSpc>
                <a:spcPct val="115000"/>
              </a:lnSpc>
              <a:spcBef>
                <a:spcPts val="1000"/>
              </a:spcBef>
              <a:spcAft>
                <a:spcPts val="1000"/>
              </a:spcAft>
              <a:buSzPts val="1100"/>
              <a:buNone/>
            </a:pPr>
            <a:r>
              <a:rPr lang="en" sz="1000" dirty="0">
                <a:solidFill>
                  <a:schemeClr val="tx1"/>
                </a:solidFill>
              </a:rPr>
              <a:t>In total, we successfully obtained price data for approximately 42% of our unique stock symbols and over 100,000+ insider transactions. Based on ‘yfinance’ documentation, common reasons for failed requests include invalid or delisted symbols (the most frequent issue), missing exchange suffixes for international securities (not applicable), limited historical data, rate limiting (addressed) and unsupported asset classes (not applicable). Given the nature of our dataset, most failures likely stem from delisted stocks.</a:t>
            </a:r>
            <a:endParaRPr sz="1000" dirty="0">
              <a:solidFill>
                <a:schemeClr val="tx1"/>
              </a:solidFill>
            </a:endParaRPr>
          </a:p>
        </p:txBody>
      </p:sp>
      <p:grpSp>
        <p:nvGrpSpPr>
          <p:cNvPr id="128" name="Google Shape;128;g36592e60c4d_4_0"/>
          <p:cNvGrpSpPr/>
          <p:nvPr/>
        </p:nvGrpSpPr>
        <p:grpSpPr>
          <a:xfrm>
            <a:off x="455100" y="3053469"/>
            <a:ext cx="5445600" cy="3304215"/>
            <a:chOff x="6450425" y="703588"/>
            <a:chExt cx="5445600" cy="3304215"/>
          </a:xfrm>
        </p:grpSpPr>
        <p:sp>
          <p:nvSpPr>
            <p:cNvPr id="129" name="Google Shape;129;g36592e60c4d_4_0"/>
            <p:cNvSpPr txBox="1"/>
            <p:nvPr/>
          </p:nvSpPr>
          <p:spPr>
            <a:xfrm>
              <a:off x="6450425" y="703588"/>
              <a:ext cx="5445600" cy="421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300"/>
                <a:buFont typeface="Arial"/>
                <a:buNone/>
              </a:pPr>
              <a:r>
                <a:rPr lang="en" sz="1300" b="1" i="0" u="none" strike="noStrike" cap="none" dirty="0">
                  <a:solidFill>
                    <a:schemeClr val="tx1"/>
                  </a:solidFill>
                  <a:latin typeface="Arial"/>
                  <a:ea typeface="Arial"/>
                  <a:cs typeface="Arial"/>
                  <a:sym typeface="Arial"/>
                </a:rPr>
                <a:t>Query for Data</a:t>
              </a:r>
              <a:endParaRPr sz="1300" b="1" i="0" u="none" strike="noStrike" cap="none" dirty="0">
                <a:solidFill>
                  <a:schemeClr val="tx1"/>
                </a:solidFill>
                <a:latin typeface="Arial"/>
                <a:ea typeface="Arial"/>
                <a:cs typeface="Arial"/>
                <a:sym typeface="Arial"/>
              </a:endParaRPr>
            </a:p>
          </p:txBody>
        </p:sp>
        <p:sp>
          <p:nvSpPr>
            <p:cNvPr id="133" name="Google Shape;133;g36592e60c4d_4_0"/>
            <p:cNvSpPr txBox="1"/>
            <p:nvPr/>
          </p:nvSpPr>
          <p:spPr>
            <a:xfrm>
              <a:off x="8486025" y="2299303"/>
              <a:ext cx="1454100" cy="13698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 sz="1100" b="1" i="0" u="none" strike="noStrike" cap="none" dirty="0">
                  <a:solidFill>
                    <a:schemeClr val="tx1"/>
                  </a:solidFill>
                  <a:latin typeface="Arial"/>
                  <a:ea typeface="Arial"/>
                  <a:cs typeface="Arial"/>
                  <a:sym typeface="Arial"/>
                </a:rPr>
                <a:t>Price Data</a:t>
              </a:r>
              <a:endParaRPr sz="1100" b="1" i="0" u="none" strike="noStrike" cap="none" dirty="0">
                <a:solidFill>
                  <a:schemeClr val="tx1"/>
                </a:solidFill>
                <a:latin typeface="Arial"/>
                <a:ea typeface="Arial"/>
                <a:cs typeface="Arial"/>
                <a:sym typeface="Arial"/>
              </a:endParaRPr>
            </a:p>
            <a:p>
              <a:pPr marL="457200" marR="0" lvl="0" indent="-298450" algn="l" rtl="0">
                <a:lnSpc>
                  <a:spcPct val="100000"/>
                </a:lnSpc>
                <a:spcBef>
                  <a:spcPts val="0"/>
                </a:spcBef>
                <a:spcAft>
                  <a:spcPts val="0"/>
                </a:spcAft>
                <a:buClr>
                  <a:schemeClr val="dk2"/>
                </a:buClr>
                <a:buSzPts val="1100"/>
                <a:buFont typeface="Arial"/>
                <a:buChar char="●"/>
              </a:pPr>
              <a:r>
                <a:rPr lang="en" sz="1100" b="1" i="0" u="none" strike="noStrike" cap="none" dirty="0">
                  <a:solidFill>
                    <a:schemeClr val="tx1"/>
                  </a:solidFill>
                  <a:latin typeface="Arial"/>
                  <a:ea typeface="Arial"/>
                  <a:cs typeface="Arial"/>
                  <a:sym typeface="Arial"/>
                </a:rPr>
                <a:t>Date</a:t>
              </a:r>
              <a:endParaRPr sz="1100" b="1" i="0" u="none" strike="noStrike" cap="none" dirty="0">
                <a:solidFill>
                  <a:schemeClr val="tx1"/>
                </a:solidFill>
                <a:latin typeface="Arial"/>
                <a:ea typeface="Arial"/>
                <a:cs typeface="Arial"/>
                <a:sym typeface="Arial"/>
              </a:endParaRPr>
            </a:p>
            <a:p>
              <a:pPr marL="457200" marR="0" lvl="0" indent="-298450" algn="l" rtl="0">
                <a:lnSpc>
                  <a:spcPct val="100000"/>
                </a:lnSpc>
                <a:spcBef>
                  <a:spcPts val="0"/>
                </a:spcBef>
                <a:spcAft>
                  <a:spcPts val="0"/>
                </a:spcAft>
                <a:buClr>
                  <a:schemeClr val="dk2"/>
                </a:buClr>
                <a:buSzPts val="1100"/>
                <a:buFont typeface="Arial"/>
                <a:buChar char="●"/>
              </a:pPr>
              <a:r>
                <a:rPr lang="en" sz="1100" b="1" i="0" u="none" strike="noStrike" cap="none" dirty="0">
                  <a:solidFill>
                    <a:schemeClr val="tx1"/>
                  </a:solidFill>
                  <a:latin typeface="Arial"/>
                  <a:ea typeface="Arial"/>
                  <a:cs typeface="Arial"/>
                  <a:sym typeface="Arial"/>
                </a:rPr>
                <a:t>Open</a:t>
              </a:r>
              <a:endParaRPr sz="1100" b="1" i="0" u="none" strike="noStrike" cap="none" dirty="0">
                <a:solidFill>
                  <a:schemeClr val="tx1"/>
                </a:solidFill>
                <a:latin typeface="Arial"/>
                <a:ea typeface="Arial"/>
                <a:cs typeface="Arial"/>
                <a:sym typeface="Arial"/>
              </a:endParaRPr>
            </a:p>
            <a:p>
              <a:pPr marL="457200" marR="0" lvl="0" indent="-298450" algn="l" rtl="0">
                <a:lnSpc>
                  <a:spcPct val="100000"/>
                </a:lnSpc>
                <a:spcBef>
                  <a:spcPts val="0"/>
                </a:spcBef>
                <a:spcAft>
                  <a:spcPts val="0"/>
                </a:spcAft>
                <a:buClr>
                  <a:schemeClr val="dk2"/>
                </a:buClr>
                <a:buSzPts val="1100"/>
                <a:buFont typeface="Arial"/>
                <a:buChar char="●"/>
              </a:pPr>
              <a:r>
                <a:rPr lang="en" sz="1100" b="1" i="0" u="none" strike="noStrike" cap="none" dirty="0">
                  <a:solidFill>
                    <a:schemeClr val="tx1"/>
                  </a:solidFill>
                  <a:latin typeface="Arial"/>
                  <a:ea typeface="Arial"/>
                  <a:cs typeface="Arial"/>
                  <a:sym typeface="Arial"/>
                </a:rPr>
                <a:t>High</a:t>
              </a:r>
              <a:endParaRPr sz="1100" b="1" i="0" u="none" strike="noStrike" cap="none" dirty="0">
                <a:solidFill>
                  <a:schemeClr val="tx1"/>
                </a:solidFill>
                <a:latin typeface="Arial"/>
                <a:ea typeface="Arial"/>
                <a:cs typeface="Arial"/>
                <a:sym typeface="Arial"/>
              </a:endParaRPr>
            </a:p>
            <a:p>
              <a:pPr marL="457200" marR="0" lvl="0" indent="-298450" algn="l" rtl="0">
                <a:lnSpc>
                  <a:spcPct val="100000"/>
                </a:lnSpc>
                <a:spcBef>
                  <a:spcPts val="0"/>
                </a:spcBef>
                <a:spcAft>
                  <a:spcPts val="0"/>
                </a:spcAft>
                <a:buClr>
                  <a:schemeClr val="dk2"/>
                </a:buClr>
                <a:buSzPts val="1100"/>
                <a:buFont typeface="Arial"/>
                <a:buChar char="●"/>
              </a:pPr>
              <a:r>
                <a:rPr lang="en" sz="1100" b="1" i="0" u="none" strike="noStrike" cap="none" dirty="0">
                  <a:solidFill>
                    <a:schemeClr val="tx1"/>
                  </a:solidFill>
                  <a:latin typeface="Arial"/>
                  <a:ea typeface="Arial"/>
                  <a:cs typeface="Arial"/>
                  <a:sym typeface="Arial"/>
                </a:rPr>
                <a:t>Low</a:t>
              </a:r>
              <a:endParaRPr sz="1100" b="1" i="0" u="none" strike="noStrike" cap="none" dirty="0">
                <a:solidFill>
                  <a:schemeClr val="tx1"/>
                </a:solidFill>
                <a:latin typeface="Arial"/>
                <a:ea typeface="Arial"/>
                <a:cs typeface="Arial"/>
                <a:sym typeface="Arial"/>
              </a:endParaRPr>
            </a:p>
            <a:p>
              <a:pPr marL="457200" marR="0" lvl="0" indent="-298450" algn="l" rtl="0">
                <a:lnSpc>
                  <a:spcPct val="100000"/>
                </a:lnSpc>
                <a:spcBef>
                  <a:spcPts val="0"/>
                </a:spcBef>
                <a:spcAft>
                  <a:spcPts val="0"/>
                </a:spcAft>
                <a:buClr>
                  <a:schemeClr val="dk2"/>
                </a:buClr>
                <a:buSzPts val="1100"/>
                <a:buFont typeface="Arial"/>
                <a:buChar char="●"/>
              </a:pPr>
              <a:r>
                <a:rPr lang="en" sz="1100" b="1" i="0" u="none" strike="noStrike" cap="none" dirty="0">
                  <a:solidFill>
                    <a:schemeClr val="tx1"/>
                  </a:solidFill>
                  <a:latin typeface="Arial"/>
                  <a:ea typeface="Arial"/>
                  <a:cs typeface="Arial"/>
                  <a:sym typeface="Arial"/>
                </a:rPr>
                <a:t>Close</a:t>
              </a:r>
              <a:endParaRPr sz="1100" b="1" i="0" u="none" strike="noStrike" cap="none" dirty="0">
                <a:solidFill>
                  <a:schemeClr val="tx1"/>
                </a:solidFill>
                <a:latin typeface="Arial"/>
                <a:ea typeface="Arial"/>
                <a:cs typeface="Arial"/>
                <a:sym typeface="Arial"/>
              </a:endParaRPr>
            </a:p>
            <a:p>
              <a:pPr marL="457200" marR="0" lvl="0" indent="-298450" algn="l" rtl="0">
                <a:lnSpc>
                  <a:spcPct val="100000"/>
                </a:lnSpc>
                <a:spcBef>
                  <a:spcPts val="0"/>
                </a:spcBef>
                <a:spcAft>
                  <a:spcPts val="0"/>
                </a:spcAft>
                <a:buClr>
                  <a:schemeClr val="dk2"/>
                </a:buClr>
                <a:buSzPts val="1100"/>
                <a:buFont typeface="Arial"/>
                <a:buChar char="●"/>
              </a:pPr>
              <a:r>
                <a:rPr lang="en" sz="1100" b="1" i="0" u="none" strike="noStrike" cap="none" dirty="0">
                  <a:solidFill>
                    <a:schemeClr val="tx1"/>
                  </a:solidFill>
                  <a:latin typeface="Arial"/>
                  <a:ea typeface="Arial"/>
                  <a:cs typeface="Arial"/>
                  <a:sym typeface="Arial"/>
                </a:rPr>
                <a:t>Volume</a:t>
              </a:r>
              <a:endParaRPr sz="1100" b="1" i="0" u="none" strike="noStrike" cap="none" dirty="0">
                <a:solidFill>
                  <a:schemeClr val="tx1"/>
                </a:solidFill>
                <a:latin typeface="Arial"/>
                <a:ea typeface="Arial"/>
                <a:cs typeface="Arial"/>
                <a:sym typeface="Arial"/>
              </a:endParaRPr>
            </a:p>
          </p:txBody>
        </p:sp>
        <p:sp>
          <p:nvSpPr>
            <p:cNvPr id="134" name="Google Shape;134;g36592e60c4d_4_0"/>
            <p:cNvSpPr txBox="1"/>
            <p:nvPr/>
          </p:nvSpPr>
          <p:spPr>
            <a:xfrm>
              <a:off x="10035349" y="2299303"/>
              <a:ext cx="1850479" cy="1200298"/>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 sz="1100" b="1" i="0" u="none" strike="noStrike" cap="none" dirty="0">
                  <a:solidFill>
                    <a:schemeClr val="tx1"/>
                  </a:solidFill>
                  <a:latin typeface="Arial"/>
                  <a:ea typeface="Arial"/>
                  <a:cs typeface="Arial"/>
                  <a:sym typeface="Arial"/>
                </a:rPr>
                <a:t>Calculated Data</a:t>
              </a:r>
              <a:endParaRPr sz="1100" b="1" i="0" u="none" strike="noStrike" cap="none" dirty="0">
                <a:solidFill>
                  <a:schemeClr val="tx1"/>
                </a:solidFill>
                <a:latin typeface="Arial"/>
                <a:ea typeface="Arial"/>
                <a:cs typeface="Arial"/>
                <a:sym typeface="Arial"/>
              </a:endParaRPr>
            </a:p>
            <a:p>
              <a:pPr marL="457200" marR="0" lvl="0" indent="-298450" algn="l" rtl="0">
                <a:lnSpc>
                  <a:spcPct val="100000"/>
                </a:lnSpc>
                <a:spcBef>
                  <a:spcPts val="0"/>
                </a:spcBef>
                <a:spcAft>
                  <a:spcPts val="0"/>
                </a:spcAft>
                <a:buClr>
                  <a:schemeClr val="dk2"/>
                </a:buClr>
                <a:buSzPts val="1100"/>
                <a:buFont typeface="Arial"/>
                <a:buChar char="●"/>
              </a:pPr>
              <a:r>
                <a:rPr lang="en" sz="1100" b="1" dirty="0">
                  <a:solidFill>
                    <a:schemeClr val="tx1"/>
                  </a:solidFill>
                </a:rPr>
                <a:t>Percent Change</a:t>
              </a:r>
              <a:endParaRPr sz="1100" b="1" i="0" u="none" strike="noStrike" cap="none" dirty="0">
                <a:solidFill>
                  <a:schemeClr val="tx1"/>
                </a:solidFill>
                <a:latin typeface="Arial"/>
                <a:ea typeface="Arial"/>
                <a:cs typeface="Arial"/>
                <a:sym typeface="Arial"/>
              </a:endParaRPr>
            </a:p>
            <a:p>
              <a:pPr marL="457200" marR="0" lvl="0" indent="-298450" algn="l" rtl="0">
                <a:lnSpc>
                  <a:spcPct val="100000"/>
                </a:lnSpc>
                <a:spcBef>
                  <a:spcPts val="0"/>
                </a:spcBef>
                <a:spcAft>
                  <a:spcPts val="0"/>
                </a:spcAft>
                <a:buClr>
                  <a:schemeClr val="dk2"/>
                </a:buClr>
                <a:buSzPts val="1100"/>
                <a:buFont typeface="Arial"/>
                <a:buChar char="●"/>
              </a:pPr>
              <a:r>
                <a:rPr lang="en" sz="1100" b="1" dirty="0">
                  <a:solidFill>
                    <a:schemeClr val="tx1"/>
                  </a:solidFill>
                </a:rPr>
                <a:t>Moving Average</a:t>
              </a:r>
              <a:endParaRPr sz="1100" b="1" i="0" u="none" strike="noStrike" cap="none" dirty="0">
                <a:solidFill>
                  <a:schemeClr val="tx1"/>
                </a:solidFill>
                <a:latin typeface="Arial"/>
                <a:ea typeface="Arial"/>
                <a:cs typeface="Arial"/>
                <a:sym typeface="Arial"/>
              </a:endParaRPr>
            </a:p>
            <a:p>
              <a:pPr marL="457200" marR="0" lvl="0" indent="-298450" algn="l" rtl="0">
                <a:lnSpc>
                  <a:spcPct val="100000"/>
                </a:lnSpc>
                <a:spcBef>
                  <a:spcPts val="0"/>
                </a:spcBef>
                <a:spcAft>
                  <a:spcPts val="0"/>
                </a:spcAft>
                <a:buClr>
                  <a:schemeClr val="dk2"/>
                </a:buClr>
                <a:buSzPts val="1100"/>
                <a:buFont typeface="Arial"/>
                <a:buChar char="●"/>
              </a:pPr>
              <a:r>
                <a:rPr lang="en" sz="1100" b="1" i="0" u="none" strike="noStrike" cap="none" dirty="0">
                  <a:solidFill>
                    <a:schemeClr val="tx1"/>
                  </a:solidFill>
                  <a:latin typeface="Arial"/>
                  <a:ea typeface="Arial"/>
                  <a:cs typeface="Arial"/>
                  <a:sym typeface="Arial"/>
                </a:rPr>
                <a:t>Rolling Trend of Moving Average</a:t>
              </a:r>
              <a:endParaRPr sz="1100" b="1" i="0" u="none" strike="noStrike" cap="none" dirty="0">
                <a:solidFill>
                  <a:schemeClr val="tx1"/>
                </a:solidFill>
                <a:latin typeface="Arial"/>
                <a:ea typeface="Arial"/>
                <a:cs typeface="Arial"/>
                <a:sym typeface="Arial"/>
              </a:endParaRPr>
            </a:p>
            <a:p>
              <a:pPr marL="457200" marR="0" lvl="0" indent="0" algn="l" rtl="0">
                <a:lnSpc>
                  <a:spcPct val="100000"/>
                </a:lnSpc>
                <a:spcBef>
                  <a:spcPts val="0"/>
                </a:spcBef>
                <a:spcAft>
                  <a:spcPts val="0"/>
                </a:spcAft>
                <a:buClr>
                  <a:srgbClr val="000000"/>
                </a:buClr>
                <a:buSzPts val="1100"/>
                <a:buFont typeface="Arial"/>
                <a:buNone/>
              </a:pPr>
              <a:endParaRPr sz="1100" b="1" i="0" u="none" strike="noStrike" cap="none" dirty="0">
                <a:solidFill>
                  <a:schemeClr val="tx1"/>
                </a:solidFill>
                <a:latin typeface="Arial"/>
                <a:ea typeface="Arial"/>
                <a:cs typeface="Arial"/>
                <a:sym typeface="Arial"/>
              </a:endParaRPr>
            </a:p>
          </p:txBody>
        </p:sp>
        <p:sp>
          <p:nvSpPr>
            <p:cNvPr id="135" name="Google Shape;135;g36592e60c4d_4_0"/>
            <p:cNvSpPr txBox="1"/>
            <p:nvPr/>
          </p:nvSpPr>
          <p:spPr>
            <a:xfrm>
              <a:off x="6450425" y="2299303"/>
              <a:ext cx="1764000" cy="17085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 sz="1100" b="1" i="0" u="none" strike="noStrike" cap="none" dirty="0">
                  <a:solidFill>
                    <a:schemeClr val="tx1"/>
                  </a:solidFill>
                  <a:latin typeface="Arial"/>
                  <a:ea typeface="Arial"/>
                  <a:cs typeface="Arial"/>
                  <a:sym typeface="Arial"/>
                </a:rPr>
                <a:t>Corporate Data</a:t>
              </a:r>
              <a:endParaRPr sz="1100" b="1" i="0" u="none" strike="noStrike" cap="none" dirty="0">
                <a:solidFill>
                  <a:schemeClr val="tx1"/>
                </a:solidFill>
                <a:latin typeface="Arial"/>
                <a:ea typeface="Arial"/>
                <a:cs typeface="Arial"/>
                <a:sym typeface="Arial"/>
              </a:endParaRPr>
            </a:p>
            <a:p>
              <a:pPr marL="457200" marR="0" lvl="0" indent="-298450" algn="l" rtl="0">
                <a:lnSpc>
                  <a:spcPct val="100000"/>
                </a:lnSpc>
                <a:spcBef>
                  <a:spcPts val="0"/>
                </a:spcBef>
                <a:spcAft>
                  <a:spcPts val="0"/>
                </a:spcAft>
                <a:buClr>
                  <a:schemeClr val="dk2"/>
                </a:buClr>
                <a:buSzPts val="1100"/>
                <a:buFont typeface="Arial"/>
                <a:buChar char="●"/>
              </a:pPr>
              <a:r>
                <a:rPr lang="en" sz="1100" b="1" i="0" u="none" strike="noStrike" cap="none" dirty="0">
                  <a:solidFill>
                    <a:schemeClr val="tx1"/>
                  </a:solidFill>
                  <a:latin typeface="Arial"/>
                  <a:ea typeface="Arial"/>
                  <a:cs typeface="Arial"/>
                  <a:sym typeface="Arial"/>
                </a:rPr>
                <a:t>Sector</a:t>
              </a:r>
              <a:endParaRPr sz="1100" b="1" i="0" u="none" strike="noStrike" cap="none" dirty="0">
                <a:solidFill>
                  <a:schemeClr val="tx1"/>
                </a:solidFill>
                <a:latin typeface="Arial"/>
                <a:ea typeface="Arial"/>
                <a:cs typeface="Arial"/>
                <a:sym typeface="Arial"/>
              </a:endParaRPr>
            </a:p>
            <a:p>
              <a:pPr marL="457200" marR="0" lvl="0" indent="-298450" algn="l" rtl="0">
                <a:lnSpc>
                  <a:spcPct val="100000"/>
                </a:lnSpc>
                <a:spcBef>
                  <a:spcPts val="0"/>
                </a:spcBef>
                <a:spcAft>
                  <a:spcPts val="0"/>
                </a:spcAft>
                <a:buClr>
                  <a:schemeClr val="dk2"/>
                </a:buClr>
                <a:buSzPts val="1100"/>
                <a:buFont typeface="Arial"/>
                <a:buChar char="●"/>
              </a:pPr>
              <a:r>
                <a:rPr lang="en" sz="1100" b="1" i="0" u="none" strike="noStrike" cap="none" dirty="0">
                  <a:solidFill>
                    <a:schemeClr val="tx1"/>
                  </a:solidFill>
                  <a:latin typeface="Arial"/>
                  <a:ea typeface="Arial"/>
                  <a:cs typeface="Arial"/>
                  <a:sym typeface="Arial"/>
                </a:rPr>
                <a:t>Industry</a:t>
              </a:r>
              <a:endParaRPr sz="1100" b="1" i="0" u="none" strike="noStrike" cap="none" dirty="0">
                <a:solidFill>
                  <a:schemeClr val="tx1"/>
                </a:solidFill>
                <a:latin typeface="Arial"/>
                <a:ea typeface="Arial"/>
                <a:cs typeface="Arial"/>
                <a:sym typeface="Arial"/>
              </a:endParaRPr>
            </a:p>
            <a:p>
              <a:pPr marL="457200" marR="0" lvl="0" indent="-298450" algn="l" rtl="0">
                <a:lnSpc>
                  <a:spcPct val="100000"/>
                </a:lnSpc>
                <a:spcBef>
                  <a:spcPts val="0"/>
                </a:spcBef>
                <a:spcAft>
                  <a:spcPts val="0"/>
                </a:spcAft>
                <a:buClr>
                  <a:schemeClr val="dk2"/>
                </a:buClr>
                <a:buSzPts val="1100"/>
                <a:buFont typeface="Arial"/>
                <a:buChar char="●"/>
              </a:pPr>
              <a:r>
                <a:rPr lang="en" sz="1100" b="1" i="0" u="none" strike="noStrike" cap="none" dirty="0">
                  <a:solidFill>
                    <a:schemeClr val="tx1"/>
                  </a:solidFill>
                  <a:latin typeface="Arial"/>
                  <a:ea typeface="Arial"/>
                  <a:cs typeface="Arial"/>
                  <a:sym typeface="Arial"/>
                </a:rPr>
                <a:t>Market Cap</a:t>
              </a:r>
              <a:endParaRPr sz="1100" b="1" i="0" u="none" strike="noStrike" cap="none" dirty="0">
                <a:solidFill>
                  <a:schemeClr val="tx1"/>
                </a:solidFill>
                <a:latin typeface="Arial"/>
                <a:ea typeface="Arial"/>
                <a:cs typeface="Arial"/>
                <a:sym typeface="Arial"/>
              </a:endParaRPr>
            </a:p>
            <a:p>
              <a:pPr marL="457200" marR="0" lvl="0" indent="-298450" algn="l" rtl="0">
                <a:lnSpc>
                  <a:spcPct val="100000"/>
                </a:lnSpc>
                <a:spcBef>
                  <a:spcPts val="0"/>
                </a:spcBef>
                <a:spcAft>
                  <a:spcPts val="0"/>
                </a:spcAft>
                <a:buClr>
                  <a:schemeClr val="dk2"/>
                </a:buClr>
                <a:buSzPts val="1100"/>
                <a:buFont typeface="Arial"/>
                <a:buChar char="●"/>
              </a:pPr>
              <a:r>
                <a:rPr lang="en" sz="1100" b="1" i="0" u="none" strike="noStrike" cap="none" dirty="0">
                  <a:solidFill>
                    <a:schemeClr val="tx1"/>
                  </a:solidFill>
                  <a:latin typeface="Arial"/>
                  <a:ea typeface="Arial"/>
                  <a:cs typeface="Arial"/>
                  <a:sym typeface="Arial"/>
                </a:rPr>
                <a:t>Beta</a:t>
              </a:r>
              <a:endParaRPr sz="1100" b="1" i="0" u="none" strike="noStrike" cap="none" dirty="0">
                <a:solidFill>
                  <a:schemeClr val="tx1"/>
                </a:solidFill>
                <a:latin typeface="Arial"/>
                <a:ea typeface="Arial"/>
                <a:cs typeface="Arial"/>
                <a:sym typeface="Arial"/>
              </a:endParaRPr>
            </a:p>
            <a:p>
              <a:pPr marL="457200" marR="0" lvl="0" indent="-298450" algn="l" rtl="0">
                <a:lnSpc>
                  <a:spcPct val="100000"/>
                </a:lnSpc>
                <a:spcBef>
                  <a:spcPts val="0"/>
                </a:spcBef>
                <a:spcAft>
                  <a:spcPts val="0"/>
                </a:spcAft>
                <a:buClr>
                  <a:schemeClr val="dk2"/>
                </a:buClr>
                <a:buSzPts val="1100"/>
                <a:buFont typeface="Arial"/>
                <a:buChar char="●"/>
              </a:pPr>
              <a:r>
                <a:rPr lang="en" sz="1100" b="1" i="0" u="none" strike="noStrike" cap="none" dirty="0">
                  <a:solidFill>
                    <a:schemeClr val="tx1"/>
                  </a:solidFill>
                  <a:latin typeface="Arial"/>
                  <a:ea typeface="Arial"/>
                  <a:cs typeface="Arial"/>
                  <a:sym typeface="Arial"/>
                </a:rPr>
                <a:t>PE Ratios</a:t>
              </a:r>
              <a:endParaRPr sz="1100" b="1" i="0" u="none" strike="noStrike" cap="none" dirty="0">
                <a:solidFill>
                  <a:schemeClr val="tx1"/>
                </a:solidFill>
                <a:latin typeface="Arial"/>
                <a:ea typeface="Arial"/>
                <a:cs typeface="Arial"/>
                <a:sym typeface="Arial"/>
              </a:endParaRPr>
            </a:p>
            <a:p>
              <a:pPr marL="457200" marR="0" lvl="0" indent="-298450" algn="l" rtl="0">
                <a:lnSpc>
                  <a:spcPct val="100000"/>
                </a:lnSpc>
                <a:spcBef>
                  <a:spcPts val="0"/>
                </a:spcBef>
                <a:spcAft>
                  <a:spcPts val="0"/>
                </a:spcAft>
                <a:buClr>
                  <a:schemeClr val="dk2"/>
                </a:buClr>
                <a:buSzPts val="1100"/>
                <a:buFont typeface="Arial"/>
                <a:buChar char="●"/>
              </a:pPr>
              <a:r>
                <a:rPr lang="en" sz="1100" b="1" i="0" u="none" strike="noStrike" cap="none" dirty="0">
                  <a:solidFill>
                    <a:schemeClr val="tx1"/>
                  </a:solidFill>
                  <a:latin typeface="Arial"/>
                  <a:ea typeface="Arial"/>
                  <a:cs typeface="Arial"/>
                  <a:sym typeface="Arial"/>
                </a:rPr>
                <a:t>Dividend Yield</a:t>
              </a:r>
              <a:endParaRPr sz="1100" b="1" i="0" u="none" strike="noStrike" cap="none" dirty="0">
                <a:solidFill>
                  <a:schemeClr val="tx1"/>
                </a:solidFill>
                <a:latin typeface="Arial"/>
                <a:ea typeface="Arial"/>
                <a:cs typeface="Arial"/>
                <a:sym typeface="Arial"/>
              </a:endParaRPr>
            </a:p>
            <a:p>
              <a:pPr marL="457200" marR="0" lvl="0" indent="-298450" algn="l" rtl="0">
                <a:lnSpc>
                  <a:spcPct val="100000"/>
                </a:lnSpc>
                <a:spcBef>
                  <a:spcPts val="0"/>
                </a:spcBef>
                <a:spcAft>
                  <a:spcPts val="0"/>
                </a:spcAft>
                <a:buClr>
                  <a:schemeClr val="dk2"/>
                </a:buClr>
                <a:buSzPts val="1100"/>
                <a:buFont typeface="Arial"/>
                <a:buChar char="●"/>
              </a:pPr>
              <a:r>
                <a:rPr lang="en" sz="1100" b="1" i="0" u="none" strike="noStrike" cap="none" dirty="0">
                  <a:solidFill>
                    <a:schemeClr val="tx1"/>
                  </a:solidFill>
                  <a:latin typeface="Arial"/>
                  <a:ea typeface="Arial"/>
                  <a:cs typeface="Arial"/>
                  <a:sym typeface="Arial"/>
                </a:rPr>
                <a:t>52wk High/Low</a:t>
              </a:r>
              <a:endParaRPr sz="1100" b="1" i="0" u="none" strike="noStrike" cap="none" dirty="0">
                <a:solidFill>
                  <a:schemeClr val="tx1"/>
                </a:solidFill>
                <a:latin typeface="Arial"/>
                <a:ea typeface="Arial"/>
                <a:cs typeface="Arial"/>
                <a:sym typeface="Arial"/>
              </a:endParaRPr>
            </a:p>
            <a:p>
              <a:pPr marL="457200" marR="0" lvl="0" indent="0" algn="l" rtl="0">
                <a:lnSpc>
                  <a:spcPct val="100000"/>
                </a:lnSpc>
                <a:spcBef>
                  <a:spcPts val="0"/>
                </a:spcBef>
                <a:spcAft>
                  <a:spcPts val="0"/>
                </a:spcAft>
                <a:buClr>
                  <a:srgbClr val="000000"/>
                </a:buClr>
                <a:buSzPts val="1100"/>
                <a:buFont typeface="Arial"/>
                <a:buNone/>
              </a:pPr>
              <a:endParaRPr sz="1100" b="1" i="0" u="none" strike="noStrike" cap="none" dirty="0">
                <a:solidFill>
                  <a:schemeClr val="tx1"/>
                </a:solidFill>
                <a:latin typeface="Arial"/>
                <a:ea typeface="Arial"/>
                <a:cs typeface="Arial"/>
                <a:sym typeface="Arial"/>
              </a:endParaRPr>
            </a:p>
          </p:txBody>
        </p:sp>
      </p:grpSp>
      <p:grpSp>
        <p:nvGrpSpPr>
          <p:cNvPr id="136" name="Google Shape;136;g36592e60c4d_4_0"/>
          <p:cNvGrpSpPr/>
          <p:nvPr/>
        </p:nvGrpSpPr>
        <p:grpSpPr>
          <a:xfrm>
            <a:off x="1128869" y="2871507"/>
            <a:ext cx="4247674" cy="785150"/>
            <a:chOff x="-968224" y="3741633"/>
            <a:chExt cx="7253542" cy="1336881"/>
          </a:xfrm>
          <a:solidFill>
            <a:schemeClr val="tx1"/>
          </a:solidFill>
        </p:grpSpPr>
        <p:pic>
          <p:nvPicPr>
            <p:cNvPr id="138" name="Google Shape;138;g36592e60c4d_4_0" title="download.png"/>
            <p:cNvPicPr preferRelativeResize="0"/>
            <p:nvPr/>
          </p:nvPicPr>
          <p:blipFill rotWithShape="1">
            <a:blip r:embed="rId12">
              <a:alphaModFix/>
            </a:blip>
            <a:srcRect/>
            <a:stretch/>
          </p:blipFill>
          <p:spPr>
            <a:xfrm>
              <a:off x="5020627" y="4142477"/>
              <a:ext cx="1264691" cy="535200"/>
            </a:xfrm>
            <a:prstGeom prst="rect">
              <a:avLst/>
            </a:prstGeom>
            <a:grpFill/>
            <a:ln>
              <a:noFill/>
            </a:ln>
          </p:spPr>
        </p:pic>
        <p:sp>
          <p:nvSpPr>
            <p:cNvPr id="139" name="Google Shape;139;g36592e60c4d_4_0"/>
            <p:cNvSpPr/>
            <p:nvPr/>
          </p:nvSpPr>
          <p:spPr>
            <a:xfrm>
              <a:off x="-968220" y="3741633"/>
              <a:ext cx="6832800" cy="238500"/>
            </a:xfrm>
            <a:prstGeom prst="uturnArrow">
              <a:avLst>
                <a:gd name="adj1" fmla="val 25000"/>
                <a:gd name="adj2" fmla="val 23285"/>
                <a:gd name="adj3" fmla="val 25000"/>
                <a:gd name="adj4" fmla="val 43750"/>
                <a:gd name="adj5" fmla="val 100000"/>
              </a:avLst>
            </a:prstGeom>
            <a:solidFill>
              <a:schemeClr val="tx1"/>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 name="Google Shape;140;g36592e60c4d_4_0"/>
            <p:cNvSpPr/>
            <p:nvPr/>
          </p:nvSpPr>
          <p:spPr>
            <a:xfrm rot="10800000">
              <a:off x="-968224" y="4840014"/>
              <a:ext cx="6832800" cy="238500"/>
            </a:xfrm>
            <a:prstGeom prst="uturnArrow">
              <a:avLst>
                <a:gd name="adj1" fmla="val 25000"/>
                <a:gd name="adj2" fmla="val 23285"/>
                <a:gd name="adj3" fmla="val 25000"/>
                <a:gd name="adj4" fmla="val 43750"/>
                <a:gd name="adj5" fmla="val 100000"/>
              </a:avLst>
            </a:prstGeom>
            <a:solidFill>
              <a:schemeClr val="tx1"/>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41" name="Google Shape;141;g36592e60c4d_4_0"/>
          <p:cNvSpPr txBox="1"/>
          <p:nvPr/>
        </p:nvSpPr>
        <p:spPr>
          <a:xfrm>
            <a:off x="6412275" y="1258981"/>
            <a:ext cx="1308000" cy="585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600"/>
              <a:buFont typeface="Arial"/>
              <a:buNone/>
            </a:pPr>
            <a:r>
              <a:rPr lang="en" sz="2600" b="1" i="0" u="none" strike="noStrike" cap="none" dirty="0">
                <a:solidFill>
                  <a:schemeClr val="accent1"/>
                </a:solidFill>
                <a:latin typeface="Arial"/>
                <a:ea typeface="Arial"/>
                <a:cs typeface="Arial"/>
                <a:sym typeface="Arial"/>
              </a:rPr>
              <a:t>~42%</a:t>
            </a:r>
            <a:endParaRPr sz="2600" b="1" i="0" u="none" strike="noStrike" cap="none" dirty="0">
              <a:solidFill>
                <a:schemeClr val="accent1"/>
              </a:solidFill>
              <a:latin typeface="Arial"/>
              <a:ea typeface="Arial"/>
              <a:cs typeface="Arial"/>
              <a:sym typeface="Arial"/>
            </a:endParaRPr>
          </a:p>
        </p:txBody>
      </p:sp>
      <p:sp>
        <p:nvSpPr>
          <p:cNvPr id="142" name="Google Shape;142;g36592e60c4d_4_0"/>
          <p:cNvSpPr txBox="1"/>
          <p:nvPr/>
        </p:nvSpPr>
        <p:spPr>
          <a:xfrm>
            <a:off x="8048475" y="1258981"/>
            <a:ext cx="1706700" cy="585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600"/>
              <a:buFont typeface="Arial"/>
              <a:buNone/>
            </a:pPr>
            <a:r>
              <a:rPr lang="en" sz="2600" b="1" i="0" u="none" strike="noStrike" cap="none">
                <a:solidFill>
                  <a:schemeClr val="accent1"/>
                </a:solidFill>
                <a:latin typeface="Arial"/>
                <a:ea typeface="Arial"/>
                <a:cs typeface="Arial"/>
                <a:sym typeface="Arial"/>
              </a:rPr>
              <a:t>~100,500</a:t>
            </a:r>
            <a:endParaRPr sz="2600" b="1" i="0" u="none" strike="noStrike" cap="none">
              <a:solidFill>
                <a:schemeClr val="accent1"/>
              </a:solidFill>
              <a:latin typeface="Arial"/>
              <a:ea typeface="Arial"/>
              <a:cs typeface="Arial"/>
              <a:sym typeface="Arial"/>
            </a:endParaRPr>
          </a:p>
        </p:txBody>
      </p:sp>
      <p:sp>
        <p:nvSpPr>
          <p:cNvPr id="143" name="Google Shape;143;g36592e60c4d_4_0"/>
          <p:cNvSpPr txBox="1"/>
          <p:nvPr/>
        </p:nvSpPr>
        <p:spPr>
          <a:xfrm>
            <a:off x="10246875" y="1258981"/>
            <a:ext cx="1308000" cy="585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600"/>
              <a:buFont typeface="Arial"/>
              <a:buNone/>
            </a:pPr>
            <a:r>
              <a:rPr lang="en" sz="2600" b="1" i="0" u="none" strike="noStrike" cap="none">
                <a:solidFill>
                  <a:schemeClr val="accent1"/>
                </a:solidFill>
                <a:latin typeface="Arial"/>
                <a:ea typeface="Arial"/>
                <a:cs typeface="Arial"/>
                <a:sym typeface="Arial"/>
              </a:rPr>
              <a:t>~1,600</a:t>
            </a:r>
            <a:endParaRPr sz="2600" b="1" i="0" u="none" strike="noStrike" cap="none">
              <a:solidFill>
                <a:schemeClr val="accent1"/>
              </a:solidFill>
              <a:latin typeface="Arial"/>
              <a:ea typeface="Arial"/>
              <a:cs typeface="Arial"/>
              <a:sym typeface="Arial"/>
            </a:endParaRPr>
          </a:p>
        </p:txBody>
      </p:sp>
      <p:sp>
        <p:nvSpPr>
          <p:cNvPr id="144" name="Google Shape;144;g36592e60c4d_4_0"/>
          <p:cNvSpPr txBox="1"/>
          <p:nvPr/>
        </p:nvSpPr>
        <p:spPr>
          <a:xfrm>
            <a:off x="6189150" y="1743681"/>
            <a:ext cx="15312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dirty="0">
                <a:solidFill>
                  <a:schemeClr val="tx1"/>
                </a:solidFill>
                <a:latin typeface="Arial"/>
                <a:ea typeface="Arial"/>
                <a:cs typeface="Arial"/>
                <a:sym typeface="Arial"/>
              </a:rPr>
              <a:t>Of companies were listed on </a:t>
            </a:r>
            <a:r>
              <a:rPr lang="en" sz="1200" b="1" dirty="0">
                <a:solidFill>
                  <a:schemeClr val="tx1"/>
                </a:solidFill>
              </a:rPr>
              <a:t>Yahoo! Finance</a:t>
            </a:r>
            <a:endParaRPr sz="1200" b="1" i="0" u="none" strike="noStrike" cap="none" dirty="0">
              <a:solidFill>
                <a:schemeClr val="tx1"/>
              </a:solidFill>
              <a:latin typeface="Arial"/>
              <a:ea typeface="Arial"/>
              <a:cs typeface="Arial"/>
              <a:sym typeface="Arial"/>
            </a:endParaRPr>
          </a:p>
        </p:txBody>
      </p:sp>
      <p:sp>
        <p:nvSpPr>
          <p:cNvPr id="145" name="Google Shape;145;g36592e60c4d_4_0"/>
          <p:cNvSpPr txBox="1"/>
          <p:nvPr/>
        </p:nvSpPr>
        <p:spPr>
          <a:xfrm>
            <a:off x="8048475" y="1743681"/>
            <a:ext cx="17067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chemeClr val="tx1"/>
                </a:solidFill>
                <a:latin typeface="Arial"/>
                <a:ea typeface="Arial"/>
                <a:cs typeface="Arial"/>
                <a:sym typeface="Arial"/>
              </a:rPr>
              <a:t>Insider transactions combined with price data</a:t>
            </a:r>
            <a:endParaRPr sz="1200" b="1" i="0" u="none" strike="noStrike" cap="none">
              <a:solidFill>
                <a:schemeClr val="tx1"/>
              </a:solidFill>
              <a:latin typeface="Arial"/>
              <a:ea typeface="Arial"/>
              <a:cs typeface="Arial"/>
              <a:sym typeface="Arial"/>
            </a:endParaRPr>
          </a:p>
        </p:txBody>
      </p:sp>
      <p:sp>
        <p:nvSpPr>
          <p:cNvPr id="146" name="Google Shape;146;g36592e60c4d_4_0"/>
          <p:cNvSpPr txBox="1"/>
          <p:nvPr/>
        </p:nvSpPr>
        <p:spPr>
          <a:xfrm>
            <a:off x="10246875" y="1743681"/>
            <a:ext cx="13755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chemeClr val="tx1"/>
                </a:solidFill>
                <a:latin typeface="Arial"/>
                <a:ea typeface="Arial"/>
                <a:cs typeface="Arial"/>
                <a:sym typeface="Arial"/>
              </a:rPr>
              <a:t>Transactions occurring in the last 6 months</a:t>
            </a:r>
            <a:endParaRPr sz="1200" b="1" i="0" u="none" strike="noStrike" cap="none">
              <a:solidFill>
                <a:schemeClr val="tx1"/>
              </a:solidFill>
              <a:latin typeface="Arial"/>
              <a:ea typeface="Arial"/>
              <a:cs typeface="Arial"/>
              <a:sym typeface="Arial"/>
            </a:endParaRPr>
          </a:p>
        </p:txBody>
      </p:sp>
      <p:sp>
        <p:nvSpPr>
          <p:cNvPr id="149" name="Google Shape;149;g36592e60c4d_4_0"/>
          <p:cNvSpPr txBox="1">
            <a:spLocks noGrp="1"/>
          </p:cNvSpPr>
          <p:nvPr>
            <p:ph type="title"/>
          </p:nvPr>
        </p:nvSpPr>
        <p:spPr>
          <a:xfrm>
            <a:off x="433650" y="388325"/>
            <a:ext cx="3202200" cy="512700"/>
          </a:xfrm>
          <a:prstGeom prst="rect">
            <a:avLst/>
          </a:prstGeom>
          <a:noFill/>
          <a:ln>
            <a:noFill/>
          </a:ln>
        </p:spPr>
        <p:txBody>
          <a:bodyPr spcFirstLastPara="1" wrap="square" lIns="121875" tIns="121875" rIns="121875" bIns="121875" anchor="t" anchorCtr="0">
            <a:noAutofit/>
          </a:bodyPr>
          <a:lstStyle/>
          <a:p>
            <a:pPr marL="0" lvl="0" indent="0" algn="l" rtl="0">
              <a:lnSpc>
                <a:spcPct val="100000"/>
              </a:lnSpc>
              <a:spcBef>
                <a:spcPts val="0"/>
              </a:spcBef>
              <a:spcAft>
                <a:spcPts val="0"/>
              </a:spcAft>
              <a:buSzPts val="3700"/>
              <a:buNone/>
            </a:pPr>
            <a:r>
              <a:rPr lang="en" sz="2400" dirty="0">
                <a:solidFill>
                  <a:schemeClr val="tx1"/>
                </a:solidFill>
              </a:rPr>
              <a:t>Data Sources</a:t>
            </a:r>
            <a:endParaRPr sz="2400" dirty="0">
              <a:solidFill>
                <a:schemeClr val="tx1"/>
              </a:solidFill>
            </a:endParaRPr>
          </a:p>
        </p:txBody>
      </p:sp>
      <p:sp>
        <p:nvSpPr>
          <p:cNvPr id="2" name="Rectangle 1">
            <a:extLst>
              <a:ext uri="{FF2B5EF4-FFF2-40B4-BE49-F238E27FC236}">
                <a16:creationId xmlns:a16="http://schemas.microsoft.com/office/drawing/2014/main" id="{024B9D89-5782-6442-F2EA-403BDA64B201}"/>
              </a:ext>
            </a:extLst>
          </p:cNvPr>
          <p:cNvSpPr/>
          <p:nvPr/>
        </p:nvSpPr>
        <p:spPr>
          <a:xfrm rot="10800000" flipV="1">
            <a:off x="-1" y="946962"/>
            <a:ext cx="9068025" cy="45719"/>
          </a:xfrm>
          <a:prstGeom prst="rect">
            <a:avLst/>
          </a:prstGeom>
          <a:gradFill>
            <a:gsLst>
              <a:gs pos="100000">
                <a:srgbClr val="14232E"/>
              </a:gs>
              <a:gs pos="0">
                <a:schemeClr val="tx2">
                  <a:lumMod val="20000"/>
                  <a:lumOff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2F66145-243E-E558-C63A-36BA20DB7E96}"/>
              </a:ext>
            </a:extLst>
          </p:cNvPr>
          <p:cNvSpPr/>
          <p:nvPr/>
        </p:nvSpPr>
        <p:spPr>
          <a:xfrm>
            <a:off x="3410275" y="6456178"/>
            <a:ext cx="8781725" cy="45719"/>
          </a:xfrm>
          <a:prstGeom prst="rect">
            <a:avLst/>
          </a:prstGeom>
          <a:gradFill>
            <a:gsLst>
              <a:gs pos="100000">
                <a:srgbClr val="9E7316"/>
              </a:gs>
              <a:gs pos="0">
                <a:schemeClr val="tx2">
                  <a:lumMod val="20000"/>
                  <a:lumOff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3"/>
        <p:cNvGrpSpPr/>
        <p:nvPr/>
      </p:nvGrpSpPr>
      <p:grpSpPr>
        <a:xfrm>
          <a:off x="0" y="0"/>
          <a:ext cx="0" cy="0"/>
          <a:chOff x="0" y="0"/>
          <a:chExt cx="0" cy="0"/>
        </a:xfrm>
      </p:grpSpPr>
      <p:pic>
        <p:nvPicPr>
          <p:cNvPr id="11" name="Picture 10">
            <a:extLst>
              <a:ext uri="{FF2B5EF4-FFF2-40B4-BE49-F238E27FC236}">
                <a16:creationId xmlns:a16="http://schemas.microsoft.com/office/drawing/2014/main" id="{746C00CB-C9E4-F938-9B46-503251EF3987}"/>
              </a:ext>
            </a:extLst>
          </p:cNvPr>
          <p:cNvPicPr>
            <a:picLocks noChangeAspect="1"/>
          </p:cNvPicPr>
          <p:nvPr/>
        </p:nvPicPr>
        <p:blipFill>
          <a:blip r:embed="rId3"/>
          <a:stretch>
            <a:fillRect/>
          </a:stretch>
        </p:blipFill>
        <p:spPr>
          <a:xfrm>
            <a:off x="3125491" y="4624577"/>
            <a:ext cx="1798995" cy="1438685"/>
          </a:xfrm>
          <a:prstGeom prst="rect">
            <a:avLst/>
          </a:prstGeom>
        </p:spPr>
      </p:pic>
      <p:sp>
        <p:nvSpPr>
          <p:cNvPr id="187" name="Google Shape;187;p5"/>
          <p:cNvSpPr/>
          <p:nvPr/>
        </p:nvSpPr>
        <p:spPr>
          <a:xfrm>
            <a:off x="3127133" y="5055563"/>
            <a:ext cx="79754" cy="765309"/>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9" name="Google Shape;189;p5"/>
          <p:cNvSpPr txBox="1"/>
          <p:nvPr/>
        </p:nvSpPr>
        <p:spPr>
          <a:xfrm rot="16200000">
            <a:off x="2504597" y="5172393"/>
            <a:ext cx="1290799" cy="277056"/>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600" dirty="0">
                <a:solidFill>
                  <a:schemeClr val="tx1"/>
                </a:solidFill>
              </a:rPr>
              <a:t>Average Price Transaction Date</a:t>
            </a:r>
            <a:endParaRPr sz="600" dirty="0">
              <a:solidFill>
                <a:schemeClr val="tx1"/>
              </a:solidFill>
            </a:endParaRPr>
          </a:p>
        </p:txBody>
      </p:sp>
      <p:pic>
        <p:nvPicPr>
          <p:cNvPr id="9" name="Picture 8">
            <a:extLst>
              <a:ext uri="{FF2B5EF4-FFF2-40B4-BE49-F238E27FC236}">
                <a16:creationId xmlns:a16="http://schemas.microsoft.com/office/drawing/2014/main" id="{DDD06F57-0EAF-CF9E-5125-B880E7AB4BFE}"/>
              </a:ext>
            </a:extLst>
          </p:cNvPr>
          <p:cNvPicPr>
            <a:picLocks noChangeAspect="1"/>
          </p:cNvPicPr>
          <p:nvPr/>
        </p:nvPicPr>
        <p:blipFill>
          <a:blip r:embed="rId4"/>
          <a:stretch>
            <a:fillRect/>
          </a:stretch>
        </p:blipFill>
        <p:spPr>
          <a:xfrm>
            <a:off x="3209346" y="3308927"/>
            <a:ext cx="1721887" cy="1429827"/>
          </a:xfrm>
          <a:prstGeom prst="rect">
            <a:avLst/>
          </a:prstGeom>
        </p:spPr>
      </p:pic>
      <p:sp>
        <p:nvSpPr>
          <p:cNvPr id="186" name="Google Shape;186;p5"/>
          <p:cNvSpPr/>
          <p:nvPr/>
        </p:nvSpPr>
        <p:spPr>
          <a:xfrm>
            <a:off x="3122568" y="3414121"/>
            <a:ext cx="139154" cy="1304418"/>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8" name="Google Shape;188;p5"/>
          <p:cNvSpPr txBox="1"/>
          <p:nvPr/>
        </p:nvSpPr>
        <p:spPr>
          <a:xfrm rot="16200000">
            <a:off x="2531893" y="3831296"/>
            <a:ext cx="1290799" cy="277056"/>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600">
                <a:solidFill>
                  <a:schemeClr val="tx1"/>
                </a:solidFill>
              </a:rPr>
              <a:t>Average Price Transaction Date</a:t>
            </a:r>
            <a:endParaRPr sz="600">
              <a:solidFill>
                <a:schemeClr val="tx1"/>
              </a:solidFill>
            </a:endParaRPr>
          </a:p>
        </p:txBody>
      </p:sp>
      <p:pic>
        <p:nvPicPr>
          <p:cNvPr id="7" name="Picture 6">
            <a:extLst>
              <a:ext uri="{FF2B5EF4-FFF2-40B4-BE49-F238E27FC236}">
                <a16:creationId xmlns:a16="http://schemas.microsoft.com/office/drawing/2014/main" id="{5942283C-603A-8550-6AD4-6AF120BC06A6}"/>
              </a:ext>
            </a:extLst>
          </p:cNvPr>
          <p:cNvPicPr>
            <a:picLocks noChangeAspect="1"/>
          </p:cNvPicPr>
          <p:nvPr/>
        </p:nvPicPr>
        <p:blipFill>
          <a:blip r:embed="rId5"/>
          <a:stretch>
            <a:fillRect/>
          </a:stretch>
        </p:blipFill>
        <p:spPr>
          <a:xfrm>
            <a:off x="1349385" y="4660935"/>
            <a:ext cx="1770348" cy="1370511"/>
          </a:xfrm>
          <a:prstGeom prst="rect">
            <a:avLst/>
          </a:prstGeom>
        </p:spPr>
      </p:pic>
      <p:sp>
        <p:nvSpPr>
          <p:cNvPr id="198" name="Google Shape;198;p5"/>
          <p:cNvSpPr/>
          <p:nvPr/>
        </p:nvSpPr>
        <p:spPr>
          <a:xfrm rot="5400000">
            <a:off x="3212373" y="2944733"/>
            <a:ext cx="81110" cy="3497957"/>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9" name="Google Shape;199;p5"/>
          <p:cNvSpPr txBox="1"/>
          <p:nvPr/>
        </p:nvSpPr>
        <p:spPr>
          <a:xfrm rot="21599260">
            <a:off x="1674425" y="4534185"/>
            <a:ext cx="1290799" cy="277056"/>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600" dirty="0">
                <a:solidFill>
                  <a:schemeClr val="tx1"/>
                </a:solidFill>
              </a:rPr>
              <a:t>Transaction Date</a:t>
            </a:r>
            <a:endParaRPr sz="600" dirty="0">
              <a:solidFill>
                <a:schemeClr val="tx1"/>
              </a:solidFill>
            </a:endParaRPr>
          </a:p>
        </p:txBody>
      </p:sp>
      <p:pic>
        <p:nvPicPr>
          <p:cNvPr id="5" name="Picture 4">
            <a:extLst>
              <a:ext uri="{FF2B5EF4-FFF2-40B4-BE49-F238E27FC236}">
                <a16:creationId xmlns:a16="http://schemas.microsoft.com/office/drawing/2014/main" id="{07C26322-3D14-CA60-9012-C57FEEF8F5CA}"/>
              </a:ext>
            </a:extLst>
          </p:cNvPr>
          <p:cNvPicPr>
            <a:picLocks noChangeAspect="1"/>
          </p:cNvPicPr>
          <p:nvPr/>
        </p:nvPicPr>
        <p:blipFill>
          <a:blip r:embed="rId6"/>
          <a:stretch>
            <a:fillRect/>
          </a:stretch>
        </p:blipFill>
        <p:spPr>
          <a:xfrm>
            <a:off x="1350593" y="3365585"/>
            <a:ext cx="1747667" cy="1352953"/>
          </a:xfrm>
          <a:prstGeom prst="rect">
            <a:avLst/>
          </a:prstGeom>
        </p:spPr>
      </p:pic>
      <p:sp>
        <p:nvSpPr>
          <p:cNvPr id="173" name="Google Shape;173;p5"/>
          <p:cNvSpPr/>
          <p:nvPr/>
        </p:nvSpPr>
        <p:spPr>
          <a:xfrm>
            <a:off x="2171913" y="3449624"/>
            <a:ext cx="902563" cy="774312"/>
          </a:xfrm>
          <a:prstGeom prst="rect">
            <a:avLst/>
          </a:prstGeom>
          <a:solidFill>
            <a:srgbClr val="81B681">
              <a:alpha val="30190"/>
            </a:srgbClr>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2" name="Google Shape;172;p5"/>
          <p:cNvSpPr/>
          <p:nvPr/>
        </p:nvSpPr>
        <p:spPr>
          <a:xfrm>
            <a:off x="2172008" y="4223982"/>
            <a:ext cx="902563" cy="360460"/>
          </a:xfrm>
          <a:prstGeom prst="rect">
            <a:avLst/>
          </a:prstGeom>
          <a:solidFill>
            <a:srgbClr val="F4CCCC">
              <a:alpha val="3396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1" name="Google Shape;171;p5"/>
          <p:cNvSpPr/>
          <p:nvPr/>
        </p:nvSpPr>
        <p:spPr>
          <a:xfrm>
            <a:off x="1531315" y="3449624"/>
            <a:ext cx="640693" cy="1142117"/>
          </a:xfrm>
          <a:prstGeom prst="rect">
            <a:avLst/>
          </a:prstGeom>
          <a:solidFill>
            <a:srgbClr val="F4CCCC">
              <a:alpha val="3396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8" name="Google Shape;178;p5"/>
          <p:cNvSpPr/>
          <p:nvPr/>
        </p:nvSpPr>
        <p:spPr>
          <a:xfrm>
            <a:off x="3328534" y="4752738"/>
            <a:ext cx="1576307" cy="1164716"/>
          </a:xfrm>
          <a:prstGeom prst="rect">
            <a:avLst/>
          </a:prstGeom>
          <a:solidFill>
            <a:srgbClr val="81B681">
              <a:alpha val="301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7" name="Google Shape;177;p5"/>
          <p:cNvSpPr/>
          <p:nvPr/>
        </p:nvSpPr>
        <p:spPr>
          <a:xfrm>
            <a:off x="3335358" y="4446704"/>
            <a:ext cx="189270" cy="152828"/>
          </a:xfrm>
          <a:prstGeom prst="rect">
            <a:avLst/>
          </a:prstGeom>
          <a:solidFill>
            <a:srgbClr val="81B681">
              <a:alpha val="30190"/>
            </a:srgbClr>
          </a:solidFill>
          <a:ln w="9525"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6" name="Google Shape;176;p5"/>
          <p:cNvSpPr/>
          <p:nvPr/>
        </p:nvSpPr>
        <p:spPr>
          <a:xfrm>
            <a:off x="3524581" y="4446704"/>
            <a:ext cx="1387038" cy="152828"/>
          </a:xfrm>
          <a:prstGeom prst="rect">
            <a:avLst/>
          </a:prstGeom>
          <a:solidFill>
            <a:srgbClr val="F4CCCC">
              <a:alpha val="3396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5" name="Google Shape;175;p5"/>
          <p:cNvSpPr/>
          <p:nvPr/>
        </p:nvSpPr>
        <p:spPr>
          <a:xfrm>
            <a:off x="3335358" y="3442726"/>
            <a:ext cx="1576307" cy="1003978"/>
          </a:xfrm>
          <a:prstGeom prst="rect">
            <a:avLst/>
          </a:prstGeom>
          <a:solidFill>
            <a:srgbClr val="F4CCCC">
              <a:alpha val="3396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4" name="Google Shape;154;p5"/>
          <p:cNvSpPr txBox="1">
            <a:spLocks noGrp="1"/>
          </p:cNvSpPr>
          <p:nvPr>
            <p:ph type="body" idx="1"/>
          </p:nvPr>
        </p:nvSpPr>
        <p:spPr>
          <a:xfrm>
            <a:off x="470300" y="1048731"/>
            <a:ext cx="5661000" cy="1891800"/>
          </a:xfrm>
          <a:prstGeom prst="rect">
            <a:avLst/>
          </a:prstGeom>
          <a:noFill/>
          <a:ln>
            <a:noFill/>
          </a:ln>
        </p:spPr>
        <p:txBody>
          <a:bodyPr spcFirstLastPara="1" wrap="square" lIns="91425" tIns="0" rIns="91425" bIns="91425" anchor="t" anchorCtr="0">
            <a:noAutofit/>
          </a:bodyPr>
          <a:lstStyle/>
          <a:p>
            <a:pPr marL="0" lvl="0" indent="0" algn="l" rtl="0">
              <a:lnSpc>
                <a:spcPct val="115000"/>
              </a:lnSpc>
              <a:spcBef>
                <a:spcPts val="600"/>
              </a:spcBef>
              <a:spcAft>
                <a:spcPts val="0"/>
              </a:spcAft>
              <a:buSzPts val="1100"/>
              <a:buNone/>
            </a:pPr>
            <a:r>
              <a:rPr lang="en" sz="1200" b="1" dirty="0">
                <a:solidFill>
                  <a:schemeClr val="tx1"/>
                </a:solidFill>
              </a:rPr>
              <a:t>Form 4 - Transaction Dates and Prices</a:t>
            </a:r>
            <a:endParaRPr sz="1200" b="1" dirty="0">
              <a:solidFill>
                <a:schemeClr val="tx1"/>
              </a:solidFill>
            </a:endParaRPr>
          </a:p>
          <a:p>
            <a:pPr marL="0" lvl="0" indent="0" algn="l" rtl="0">
              <a:lnSpc>
                <a:spcPct val="115000"/>
              </a:lnSpc>
              <a:spcBef>
                <a:spcPts val="600"/>
              </a:spcBef>
              <a:spcAft>
                <a:spcPts val="0"/>
              </a:spcAft>
              <a:buSzPts val="1100"/>
              <a:buNone/>
            </a:pPr>
            <a:r>
              <a:rPr lang="en" sz="1000" dirty="0">
                <a:solidFill>
                  <a:schemeClr val="tx1"/>
                </a:solidFill>
              </a:rPr>
              <a:t>Form 4 data filed with the SEC is not free of errors, so it was essential to validate the accuracy of the reported transactions before analysis. To ensure data quality, we first grouped transactions by insider and date, then evaluated the consistency of transaction dates. Since our dataset spans from 2006 through 2025, we excluded any entries with dates falling outside this range </a:t>
            </a:r>
            <a:r>
              <a:rPr lang="en" sz="1000" b="1" dirty="0">
                <a:solidFill>
                  <a:schemeClr val="tx1"/>
                </a:solidFill>
              </a:rPr>
              <a:t>(Fig 2a)</a:t>
            </a:r>
            <a:r>
              <a:rPr lang="en" sz="1000" dirty="0">
                <a:solidFill>
                  <a:schemeClr val="tx1"/>
                </a:solidFill>
              </a:rPr>
              <a:t>.</a:t>
            </a:r>
            <a:endParaRPr sz="1000" dirty="0">
              <a:solidFill>
                <a:schemeClr val="tx1"/>
              </a:solidFill>
            </a:endParaRPr>
          </a:p>
          <a:p>
            <a:pPr marL="0" lvl="0" indent="0" algn="l" rtl="0">
              <a:lnSpc>
                <a:spcPct val="115000"/>
              </a:lnSpc>
              <a:spcBef>
                <a:spcPts val="600"/>
              </a:spcBef>
              <a:spcAft>
                <a:spcPts val="0"/>
              </a:spcAft>
              <a:buSzPts val="1100"/>
              <a:buNone/>
            </a:pPr>
            <a:r>
              <a:rPr lang="en" sz="1000" dirty="0">
                <a:solidFill>
                  <a:schemeClr val="tx1"/>
                </a:solidFill>
              </a:rPr>
              <a:t>Additionally, we identified a number of records with stock prices that appeared inconsistent or abnormal </a:t>
            </a:r>
            <a:r>
              <a:rPr lang="en" sz="1000" b="1" dirty="0">
                <a:solidFill>
                  <a:schemeClr val="tx1"/>
                </a:solidFill>
              </a:rPr>
              <a:t>(Fig 2b)</a:t>
            </a:r>
            <a:r>
              <a:rPr lang="en" sz="1000" dirty="0">
                <a:solidFill>
                  <a:schemeClr val="tx1"/>
                </a:solidFill>
              </a:rPr>
              <a:t> to the price on the date of reported transaction. To address this, we compared the reported average price per share for each transaction against the asset’s actual trading range (daily high and low) on the transaction date. Any transactions with prices falling outside this range were flagged as inaccurate and were removed to maintain the integrity of the dataset.</a:t>
            </a:r>
            <a:endParaRPr sz="1000" dirty="0">
              <a:solidFill>
                <a:schemeClr val="tx1"/>
              </a:solidFill>
            </a:endParaRPr>
          </a:p>
          <a:p>
            <a:pPr marL="0" lvl="0" indent="0" algn="l" rtl="0">
              <a:lnSpc>
                <a:spcPct val="115000"/>
              </a:lnSpc>
              <a:spcBef>
                <a:spcPts val="1200"/>
              </a:spcBef>
              <a:spcAft>
                <a:spcPts val="0"/>
              </a:spcAft>
              <a:buClr>
                <a:schemeClr val="dk1"/>
              </a:buClr>
              <a:buSzPts val="1100"/>
              <a:buFont typeface="Arial"/>
              <a:buNone/>
            </a:pPr>
            <a:endParaRPr sz="1050" dirty="0">
              <a:solidFill>
                <a:schemeClr val="tx1"/>
              </a:solidFill>
            </a:endParaRPr>
          </a:p>
          <a:p>
            <a:pPr marL="0" lvl="0" indent="0" algn="l" rtl="0">
              <a:lnSpc>
                <a:spcPct val="115000"/>
              </a:lnSpc>
              <a:spcBef>
                <a:spcPts val="1200"/>
              </a:spcBef>
              <a:spcAft>
                <a:spcPts val="600"/>
              </a:spcAft>
              <a:buSzPts val="1100"/>
              <a:buNone/>
            </a:pPr>
            <a:endParaRPr dirty="0">
              <a:solidFill>
                <a:schemeClr val="tx1"/>
              </a:solidFill>
            </a:endParaRPr>
          </a:p>
        </p:txBody>
      </p:sp>
      <p:sp>
        <p:nvSpPr>
          <p:cNvPr id="155" name="Google Shape;155;p5"/>
          <p:cNvSpPr txBox="1"/>
          <p:nvPr/>
        </p:nvSpPr>
        <p:spPr>
          <a:xfrm>
            <a:off x="-84050" y="-938500"/>
            <a:ext cx="2423400" cy="630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2"/>
              </a:solidFill>
              <a:latin typeface="Arial"/>
              <a:ea typeface="Arial"/>
              <a:cs typeface="Arial"/>
              <a:sym typeface="Arial"/>
            </a:endParaRPr>
          </a:p>
        </p:txBody>
      </p:sp>
      <p:sp>
        <p:nvSpPr>
          <p:cNvPr id="156" name="Google Shape;156;p5"/>
          <p:cNvSpPr txBox="1"/>
          <p:nvPr/>
        </p:nvSpPr>
        <p:spPr>
          <a:xfrm>
            <a:off x="11773475" y="6502122"/>
            <a:ext cx="261600" cy="295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dirty="0">
                <a:solidFill>
                  <a:schemeClr val="dk1"/>
                </a:solidFill>
              </a:rPr>
              <a:t>5</a:t>
            </a:r>
            <a:endParaRPr sz="1200" b="1" i="0" u="none" strike="noStrike" cap="none" dirty="0">
              <a:solidFill>
                <a:schemeClr val="dk1"/>
              </a:solidFill>
              <a:latin typeface="Arial"/>
              <a:ea typeface="Arial"/>
              <a:cs typeface="Arial"/>
              <a:sym typeface="Arial"/>
            </a:endParaRPr>
          </a:p>
        </p:txBody>
      </p:sp>
      <p:sp>
        <p:nvSpPr>
          <p:cNvPr id="157" name="Google Shape;157;p5"/>
          <p:cNvSpPr txBox="1">
            <a:spLocks noGrp="1"/>
          </p:cNvSpPr>
          <p:nvPr>
            <p:ph type="body" idx="1"/>
          </p:nvPr>
        </p:nvSpPr>
        <p:spPr>
          <a:xfrm>
            <a:off x="6455300" y="4100691"/>
            <a:ext cx="5207700" cy="2600700"/>
          </a:xfrm>
          <a:prstGeom prst="rect">
            <a:avLst/>
          </a:prstGeom>
          <a:noFill/>
          <a:ln>
            <a:noFill/>
          </a:ln>
        </p:spPr>
        <p:txBody>
          <a:bodyPr spcFirstLastPara="1" wrap="square" lIns="91425" tIns="0" rIns="91425" bIns="91425" anchor="t" anchorCtr="0">
            <a:noAutofit/>
          </a:bodyPr>
          <a:lstStyle/>
          <a:p>
            <a:pPr marL="0" lvl="0" indent="0" algn="l" rtl="0">
              <a:lnSpc>
                <a:spcPct val="115000"/>
              </a:lnSpc>
              <a:spcBef>
                <a:spcPts val="600"/>
              </a:spcBef>
              <a:spcAft>
                <a:spcPts val="0"/>
              </a:spcAft>
              <a:buSzPts val="1100"/>
              <a:buNone/>
            </a:pPr>
            <a:r>
              <a:rPr lang="en" sz="1200" b="1" dirty="0">
                <a:solidFill>
                  <a:schemeClr val="tx1"/>
                </a:solidFill>
              </a:rPr>
              <a:t>Form 4 - Insider Roles and Titles</a:t>
            </a:r>
            <a:endParaRPr sz="1200" b="1" dirty="0">
              <a:solidFill>
                <a:schemeClr val="tx1"/>
              </a:solidFill>
            </a:endParaRPr>
          </a:p>
          <a:p>
            <a:pPr marL="0" lvl="0" indent="0" algn="l" rtl="0">
              <a:lnSpc>
                <a:spcPct val="115000"/>
              </a:lnSpc>
              <a:spcBef>
                <a:spcPts val="1200"/>
              </a:spcBef>
              <a:spcAft>
                <a:spcPts val="0"/>
              </a:spcAft>
              <a:buClr>
                <a:schemeClr val="dk1"/>
              </a:buClr>
              <a:buSzPts val="1100"/>
              <a:buFont typeface="Arial"/>
              <a:buNone/>
            </a:pPr>
            <a:r>
              <a:rPr lang="en" sz="1000" dirty="0">
                <a:solidFill>
                  <a:schemeClr val="tx1"/>
                </a:solidFill>
              </a:rPr>
              <a:t>Insider roles and titles reported on Form 4 lack a standardized format, and individuals often hold multiple positions simultaneously. As a result, this field exhibited considerable variability and required manual normalization for meaningful analysis. We systematically cleaned and standardized the reported roles and titles to ensure consistency across records, enabling us to analyze insider activity based on position more effectively.</a:t>
            </a:r>
            <a:endParaRPr sz="1000" dirty="0">
              <a:solidFill>
                <a:schemeClr val="tx1"/>
              </a:solidFill>
            </a:endParaRPr>
          </a:p>
          <a:p>
            <a:pPr marL="0" lvl="0" indent="0" algn="l" rtl="0">
              <a:lnSpc>
                <a:spcPct val="115000"/>
              </a:lnSpc>
              <a:spcBef>
                <a:spcPts val="1200"/>
              </a:spcBef>
              <a:spcAft>
                <a:spcPts val="1200"/>
              </a:spcAft>
              <a:buClr>
                <a:schemeClr val="dk1"/>
              </a:buClr>
              <a:buSzPts val="1100"/>
              <a:buFont typeface="Arial"/>
              <a:buNone/>
            </a:pPr>
            <a:r>
              <a:rPr lang="en" sz="1000" dirty="0">
                <a:solidFill>
                  <a:schemeClr val="tx1"/>
                </a:solidFill>
              </a:rPr>
              <a:t>Insiders primarily fell into one of three role categories: Director, Officer, or 10% Owner. Among these, Directors were the most active, accounting for over 13,000 transactions in our dataset. Titles among Officers varied widely, though the most frequently observed was Chief Executive Officer, with just over 3,500 transactions recorded </a:t>
            </a:r>
            <a:r>
              <a:rPr lang="en" sz="1000" b="1" dirty="0">
                <a:solidFill>
                  <a:schemeClr val="tx1"/>
                </a:solidFill>
              </a:rPr>
              <a:t>(Fig 3)</a:t>
            </a:r>
            <a:r>
              <a:rPr lang="en" sz="1000" dirty="0">
                <a:solidFill>
                  <a:schemeClr val="tx1"/>
                </a:solidFill>
              </a:rPr>
              <a:t>.</a:t>
            </a:r>
            <a:endParaRPr sz="1000" dirty="0">
              <a:solidFill>
                <a:schemeClr val="tx1"/>
              </a:solidFill>
            </a:endParaRPr>
          </a:p>
        </p:txBody>
      </p:sp>
      <p:grpSp>
        <p:nvGrpSpPr>
          <p:cNvPr id="14" name="Group 13">
            <a:extLst>
              <a:ext uri="{FF2B5EF4-FFF2-40B4-BE49-F238E27FC236}">
                <a16:creationId xmlns:a16="http://schemas.microsoft.com/office/drawing/2014/main" id="{5C500E84-3D55-9D2B-DA38-A667BBE7A9C7}"/>
              </a:ext>
            </a:extLst>
          </p:cNvPr>
          <p:cNvGrpSpPr/>
          <p:nvPr/>
        </p:nvGrpSpPr>
        <p:grpSpPr>
          <a:xfrm>
            <a:off x="6545950" y="1032280"/>
            <a:ext cx="4894115" cy="3055492"/>
            <a:chOff x="6545950" y="1032280"/>
            <a:chExt cx="4894115" cy="3055492"/>
          </a:xfrm>
        </p:grpSpPr>
        <p:pic>
          <p:nvPicPr>
            <p:cNvPr id="13" name="Picture 12">
              <a:extLst>
                <a:ext uri="{FF2B5EF4-FFF2-40B4-BE49-F238E27FC236}">
                  <a16:creationId xmlns:a16="http://schemas.microsoft.com/office/drawing/2014/main" id="{BEB364A4-9ED1-B0B7-3D9F-7806A631C397}"/>
                </a:ext>
              </a:extLst>
            </p:cNvPr>
            <p:cNvPicPr>
              <a:picLocks noChangeAspect="1"/>
            </p:cNvPicPr>
            <p:nvPr/>
          </p:nvPicPr>
          <p:blipFill>
            <a:blip r:embed="rId7"/>
            <a:stretch>
              <a:fillRect/>
            </a:stretch>
          </p:blipFill>
          <p:spPr>
            <a:xfrm>
              <a:off x="6545950" y="1032280"/>
              <a:ext cx="4281199" cy="2731926"/>
            </a:xfrm>
            <a:prstGeom prst="rect">
              <a:avLst/>
            </a:prstGeom>
          </p:spPr>
        </p:pic>
        <p:sp>
          <p:nvSpPr>
            <p:cNvPr id="159" name="Google Shape;159;p5"/>
            <p:cNvSpPr txBox="1"/>
            <p:nvPr/>
          </p:nvSpPr>
          <p:spPr>
            <a:xfrm>
              <a:off x="6644350" y="3656706"/>
              <a:ext cx="4795715" cy="43106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dirty="0">
                  <a:solidFill>
                    <a:schemeClr val="tx1">
                      <a:lumMod val="90000"/>
                      <a:lumOff val="10000"/>
                    </a:schemeClr>
                  </a:solidFill>
                </a:rPr>
                <a:t>Figure 3:</a:t>
              </a:r>
              <a:r>
                <a:rPr lang="en" sz="800" dirty="0">
                  <a:solidFill>
                    <a:schemeClr val="tx1">
                      <a:lumMod val="90000"/>
                      <a:lumOff val="10000"/>
                    </a:schemeClr>
                  </a:solidFill>
                </a:rPr>
                <a:t> Top 10 insider roles and titles. Roles refer to generalized categories of insider positions, while titles represent the specific job titles held by individuals.</a:t>
              </a:r>
              <a:endParaRPr sz="800" dirty="0">
                <a:solidFill>
                  <a:schemeClr val="tx1">
                    <a:lumMod val="90000"/>
                    <a:lumOff val="10000"/>
                  </a:schemeClr>
                </a:solidFill>
              </a:endParaRPr>
            </a:p>
          </p:txBody>
        </p:sp>
      </p:grpSp>
      <p:sp>
        <p:nvSpPr>
          <p:cNvPr id="190" name="Google Shape;190;p5"/>
          <p:cNvSpPr/>
          <p:nvPr/>
        </p:nvSpPr>
        <p:spPr>
          <a:xfrm>
            <a:off x="1328074" y="3851883"/>
            <a:ext cx="79754" cy="356533"/>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1" name="Google Shape;191;p5"/>
          <p:cNvSpPr/>
          <p:nvPr/>
        </p:nvSpPr>
        <p:spPr>
          <a:xfrm>
            <a:off x="1328074" y="5132655"/>
            <a:ext cx="79754" cy="356533"/>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2" name="Google Shape;192;p5"/>
          <p:cNvSpPr/>
          <p:nvPr/>
        </p:nvSpPr>
        <p:spPr>
          <a:xfrm rot="5400000">
            <a:off x="2279939" y="5817932"/>
            <a:ext cx="79754" cy="356533"/>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3" name="Google Shape;193;p5"/>
          <p:cNvSpPr/>
          <p:nvPr/>
        </p:nvSpPr>
        <p:spPr>
          <a:xfrm rot="5400000">
            <a:off x="4075966" y="5794820"/>
            <a:ext cx="73919" cy="487975"/>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6" name="Google Shape;196;p5"/>
          <p:cNvSpPr/>
          <p:nvPr/>
        </p:nvSpPr>
        <p:spPr>
          <a:xfrm rot="5400000">
            <a:off x="4100188" y="4368179"/>
            <a:ext cx="55022" cy="649707"/>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2" name="Google Shape;202;p5"/>
          <p:cNvSpPr/>
          <p:nvPr/>
        </p:nvSpPr>
        <p:spPr>
          <a:xfrm>
            <a:off x="1769872" y="3331638"/>
            <a:ext cx="1099889" cy="98095"/>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3" name="Google Shape;203;p5"/>
          <p:cNvSpPr/>
          <p:nvPr/>
        </p:nvSpPr>
        <p:spPr>
          <a:xfrm>
            <a:off x="3577755" y="3316025"/>
            <a:ext cx="1099889" cy="98095"/>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2" name="Google Shape;182;p5"/>
          <p:cNvSpPr txBox="1"/>
          <p:nvPr/>
        </p:nvSpPr>
        <p:spPr>
          <a:xfrm>
            <a:off x="4868160" y="3667155"/>
            <a:ext cx="1349712" cy="36931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tx1"/>
                </a:solidFill>
              </a:rPr>
              <a:t>unfiltered</a:t>
            </a:r>
            <a:endParaRPr sz="1200">
              <a:solidFill>
                <a:schemeClr val="tx1"/>
              </a:solidFill>
            </a:endParaRPr>
          </a:p>
        </p:txBody>
      </p:sp>
      <p:sp>
        <p:nvSpPr>
          <p:cNvPr id="183" name="Google Shape;183;p5"/>
          <p:cNvSpPr txBox="1"/>
          <p:nvPr/>
        </p:nvSpPr>
        <p:spPr>
          <a:xfrm>
            <a:off x="4868160" y="5355777"/>
            <a:ext cx="1349712" cy="36931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tx1"/>
                </a:solidFill>
              </a:rPr>
              <a:t>filtered</a:t>
            </a:r>
            <a:endParaRPr sz="1200">
              <a:solidFill>
                <a:schemeClr val="tx1"/>
              </a:solidFill>
            </a:endParaRPr>
          </a:p>
        </p:txBody>
      </p:sp>
      <p:sp>
        <p:nvSpPr>
          <p:cNvPr id="184" name="Google Shape;184;p5"/>
          <p:cNvSpPr txBox="1"/>
          <p:nvPr/>
        </p:nvSpPr>
        <p:spPr>
          <a:xfrm>
            <a:off x="556917" y="3667155"/>
            <a:ext cx="1349712" cy="36931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tx1"/>
                </a:solidFill>
              </a:rPr>
              <a:t>unfiltered</a:t>
            </a:r>
            <a:endParaRPr sz="1200">
              <a:solidFill>
                <a:schemeClr val="tx1"/>
              </a:solidFill>
            </a:endParaRPr>
          </a:p>
        </p:txBody>
      </p:sp>
      <p:sp>
        <p:nvSpPr>
          <p:cNvPr id="185" name="Google Shape;185;p5"/>
          <p:cNvSpPr txBox="1"/>
          <p:nvPr/>
        </p:nvSpPr>
        <p:spPr>
          <a:xfrm>
            <a:off x="698085" y="5355777"/>
            <a:ext cx="1349712" cy="36931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tx1"/>
                </a:solidFill>
              </a:rPr>
              <a:t>filtered</a:t>
            </a:r>
            <a:endParaRPr sz="1200">
              <a:solidFill>
                <a:schemeClr val="tx1"/>
              </a:solidFill>
            </a:endParaRPr>
          </a:p>
        </p:txBody>
      </p:sp>
      <p:sp>
        <p:nvSpPr>
          <p:cNvPr id="194" name="Google Shape;194;p5"/>
          <p:cNvSpPr txBox="1"/>
          <p:nvPr/>
        </p:nvSpPr>
        <p:spPr>
          <a:xfrm rot="16200000">
            <a:off x="690918" y="5122095"/>
            <a:ext cx="1290799" cy="277056"/>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600">
                <a:solidFill>
                  <a:schemeClr val="tx1"/>
                </a:solidFill>
              </a:rPr>
              <a:t>Period of Report</a:t>
            </a:r>
            <a:endParaRPr sz="600">
              <a:solidFill>
                <a:schemeClr val="tx1"/>
              </a:solidFill>
            </a:endParaRPr>
          </a:p>
        </p:txBody>
      </p:sp>
      <p:sp>
        <p:nvSpPr>
          <p:cNvPr id="195" name="Google Shape;195;p5"/>
          <p:cNvSpPr txBox="1"/>
          <p:nvPr/>
        </p:nvSpPr>
        <p:spPr>
          <a:xfrm rot="16200000">
            <a:off x="732833" y="3940426"/>
            <a:ext cx="1290799" cy="277056"/>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600">
                <a:solidFill>
                  <a:schemeClr val="tx1"/>
                </a:solidFill>
              </a:rPr>
              <a:t>Period of Report</a:t>
            </a:r>
            <a:endParaRPr sz="600">
              <a:solidFill>
                <a:schemeClr val="tx1"/>
              </a:solidFill>
            </a:endParaRPr>
          </a:p>
        </p:txBody>
      </p:sp>
      <p:sp>
        <p:nvSpPr>
          <p:cNvPr id="197" name="Google Shape;197;p5"/>
          <p:cNvSpPr txBox="1"/>
          <p:nvPr/>
        </p:nvSpPr>
        <p:spPr>
          <a:xfrm rot="21599260">
            <a:off x="1692673" y="5888419"/>
            <a:ext cx="1290799" cy="277056"/>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600" dirty="0">
                <a:solidFill>
                  <a:schemeClr val="tx1"/>
                </a:solidFill>
              </a:rPr>
              <a:t>Transaction Date</a:t>
            </a:r>
            <a:endParaRPr sz="600" dirty="0">
              <a:solidFill>
                <a:schemeClr val="tx1"/>
              </a:solidFill>
            </a:endParaRPr>
          </a:p>
        </p:txBody>
      </p:sp>
      <p:sp>
        <p:nvSpPr>
          <p:cNvPr id="200" name="Google Shape;200;p5"/>
          <p:cNvSpPr txBox="1"/>
          <p:nvPr/>
        </p:nvSpPr>
        <p:spPr>
          <a:xfrm rot="21599260">
            <a:off x="3482307" y="5910557"/>
            <a:ext cx="1290799" cy="277056"/>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600">
                <a:solidFill>
                  <a:schemeClr val="tx1"/>
                </a:solidFill>
              </a:rPr>
              <a:t>Average Price Per Share</a:t>
            </a:r>
            <a:endParaRPr sz="600">
              <a:solidFill>
                <a:schemeClr val="tx1"/>
              </a:solidFill>
            </a:endParaRPr>
          </a:p>
        </p:txBody>
      </p:sp>
      <p:sp>
        <p:nvSpPr>
          <p:cNvPr id="201" name="Google Shape;201;p5"/>
          <p:cNvSpPr txBox="1"/>
          <p:nvPr/>
        </p:nvSpPr>
        <p:spPr>
          <a:xfrm rot="21599260">
            <a:off x="3482307" y="4569460"/>
            <a:ext cx="1290799" cy="277056"/>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600" dirty="0">
                <a:solidFill>
                  <a:schemeClr val="tx1"/>
                </a:solidFill>
              </a:rPr>
              <a:t>Average Price Per Share</a:t>
            </a:r>
            <a:endParaRPr sz="600" dirty="0">
              <a:solidFill>
                <a:schemeClr val="tx1"/>
              </a:solidFill>
            </a:endParaRPr>
          </a:p>
        </p:txBody>
      </p:sp>
      <p:sp>
        <p:nvSpPr>
          <p:cNvPr id="204" name="Google Shape;204;p5"/>
          <p:cNvSpPr txBox="1"/>
          <p:nvPr/>
        </p:nvSpPr>
        <p:spPr>
          <a:xfrm rot="21599363">
            <a:off x="3368550" y="3191560"/>
            <a:ext cx="1499494" cy="277056"/>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600" b="1" dirty="0">
                <a:solidFill>
                  <a:schemeClr val="tx1"/>
                </a:solidFill>
              </a:rPr>
              <a:t>Transaction Price vs. Average Price</a:t>
            </a:r>
            <a:endParaRPr sz="600" b="1" dirty="0">
              <a:solidFill>
                <a:schemeClr val="tx1"/>
              </a:solidFill>
            </a:endParaRPr>
          </a:p>
        </p:txBody>
      </p:sp>
      <p:sp>
        <p:nvSpPr>
          <p:cNvPr id="205" name="Google Shape;205;p5"/>
          <p:cNvSpPr txBox="1"/>
          <p:nvPr/>
        </p:nvSpPr>
        <p:spPr>
          <a:xfrm rot="21599363">
            <a:off x="1586859" y="3191537"/>
            <a:ext cx="1499494" cy="277056"/>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600" b="1" dirty="0">
                <a:solidFill>
                  <a:schemeClr val="tx1"/>
                </a:solidFill>
              </a:rPr>
              <a:t>Report Date vs. Transaction Date</a:t>
            </a:r>
            <a:endParaRPr sz="600" b="1" dirty="0">
              <a:solidFill>
                <a:schemeClr val="tx1"/>
              </a:solidFill>
            </a:endParaRPr>
          </a:p>
        </p:txBody>
      </p:sp>
      <p:sp>
        <p:nvSpPr>
          <p:cNvPr id="179" name="Google Shape;179;p5"/>
          <p:cNvSpPr txBox="1"/>
          <p:nvPr/>
        </p:nvSpPr>
        <p:spPr>
          <a:xfrm>
            <a:off x="1248991" y="6045987"/>
            <a:ext cx="4447781" cy="431021"/>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dirty="0">
                <a:solidFill>
                  <a:schemeClr val="tx1">
                    <a:lumMod val="90000"/>
                    <a:lumOff val="10000"/>
                  </a:schemeClr>
                </a:solidFill>
              </a:rPr>
              <a:t>Figure 2:</a:t>
            </a:r>
            <a:r>
              <a:rPr lang="en" sz="800" dirty="0">
                <a:solidFill>
                  <a:schemeClr val="tx1">
                    <a:lumMod val="90000"/>
                    <a:lumOff val="10000"/>
                  </a:schemeClr>
                </a:solidFill>
              </a:rPr>
              <a:t> Visual representation of data filtering using a) date and b) transaction price. Green blocks are the data that was used for further analysis.</a:t>
            </a:r>
            <a:endParaRPr sz="800" dirty="0">
              <a:solidFill>
                <a:schemeClr val="tx1">
                  <a:lumMod val="90000"/>
                  <a:lumOff val="10000"/>
                </a:schemeClr>
              </a:solidFill>
            </a:endParaRPr>
          </a:p>
        </p:txBody>
      </p:sp>
      <p:sp>
        <p:nvSpPr>
          <p:cNvPr id="180" name="Google Shape;180;p5"/>
          <p:cNvSpPr/>
          <p:nvPr/>
        </p:nvSpPr>
        <p:spPr>
          <a:xfrm rot="5400000">
            <a:off x="4372324" y="4578935"/>
            <a:ext cx="1428481" cy="265451"/>
          </a:xfrm>
          <a:prstGeom prst="uturnArrow">
            <a:avLst>
              <a:gd name="adj1" fmla="val 25000"/>
              <a:gd name="adj2" fmla="val 25000"/>
              <a:gd name="adj3" fmla="val 25000"/>
              <a:gd name="adj4" fmla="val 43750"/>
              <a:gd name="adj5" fmla="val 75000"/>
            </a:avLst>
          </a:prstGeom>
          <a:solidFill>
            <a:schemeClr val="tx1"/>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1" name="Google Shape;181;p5"/>
          <p:cNvSpPr/>
          <p:nvPr/>
        </p:nvSpPr>
        <p:spPr>
          <a:xfrm rot="16200000" flipH="1">
            <a:off x="413850" y="4589031"/>
            <a:ext cx="1428481" cy="245259"/>
          </a:xfrm>
          <a:prstGeom prst="uturnArrow">
            <a:avLst>
              <a:gd name="adj1" fmla="val 25000"/>
              <a:gd name="adj2" fmla="val 25000"/>
              <a:gd name="adj3" fmla="val 25000"/>
              <a:gd name="adj4" fmla="val 43750"/>
              <a:gd name="adj5" fmla="val 75000"/>
            </a:avLst>
          </a:prstGeom>
          <a:solidFill>
            <a:schemeClr val="tx1"/>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8" name="Google Shape;208;p5"/>
          <p:cNvSpPr/>
          <p:nvPr/>
        </p:nvSpPr>
        <p:spPr>
          <a:xfrm>
            <a:off x="9646250" y="256574"/>
            <a:ext cx="1957500" cy="436800"/>
          </a:xfrm>
          <a:prstGeom prst="chevron">
            <a:avLst>
              <a:gd name="adj" fmla="val 50000"/>
            </a:avLst>
          </a:prstGeom>
          <a:solidFill>
            <a:schemeClr val="accent1">
              <a:lumMod val="20000"/>
              <a:lumOff val="80000"/>
            </a:schemeClr>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9" name="Google Shape;209;p5"/>
          <p:cNvSpPr/>
          <p:nvPr/>
        </p:nvSpPr>
        <p:spPr>
          <a:xfrm>
            <a:off x="9341450" y="256574"/>
            <a:ext cx="1957500" cy="436800"/>
          </a:xfrm>
          <a:prstGeom prst="chevron">
            <a:avLst>
              <a:gd name="adj" fmla="val 50000"/>
            </a:avLst>
          </a:prstGeom>
          <a:solidFill>
            <a:schemeClr val="accent1">
              <a:lumMod val="20000"/>
              <a:lumOff val="80000"/>
            </a:schemeClr>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0" name="Google Shape;210;p5"/>
          <p:cNvSpPr/>
          <p:nvPr/>
        </p:nvSpPr>
        <p:spPr>
          <a:xfrm>
            <a:off x="8046050" y="256574"/>
            <a:ext cx="1957500" cy="436800"/>
          </a:xfrm>
          <a:prstGeom prst="chevron">
            <a:avLst>
              <a:gd name="adj" fmla="val 50000"/>
            </a:avLst>
          </a:prstGeom>
          <a:solidFill>
            <a:schemeClr val="accent1">
              <a:lumMod val="20000"/>
              <a:lumOff val="80000"/>
            </a:schemeClr>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1" name="Google Shape;211;p5"/>
          <p:cNvSpPr/>
          <p:nvPr/>
        </p:nvSpPr>
        <p:spPr>
          <a:xfrm>
            <a:off x="8427050" y="256574"/>
            <a:ext cx="1957500" cy="436800"/>
          </a:xfrm>
          <a:prstGeom prst="chevron">
            <a:avLst>
              <a:gd name="adj" fmla="val 50000"/>
            </a:avLst>
          </a:prstGeom>
          <a:solidFill>
            <a:schemeClr val="accent1">
              <a:lumMod val="20000"/>
              <a:lumOff val="80000"/>
            </a:schemeClr>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2" name="Google Shape;212;p5"/>
          <p:cNvSpPr/>
          <p:nvPr/>
        </p:nvSpPr>
        <p:spPr>
          <a:xfrm>
            <a:off x="8787454" y="242375"/>
            <a:ext cx="2220300" cy="470700"/>
          </a:xfrm>
          <a:prstGeom prst="chevron">
            <a:avLst>
              <a:gd name="adj" fmla="val 50000"/>
            </a:avLst>
          </a:prstGeom>
          <a:solidFill>
            <a:schemeClr val="accent1"/>
          </a:solidFill>
          <a:ln w="19050"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chemeClr val="tx1"/>
                </a:solidFill>
              </a:rPr>
              <a:t>Data Manipulation</a:t>
            </a:r>
            <a:endParaRPr b="1" dirty="0">
              <a:solidFill>
                <a:schemeClr val="tx1"/>
              </a:solidFill>
            </a:endParaRPr>
          </a:p>
        </p:txBody>
      </p:sp>
      <p:sp>
        <p:nvSpPr>
          <p:cNvPr id="213" name="Google Shape;213;p5"/>
          <p:cNvSpPr txBox="1">
            <a:spLocks noGrp="1"/>
          </p:cNvSpPr>
          <p:nvPr>
            <p:ph type="title"/>
          </p:nvPr>
        </p:nvSpPr>
        <p:spPr>
          <a:xfrm>
            <a:off x="433650" y="388325"/>
            <a:ext cx="5661000" cy="512700"/>
          </a:xfrm>
          <a:prstGeom prst="rect">
            <a:avLst/>
          </a:prstGeom>
          <a:noFill/>
          <a:ln>
            <a:noFill/>
          </a:ln>
        </p:spPr>
        <p:txBody>
          <a:bodyPr spcFirstLastPara="1" wrap="square" lIns="121875" tIns="121875" rIns="121875" bIns="121875" anchor="t" anchorCtr="0">
            <a:noAutofit/>
          </a:bodyPr>
          <a:lstStyle/>
          <a:p>
            <a:pPr marL="0" lvl="0" indent="0" algn="l" rtl="0">
              <a:lnSpc>
                <a:spcPct val="100000"/>
              </a:lnSpc>
              <a:spcBef>
                <a:spcPts val="0"/>
              </a:spcBef>
              <a:spcAft>
                <a:spcPts val="0"/>
              </a:spcAft>
              <a:buSzPts val="3700"/>
              <a:buNone/>
            </a:pPr>
            <a:r>
              <a:rPr lang="en" sz="2400" dirty="0">
                <a:solidFill>
                  <a:schemeClr val="tx1"/>
                </a:solidFill>
              </a:rPr>
              <a:t>Data Manipulation and Exploratory Analysis</a:t>
            </a:r>
            <a:endParaRPr sz="2400" dirty="0">
              <a:solidFill>
                <a:schemeClr val="tx1"/>
              </a:solidFill>
            </a:endParaRPr>
          </a:p>
        </p:txBody>
      </p:sp>
      <p:grpSp>
        <p:nvGrpSpPr>
          <p:cNvPr id="214" name="Google Shape;214;p5"/>
          <p:cNvGrpSpPr/>
          <p:nvPr/>
        </p:nvGrpSpPr>
        <p:grpSpPr>
          <a:xfrm>
            <a:off x="1338250" y="3086050"/>
            <a:ext cx="2453375" cy="354000"/>
            <a:chOff x="1566850" y="4000450"/>
            <a:chExt cx="2453375" cy="354000"/>
          </a:xfrm>
        </p:grpSpPr>
        <p:sp>
          <p:nvSpPr>
            <p:cNvPr id="215" name="Google Shape;215;p5"/>
            <p:cNvSpPr txBox="1"/>
            <p:nvPr/>
          </p:nvSpPr>
          <p:spPr>
            <a:xfrm>
              <a:off x="1566850" y="4000450"/>
              <a:ext cx="7176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dirty="0">
                  <a:solidFill>
                    <a:schemeClr val="tx1"/>
                  </a:solidFill>
                </a:rPr>
                <a:t>a)</a:t>
              </a:r>
              <a:endParaRPr sz="1100" dirty="0">
                <a:solidFill>
                  <a:schemeClr val="tx1"/>
                </a:solidFill>
              </a:endParaRPr>
            </a:p>
          </p:txBody>
        </p:sp>
        <p:sp>
          <p:nvSpPr>
            <p:cNvPr id="216" name="Google Shape;216;p5"/>
            <p:cNvSpPr txBox="1"/>
            <p:nvPr/>
          </p:nvSpPr>
          <p:spPr>
            <a:xfrm>
              <a:off x="3302625" y="4000450"/>
              <a:ext cx="7176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chemeClr val="tx1"/>
                  </a:solidFill>
                </a:rPr>
                <a:t>b)</a:t>
              </a:r>
              <a:endParaRPr sz="1100">
                <a:solidFill>
                  <a:schemeClr val="tx1"/>
                </a:solidFill>
              </a:endParaRPr>
            </a:p>
          </p:txBody>
        </p:sp>
      </p:grpSp>
      <p:sp>
        <p:nvSpPr>
          <p:cNvPr id="2" name="Rectangle 1">
            <a:extLst>
              <a:ext uri="{FF2B5EF4-FFF2-40B4-BE49-F238E27FC236}">
                <a16:creationId xmlns:a16="http://schemas.microsoft.com/office/drawing/2014/main" id="{EC2B1818-88D8-19A3-B5BE-179B1631CD6C}"/>
              </a:ext>
            </a:extLst>
          </p:cNvPr>
          <p:cNvSpPr/>
          <p:nvPr/>
        </p:nvSpPr>
        <p:spPr>
          <a:xfrm rot="10800000" flipV="1">
            <a:off x="-1" y="946962"/>
            <a:ext cx="9068025" cy="45719"/>
          </a:xfrm>
          <a:prstGeom prst="rect">
            <a:avLst/>
          </a:prstGeom>
          <a:gradFill>
            <a:gsLst>
              <a:gs pos="100000">
                <a:srgbClr val="14232E"/>
              </a:gs>
              <a:gs pos="0">
                <a:schemeClr val="tx2">
                  <a:lumMod val="20000"/>
                  <a:lumOff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3542714-787A-C35E-4096-308012FCD050}"/>
              </a:ext>
            </a:extLst>
          </p:cNvPr>
          <p:cNvSpPr/>
          <p:nvPr/>
        </p:nvSpPr>
        <p:spPr>
          <a:xfrm>
            <a:off x="3410275" y="6456178"/>
            <a:ext cx="8781725" cy="45719"/>
          </a:xfrm>
          <a:prstGeom prst="rect">
            <a:avLst/>
          </a:prstGeom>
          <a:gradFill>
            <a:gsLst>
              <a:gs pos="100000">
                <a:srgbClr val="9E7316"/>
              </a:gs>
              <a:gs pos="0">
                <a:schemeClr val="tx2">
                  <a:lumMod val="20000"/>
                  <a:lumOff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Google Shape;174;p5"/>
          <p:cNvSpPr/>
          <p:nvPr/>
        </p:nvSpPr>
        <p:spPr>
          <a:xfrm>
            <a:off x="1536726" y="4745914"/>
            <a:ext cx="1543538" cy="1137032"/>
          </a:xfrm>
          <a:prstGeom prst="rect">
            <a:avLst/>
          </a:prstGeom>
          <a:solidFill>
            <a:srgbClr val="81B681">
              <a:alpha val="301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0"/>
        <p:cNvGrpSpPr/>
        <p:nvPr/>
      </p:nvGrpSpPr>
      <p:grpSpPr>
        <a:xfrm>
          <a:off x="0" y="0"/>
          <a:ext cx="0" cy="0"/>
          <a:chOff x="0" y="0"/>
          <a:chExt cx="0" cy="0"/>
        </a:xfrm>
      </p:grpSpPr>
      <p:grpSp>
        <p:nvGrpSpPr>
          <p:cNvPr id="12" name="Group 11">
            <a:extLst>
              <a:ext uri="{FF2B5EF4-FFF2-40B4-BE49-F238E27FC236}">
                <a16:creationId xmlns:a16="http://schemas.microsoft.com/office/drawing/2014/main" id="{8304C272-F361-8392-D2FC-9CDA0BF15745}"/>
              </a:ext>
            </a:extLst>
          </p:cNvPr>
          <p:cNvGrpSpPr/>
          <p:nvPr/>
        </p:nvGrpSpPr>
        <p:grpSpPr>
          <a:xfrm>
            <a:off x="6741894" y="1157878"/>
            <a:ext cx="4668135" cy="2348212"/>
            <a:chOff x="6741894" y="1191998"/>
            <a:chExt cx="4668135" cy="2348212"/>
          </a:xfrm>
        </p:grpSpPr>
        <p:pic>
          <p:nvPicPr>
            <p:cNvPr id="11" name="Picture 10">
              <a:extLst>
                <a:ext uri="{FF2B5EF4-FFF2-40B4-BE49-F238E27FC236}">
                  <a16:creationId xmlns:a16="http://schemas.microsoft.com/office/drawing/2014/main" id="{318A40C0-CFF4-2D94-E729-498687A5E507}"/>
                </a:ext>
              </a:extLst>
            </p:cNvPr>
            <p:cNvPicPr>
              <a:picLocks noChangeAspect="1"/>
            </p:cNvPicPr>
            <p:nvPr/>
          </p:nvPicPr>
          <p:blipFill>
            <a:blip r:embed="rId3"/>
            <a:stretch>
              <a:fillRect/>
            </a:stretch>
          </p:blipFill>
          <p:spPr>
            <a:xfrm>
              <a:off x="9085671" y="1198822"/>
              <a:ext cx="2324358" cy="2324358"/>
            </a:xfrm>
            <a:prstGeom prst="rect">
              <a:avLst/>
            </a:prstGeom>
          </p:spPr>
        </p:pic>
        <p:pic>
          <p:nvPicPr>
            <p:cNvPr id="9" name="Picture 8">
              <a:extLst>
                <a:ext uri="{FF2B5EF4-FFF2-40B4-BE49-F238E27FC236}">
                  <a16:creationId xmlns:a16="http://schemas.microsoft.com/office/drawing/2014/main" id="{04E9DF7A-EB8D-E1D2-1011-C802AD258DA4}"/>
                </a:ext>
              </a:extLst>
            </p:cNvPr>
            <p:cNvPicPr>
              <a:picLocks noChangeAspect="1"/>
            </p:cNvPicPr>
            <p:nvPr/>
          </p:nvPicPr>
          <p:blipFill>
            <a:blip r:embed="rId4"/>
            <a:stretch>
              <a:fillRect/>
            </a:stretch>
          </p:blipFill>
          <p:spPr>
            <a:xfrm>
              <a:off x="6741894" y="1191998"/>
              <a:ext cx="2346304" cy="2348212"/>
            </a:xfrm>
            <a:prstGeom prst="rect">
              <a:avLst/>
            </a:prstGeom>
          </p:spPr>
        </p:pic>
      </p:grpSp>
      <p:pic>
        <p:nvPicPr>
          <p:cNvPr id="7" name="Picture 6">
            <a:extLst>
              <a:ext uri="{FF2B5EF4-FFF2-40B4-BE49-F238E27FC236}">
                <a16:creationId xmlns:a16="http://schemas.microsoft.com/office/drawing/2014/main" id="{D7155778-0559-120A-D2CD-92A0A669E31F}"/>
              </a:ext>
            </a:extLst>
          </p:cNvPr>
          <p:cNvPicPr>
            <a:picLocks noChangeAspect="1"/>
          </p:cNvPicPr>
          <p:nvPr/>
        </p:nvPicPr>
        <p:blipFill>
          <a:blip r:embed="rId5"/>
          <a:stretch>
            <a:fillRect/>
          </a:stretch>
        </p:blipFill>
        <p:spPr>
          <a:xfrm>
            <a:off x="701735" y="3612424"/>
            <a:ext cx="2267069" cy="2375026"/>
          </a:xfrm>
          <a:prstGeom prst="rect">
            <a:avLst/>
          </a:prstGeom>
        </p:spPr>
      </p:pic>
      <p:pic>
        <p:nvPicPr>
          <p:cNvPr id="5" name="Picture 4">
            <a:extLst>
              <a:ext uri="{FF2B5EF4-FFF2-40B4-BE49-F238E27FC236}">
                <a16:creationId xmlns:a16="http://schemas.microsoft.com/office/drawing/2014/main" id="{CE83D6B3-1633-953A-823D-0935FE1A57E6}"/>
              </a:ext>
            </a:extLst>
          </p:cNvPr>
          <p:cNvPicPr>
            <a:picLocks noChangeAspect="1"/>
          </p:cNvPicPr>
          <p:nvPr/>
        </p:nvPicPr>
        <p:blipFill>
          <a:blip r:embed="rId6"/>
          <a:stretch>
            <a:fillRect/>
          </a:stretch>
        </p:blipFill>
        <p:spPr>
          <a:xfrm>
            <a:off x="3653713" y="3554966"/>
            <a:ext cx="2370696" cy="2458500"/>
          </a:xfrm>
          <a:prstGeom prst="rect">
            <a:avLst/>
          </a:prstGeom>
        </p:spPr>
      </p:pic>
      <p:sp>
        <p:nvSpPr>
          <p:cNvPr id="224" name="Google Shape;224;g361ad93cfdf_0_34"/>
          <p:cNvSpPr txBox="1">
            <a:spLocks noGrp="1"/>
          </p:cNvSpPr>
          <p:nvPr>
            <p:ph type="body" idx="1"/>
          </p:nvPr>
        </p:nvSpPr>
        <p:spPr>
          <a:xfrm>
            <a:off x="455100" y="1060530"/>
            <a:ext cx="5775300" cy="2458500"/>
          </a:xfrm>
          <a:prstGeom prst="rect">
            <a:avLst/>
          </a:prstGeom>
          <a:noFill/>
          <a:ln>
            <a:noFill/>
          </a:ln>
        </p:spPr>
        <p:txBody>
          <a:bodyPr spcFirstLastPara="1" wrap="square" lIns="91425" tIns="0" rIns="91425" bIns="91425" anchor="t" anchorCtr="0">
            <a:noAutofit/>
          </a:bodyPr>
          <a:lstStyle/>
          <a:p>
            <a:pPr marL="0" lvl="0" indent="0" algn="l" rtl="0">
              <a:lnSpc>
                <a:spcPct val="115000"/>
              </a:lnSpc>
              <a:spcBef>
                <a:spcPts val="600"/>
              </a:spcBef>
              <a:spcAft>
                <a:spcPts val="0"/>
              </a:spcAft>
              <a:buSzPts val="1100"/>
              <a:buNone/>
            </a:pPr>
            <a:r>
              <a:rPr lang="en" sz="1200" b="1" dirty="0">
                <a:solidFill>
                  <a:schemeClr val="tx1"/>
                </a:solidFill>
              </a:rPr>
              <a:t>Yahoo! Finance Price Data</a:t>
            </a:r>
            <a:endParaRPr sz="1200" b="1" dirty="0">
              <a:solidFill>
                <a:schemeClr val="tx1"/>
              </a:solidFill>
            </a:endParaRPr>
          </a:p>
          <a:p>
            <a:pPr marL="0" lvl="0" indent="0" algn="l" rtl="0">
              <a:lnSpc>
                <a:spcPct val="115000"/>
              </a:lnSpc>
              <a:spcBef>
                <a:spcPts val="1200"/>
              </a:spcBef>
              <a:spcAft>
                <a:spcPts val="0"/>
              </a:spcAft>
              <a:buClr>
                <a:schemeClr val="dk1"/>
              </a:buClr>
              <a:buSzPts val="1100"/>
              <a:buFont typeface="Arial"/>
              <a:buNone/>
            </a:pPr>
            <a:r>
              <a:rPr lang="en" sz="1000" dirty="0">
                <a:solidFill>
                  <a:schemeClr val="tx1"/>
                </a:solidFill>
              </a:rPr>
              <a:t>As part of our data cleaning and exploratory data analysis, we employed a scatter plot matrix to visually inspect the aggregated price data and identify any potential anomalies. Yahoo! Finance is known for it’s clean and accurate data but we wanted to confirm this ourselves.</a:t>
            </a:r>
            <a:endParaRPr sz="1000" dirty="0">
              <a:solidFill>
                <a:schemeClr val="tx1"/>
              </a:solidFill>
            </a:endParaRPr>
          </a:p>
          <a:p>
            <a:pPr marL="0" lvl="0" indent="0" algn="l" rtl="0">
              <a:lnSpc>
                <a:spcPct val="115000"/>
              </a:lnSpc>
              <a:spcBef>
                <a:spcPts val="1200"/>
              </a:spcBef>
              <a:spcAft>
                <a:spcPts val="0"/>
              </a:spcAft>
              <a:buClr>
                <a:schemeClr val="dk1"/>
              </a:buClr>
              <a:buSzPts val="1100"/>
              <a:buFont typeface="Arial"/>
              <a:buNone/>
            </a:pPr>
            <a:r>
              <a:rPr lang="en" sz="1000" dirty="0">
                <a:solidFill>
                  <a:schemeClr val="tx1"/>
                </a:solidFill>
              </a:rPr>
              <a:t>Our initial analysis focused on all individual stock data </a:t>
            </a:r>
            <a:r>
              <a:rPr lang="en" sz="1000" b="1" dirty="0">
                <a:solidFill>
                  <a:schemeClr val="tx1"/>
                </a:solidFill>
              </a:rPr>
              <a:t>(Fig 4a)</a:t>
            </a:r>
            <a:r>
              <a:rPr lang="en" sz="1000" dirty="0">
                <a:solidFill>
                  <a:schemeClr val="tx1"/>
                </a:solidFill>
              </a:rPr>
              <a:t>, followed by a separate examination of the SPY ETF price data </a:t>
            </a:r>
            <a:r>
              <a:rPr lang="en" sz="1000" b="1" dirty="0">
                <a:solidFill>
                  <a:schemeClr val="tx1"/>
                </a:solidFill>
              </a:rPr>
              <a:t>(Fig 4b)</a:t>
            </a:r>
            <a:r>
              <a:rPr lang="en" sz="1000" dirty="0">
                <a:solidFill>
                  <a:schemeClr val="tx1"/>
                </a:solidFill>
              </a:rPr>
              <a:t>. The distribution of ‘stock’ prices exhibited a pronounced right skew, with the majority of prices falling below $500/share. While there was natural variation in prices over the seven month period, we did not observe any extreme outliers. </a:t>
            </a:r>
            <a:endParaRPr sz="1000" dirty="0">
              <a:solidFill>
                <a:schemeClr val="tx1"/>
              </a:solidFill>
            </a:endParaRPr>
          </a:p>
          <a:p>
            <a:pPr marL="0" lvl="0" indent="0" algn="l" rtl="0">
              <a:lnSpc>
                <a:spcPct val="115000"/>
              </a:lnSpc>
              <a:spcBef>
                <a:spcPts val="1200"/>
              </a:spcBef>
              <a:spcAft>
                <a:spcPts val="0"/>
              </a:spcAft>
              <a:buClr>
                <a:schemeClr val="dk1"/>
              </a:buClr>
              <a:buSzPts val="1100"/>
              <a:buFont typeface="Arial"/>
              <a:buNone/>
            </a:pPr>
            <a:r>
              <a:rPr lang="en" sz="1000" dirty="0">
                <a:solidFill>
                  <a:schemeClr val="tx1"/>
                </a:solidFill>
              </a:rPr>
              <a:t>In the case of the SPY ETF, price data spanning the past two decades revealed a wide range of values, consistent with long-term market growth. Notably, we observed heightened volatility around the $450/share mark, potentially reflecting periods of increased market uncertainty.</a:t>
            </a:r>
            <a:endParaRPr sz="1000" dirty="0">
              <a:solidFill>
                <a:schemeClr val="tx1"/>
              </a:solidFill>
            </a:endParaRPr>
          </a:p>
          <a:p>
            <a:pPr marL="0" lvl="0" indent="0" algn="l" rtl="0">
              <a:lnSpc>
                <a:spcPct val="115000"/>
              </a:lnSpc>
              <a:spcBef>
                <a:spcPts val="1200"/>
              </a:spcBef>
              <a:spcAft>
                <a:spcPts val="600"/>
              </a:spcAft>
              <a:buSzPts val="1100"/>
              <a:buNone/>
            </a:pPr>
            <a:endParaRPr dirty="0">
              <a:solidFill>
                <a:schemeClr val="tx1"/>
              </a:solidFill>
            </a:endParaRPr>
          </a:p>
        </p:txBody>
      </p:sp>
      <p:sp>
        <p:nvSpPr>
          <p:cNvPr id="225" name="Google Shape;225;g361ad93cfdf_0_34"/>
          <p:cNvSpPr txBox="1"/>
          <p:nvPr/>
        </p:nvSpPr>
        <p:spPr>
          <a:xfrm>
            <a:off x="-84050" y="-938500"/>
            <a:ext cx="2423400" cy="630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2"/>
              </a:solidFill>
              <a:latin typeface="Arial"/>
              <a:ea typeface="Arial"/>
              <a:cs typeface="Arial"/>
              <a:sym typeface="Arial"/>
            </a:endParaRPr>
          </a:p>
        </p:txBody>
      </p:sp>
      <p:sp>
        <p:nvSpPr>
          <p:cNvPr id="226" name="Google Shape;226;g361ad93cfdf_0_34"/>
          <p:cNvSpPr txBox="1"/>
          <p:nvPr/>
        </p:nvSpPr>
        <p:spPr>
          <a:xfrm>
            <a:off x="11773475" y="6502122"/>
            <a:ext cx="261600" cy="295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dirty="0">
                <a:solidFill>
                  <a:schemeClr val="dk1"/>
                </a:solidFill>
              </a:rPr>
              <a:t>6</a:t>
            </a:r>
            <a:endParaRPr sz="1200" b="1" i="0" u="none" strike="noStrike" cap="none" dirty="0">
              <a:solidFill>
                <a:schemeClr val="dk1"/>
              </a:solidFill>
              <a:latin typeface="Arial"/>
              <a:ea typeface="Arial"/>
              <a:cs typeface="Arial"/>
              <a:sym typeface="Arial"/>
            </a:endParaRPr>
          </a:p>
        </p:txBody>
      </p:sp>
      <p:sp>
        <p:nvSpPr>
          <p:cNvPr id="227" name="Google Shape;227;g361ad93cfdf_0_34"/>
          <p:cNvSpPr txBox="1">
            <a:spLocks noGrp="1"/>
          </p:cNvSpPr>
          <p:nvPr>
            <p:ph type="body" idx="1"/>
          </p:nvPr>
        </p:nvSpPr>
        <p:spPr>
          <a:xfrm>
            <a:off x="6552575" y="4105692"/>
            <a:ext cx="5249400" cy="2404500"/>
          </a:xfrm>
          <a:prstGeom prst="rect">
            <a:avLst/>
          </a:prstGeom>
          <a:noFill/>
          <a:ln>
            <a:noFill/>
          </a:ln>
        </p:spPr>
        <p:txBody>
          <a:bodyPr spcFirstLastPara="1" wrap="square" lIns="91425" tIns="0" rIns="91425" bIns="91425" anchor="t" anchorCtr="0">
            <a:noAutofit/>
          </a:bodyPr>
          <a:lstStyle/>
          <a:p>
            <a:pPr marL="0" lvl="0" indent="0" algn="l" rtl="0">
              <a:lnSpc>
                <a:spcPct val="115000"/>
              </a:lnSpc>
              <a:spcBef>
                <a:spcPts val="600"/>
              </a:spcBef>
              <a:spcAft>
                <a:spcPts val="0"/>
              </a:spcAft>
              <a:buSzPts val="1100"/>
              <a:buNone/>
            </a:pPr>
            <a:r>
              <a:rPr lang="en" sz="1200" b="1" dirty="0">
                <a:solidFill>
                  <a:schemeClr val="tx1"/>
                </a:solidFill>
              </a:rPr>
              <a:t>Calculated Trends and Returns</a:t>
            </a:r>
            <a:endParaRPr sz="1200" b="1" dirty="0">
              <a:solidFill>
                <a:schemeClr val="tx1"/>
              </a:solidFill>
            </a:endParaRPr>
          </a:p>
          <a:p>
            <a:pPr marL="0" lvl="0" indent="0" algn="l" rtl="0">
              <a:lnSpc>
                <a:spcPct val="115000"/>
              </a:lnSpc>
              <a:spcBef>
                <a:spcPts val="1200"/>
              </a:spcBef>
              <a:spcAft>
                <a:spcPts val="0"/>
              </a:spcAft>
              <a:buClr>
                <a:schemeClr val="dk1"/>
              </a:buClr>
              <a:buSzPts val="1100"/>
              <a:buFont typeface="Arial"/>
              <a:buNone/>
            </a:pPr>
            <a:r>
              <a:rPr lang="en" sz="1000" dirty="0">
                <a:solidFill>
                  <a:schemeClr val="tx1"/>
                </a:solidFill>
              </a:rPr>
              <a:t>Our original hypothesis posited that the majority of insider transactions do not outperform the market and are effectively noise. To explore this, our initial exploration needed  to compare all insider transactions to the market benchmark (SPY), focusing on both price trends and return behavior </a:t>
            </a:r>
            <a:r>
              <a:rPr lang="en" sz="1000" b="1" dirty="0">
                <a:solidFill>
                  <a:schemeClr val="tx1"/>
                </a:solidFill>
              </a:rPr>
              <a:t>(Fig 5)</a:t>
            </a:r>
            <a:r>
              <a:rPr lang="en" sz="1000" dirty="0">
                <a:solidFill>
                  <a:schemeClr val="tx1"/>
                </a:solidFill>
              </a:rPr>
              <a:t>. We calculated returns using the standard formula r</a:t>
            </a:r>
            <a:r>
              <a:rPr lang="en" sz="1000" baseline="-25000" dirty="0">
                <a:solidFill>
                  <a:schemeClr val="tx1"/>
                </a:solidFill>
              </a:rPr>
              <a:t>t</a:t>
            </a:r>
            <a:r>
              <a:rPr lang="en" sz="1000" dirty="0">
                <a:solidFill>
                  <a:schemeClr val="tx1"/>
                </a:solidFill>
              </a:rPr>
              <a:t> = P</a:t>
            </a:r>
            <a:r>
              <a:rPr lang="en" sz="1000" baseline="-25000" dirty="0">
                <a:solidFill>
                  <a:schemeClr val="tx1"/>
                </a:solidFill>
              </a:rPr>
              <a:t>t2</a:t>
            </a:r>
            <a:r>
              <a:rPr lang="en" sz="1000" dirty="0">
                <a:solidFill>
                  <a:schemeClr val="tx1"/>
                </a:solidFill>
              </a:rPr>
              <a:t> - P</a:t>
            </a:r>
            <a:r>
              <a:rPr lang="en" sz="1000" baseline="-25000" dirty="0">
                <a:solidFill>
                  <a:schemeClr val="tx1"/>
                </a:solidFill>
              </a:rPr>
              <a:t>t1 </a:t>
            </a:r>
            <a:r>
              <a:rPr lang="en" sz="1000" dirty="0">
                <a:solidFill>
                  <a:schemeClr val="tx1"/>
                </a:solidFill>
              </a:rPr>
              <a:t>/ P</a:t>
            </a:r>
            <a:r>
              <a:rPr lang="en" sz="1000" baseline="-25000" dirty="0">
                <a:solidFill>
                  <a:schemeClr val="tx1"/>
                </a:solidFill>
              </a:rPr>
              <a:t>t1</a:t>
            </a:r>
            <a:r>
              <a:rPr lang="en" sz="1000" dirty="0">
                <a:solidFill>
                  <a:schemeClr val="tx1"/>
                </a:solidFill>
              </a:rPr>
              <a:t>, where P</a:t>
            </a:r>
            <a:r>
              <a:rPr lang="en" sz="1000" baseline="-25000" dirty="0">
                <a:solidFill>
                  <a:schemeClr val="tx1"/>
                </a:solidFill>
              </a:rPr>
              <a:t>t1</a:t>
            </a:r>
            <a:r>
              <a:rPr lang="en" sz="1000" dirty="0">
                <a:solidFill>
                  <a:schemeClr val="tx1"/>
                </a:solidFill>
              </a:rPr>
              <a:t> is the previous price and P</a:t>
            </a:r>
            <a:r>
              <a:rPr lang="en" sz="1000" baseline="-25000" dirty="0">
                <a:solidFill>
                  <a:schemeClr val="tx1"/>
                </a:solidFill>
              </a:rPr>
              <a:t>t2</a:t>
            </a:r>
            <a:r>
              <a:rPr lang="en" sz="1000" dirty="0">
                <a:solidFill>
                  <a:schemeClr val="tx1"/>
                </a:solidFill>
              </a:rPr>
              <a:t> is the price at the comparison point.</a:t>
            </a:r>
            <a:endParaRPr sz="1000" dirty="0">
              <a:solidFill>
                <a:schemeClr val="tx1"/>
              </a:solidFill>
            </a:endParaRPr>
          </a:p>
          <a:p>
            <a:pPr marL="0" lvl="0" indent="0" algn="l" rtl="0">
              <a:lnSpc>
                <a:spcPct val="115000"/>
              </a:lnSpc>
              <a:spcBef>
                <a:spcPts val="1200"/>
              </a:spcBef>
              <a:spcAft>
                <a:spcPts val="1200"/>
              </a:spcAft>
              <a:buClr>
                <a:schemeClr val="dk1"/>
              </a:buClr>
              <a:buSzPts val="1100"/>
              <a:buFont typeface="Arial"/>
              <a:buNone/>
            </a:pPr>
            <a:r>
              <a:rPr lang="en" sz="1000" dirty="0">
                <a:solidFill>
                  <a:schemeClr val="tx1"/>
                </a:solidFill>
              </a:rPr>
              <a:t>The distribution of returns exhibited a significant right skew </a:t>
            </a:r>
            <a:r>
              <a:rPr lang="en" sz="1000" b="1" dirty="0">
                <a:solidFill>
                  <a:schemeClr val="tx1"/>
                </a:solidFill>
              </a:rPr>
              <a:t>(Fig 5b)</a:t>
            </a:r>
            <a:r>
              <a:rPr lang="en" sz="1000" dirty="0">
                <a:solidFill>
                  <a:schemeClr val="tx1"/>
                </a:solidFill>
              </a:rPr>
              <a:t>, a common characteristic in financial return data. Most returns clustered near zero. Further inspection revealed no extreme outliers attributable to data errors, suggesting the return patterns observed were genuine and not artifacts of faulty inputs.</a:t>
            </a:r>
            <a:endParaRPr sz="1000" dirty="0">
              <a:solidFill>
                <a:schemeClr val="tx1"/>
              </a:solidFill>
            </a:endParaRPr>
          </a:p>
        </p:txBody>
      </p:sp>
      <p:grpSp>
        <p:nvGrpSpPr>
          <p:cNvPr id="228" name="Google Shape;228;g361ad93cfdf_0_34"/>
          <p:cNvGrpSpPr/>
          <p:nvPr/>
        </p:nvGrpSpPr>
        <p:grpSpPr>
          <a:xfrm>
            <a:off x="6597100" y="896905"/>
            <a:ext cx="4716134" cy="3200817"/>
            <a:chOff x="6597100" y="931025"/>
            <a:chExt cx="4716134" cy="3200817"/>
          </a:xfrm>
        </p:grpSpPr>
        <p:sp>
          <p:nvSpPr>
            <p:cNvPr id="233" name="Google Shape;233;g361ad93cfdf_0_34"/>
            <p:cNvSpPr txBox="1"/>
            <p:nvPr/>
          </p:nvSpPr>
          <p:spPr>
            <a:xfrm>
              <a:off x="6760873" y="3577711"/>
              <a:ext cx="4552361" cy="554131"/>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dirty="0">
                  <a:solidFill>
                    <a:schemeClr val="tx1">
                      <a:lumMod val="90000"/>
                      <a:lumOff val="10000"/>
                    </a:schemeClr>
                  </a:solidFill>
                </a:rPr>
                <a:t>Figure 4:</a:t>
              </a:r>
              <a:r>
                <a:rPr lang="en" sz="800" dirty="0">
                  <a:solidFill>
                    <a:schemeClr val="tx1">
                      <a:lumMod val="90000"/>
                      <a:lumOff val="10000"/>
                    </a:schemeClr>
                  </a:solidFill>
                </a:rPr>
                <a:t> Scatter Plot Matrix comparing a) stock and b) SPY prices. Comparisons are made over a seven month period from 1 month before the transaction to six months after. This is an easy visual representation to identify any potential outliers.</a:t>
              </a:r>
              <a:endParaRPr sz="800" dirty="0">
                <a:solidFill>
                  <a:schemeClr val="tx1">
                    <a:lumMod val="90000"/>
                    <a:lumOff val="10000"/>
                  </a:schemeClr>
                </a:solidFill>
              </a:endParaRPr>
            </a:p>
          </p:txBody>
        </p:sp>
        <p:sp>
          <p:nvSpPr>
            <p:cNvPr id="234" name="Google Shape;234;g361ad93cfdf_0_34"/>
            <p:cNvSpPr txBox="1"/>
            <p:nvPr/>
          </p:nvSpPr>
          <p:spPr>
            <a:xfrm>
              <a:off x="6597100" y="931025"/>
              <a:ext cx="7176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dirty="0">
                  <a:solidFill>
                    <a:schemeClr val="tx1"/>
                  </a:solidFill>
                </a:rPr>
                <a:t>a)</a:t>
              </a:r>
              <a:endParaRPr sz="1100" dirty="0">
                <a:solidFill>
                  <a:schemeClr val="tx1"/>
                </a:solidFill>
              </a:endParaRPr>
            </a:p>
          </p:txBody>
        </p:sp>
        <p:sp>
          <p:nvSpPr>
            <p:cNvPr id="235" name="Google Shape;235;g361ad93cfdf_0_34"/>
            <p:cNvSpPr txBox="1"/>
            <p:nvPr/>
          </p:nvSpPr>
          <p:spPr>
            <a:xfrm>
              <a:off x="9048225" y="931025"/>
              <a:ext cx="7176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chemeClr val="tx1"/>
                  </a:solidFill>
                </a:rPr>
                <a:t>b)</a:t>
              </a:r>
              <a:endParaRPr sz="1100">
                <a:solidFill>
                  <a:schemeClr val="tx1"/>
                </a:solidFill>
              </a:endParaRPr>
            </a:p>
          </p:txBody>
        </p:sp>
      </p:grpSp>
      <p:sp>
        <p:nvSpPr>
          <p:cNvPr id="236" name="Google Shape;236;g361ad93cfdf_0_34"/>
          <p:cNvSpPr/>
          <p:nvPr/>
        </p:nvSpPr>
        <p:spPr>
          <a:xfrm>
            <a:off x="4074651" y="4092233"/>
            <a:ext cx="223800" cy="1287000"/>
          </a:xfrm>
          <a:prstGeom prst="rect">
            <a:avLst/>
          </a:prstGeom>
          <a:noFill/>
          <a:ln w="9525" cap="flat" cmpd="sng">
            <a:solidFill>
              <a:schemeClr val="bg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bg2"/>
              </a:solidFill>
            </a:endParaRPr>
          </a:p>
        </p:txBody>
      </p:sp>
      <p:sp>
        <p:nvSpPr>
          <p:cNvPr id="237" name="Google Shape;237;g361ad93cfdf_0_34"/>
          <p:cNvSpPr txBox="1"/>
          <p:nvPr/>
        </p:nvSpPr>
        <p:spPr>
          <a:xfrm>
            <a:off x="4288995" y="4060385"/>
            <a:ext cx="1643400" cy="29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dirty="0">
                <a:solidFill>
                  <a:schemeClr val="bg2"/>
                </a:solidFill>
              </a:rPr>
              <a:t>Of Interest</a:t>
            </a:r>
            <a:endParaRPr sz="700" dirty="0">
              <a:solidFill>
                <a:schemeClr val="bg2"/>
              </a:solidFill>
            </a:endParaRPr>
          </a:p>
        </p:txBody>
      </p:sp>
      <p:grpSp>
        <p:nvGrpSpPr>
          <p:cNvPr id="238" name="Google Shape;238;g361ad93cfdf_0_34"/>
          <p:cNvGrpSpPr/>
          <p:nvPr/>
        </p:nvGrpSpPr>
        <p:grpSpPr>
          <a:xfrm>
            <a:off x="500050" y="3813930"/>
            <a:ext cx="5791741" cy="2631400"/>
            <a:chOff x="271450" y="4000450"/>
            <a:chExt cx="5791741" cy="2631400"/>
          </a:xfrm>
        </p:grpSpPr>
        <p:sp>
          <p:nvSpPr>
            <p:cNvPr id="239" name="Google Shape;239;g361ad93cfdf_0_34"/>
            <p:cNvSpPr txBox="1"/>
            <p:nvPr/>
          </p:nvSpPr>
          <p:spPr>
            <a:xfrm>
              <a:off x="432191" y="6077750"/>
              <a:ext cx="56310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dirty="0">
                  <a:solidFill>
                    <a:schemeClr val="tx1">
                      <a:lumMod val="90000"/>
                      <a:lumOff val="10000"/>
                    </a:schemeClr>
                  </a:solidFill>
                </a:rPr>
                <a:t>Figure 5:</a:t>
              </a:r>
              <a:r>
                <a:rPr lang="en" sz="800" dirty="0">
                  <a:solidFill>
                    <a:schemeClr val="tx1">
                      <a:lumMod val="90000"/>
                      <a:lumOff val="10000"/>
                    </a:schemeClr>
                  </a:solidFill>
                </a:rPr>
                <a:t> Joint plot a) Showing stock and SPY ETF trend for the month following insider trading activity. b) Comparing absolute returns of holding the stock versus the SPY ETF after six months. Anything above the diagonal lines shows market outperformance.</a:t>
              </a:r>
              <a:endParaRPr sz="800" dirty="0">
                <a:solidFill>
                  <a:schemeClr val="tx1">
                    <a:lumMod val="90000"/>
                    <a:lumOff val="10000"/>
                  </a:schemeClr>
                </a:solidFill>
              </a:endParaRPr>
            </a:p>
          </p:txBody>
        </p:sp>
        <p:sp>
          <p:nvSpPr>
            <p:cNvPr id="240" name="Google Shape;240;g361ad93cfdf_0_34"/>
            <p:cNvSpPr txBox="1"/>
            <p:nvPr/>
          </p:nvSpPr>
          <p:spPr>
            <a:xfrm>
              <a:off x="271450" y="4000450"/>
              <a:ext cx="7176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dirty="0">
                  <a:solidFill>
                    <a:schemeClr val="tx1"/>
                  </a:solidFill>
                </a:rPr>
                <a:t>a)</a:t>
              </a:r>
              <a:endParaRPr sz="1100" dirty="0">
                <a:solidFill>
                  <a:schemeClr val="tx1"/>
                </a:solidFill>
              </a:endParaRPr>
            </a:p>
          </p:txBody>
        </p:sp>
        <p:sp>
          <p:nvSpPr>
            <p:cNvPr id="241" name="Google Shape;241;g361ad93cfdf_0_34"/>
            <p:cNvSpPr txBox="1"/>
            <p:nvPr/>
          </p:nvSpPr>
          <p:spPr>
            <a:xfrm>
              <a:off x="3302625" y="4000450"/>
              <a:ext cx="7176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chemeClr val="tx1"/>
                  </a:solidFill>
                </a:rPr>
                <a:t>b)</a:t>
              </a:r>
              <a:endParaRPr sz="1100">
                <a:solidFill>
                  <a:schemeClr val="tx1"/>
                </a:solidFill>
              </a:endParaRPr>
            </a:p>
          </p:txBody>
        </p:sp>
      </p:grpSp>
      <p:sp>
        <p:nvSpPr>
          <p:cNvPr id="242" name="Google Shape;242;g361ad93cfdf_0_34"/>
          <p:cNvSpPr txBox="1"/>
          <p:nvPr/>
        </p:nvSpPr>
        <p:spPr>
          <a:xfrm rot="-5400000">
            <a:off x="5936200" y="2125100"/>
            <a:ext cx="1393500" cy="276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600">
                <a:solidFill>
                  <a:schemeClr val="tx1"/>
                </a:solidFill>
              </a:rPr>
              <a:t>Price</a:t>
            </a:r>
            <a:endParaRPr sz="600">
              <a:solidFill>
                <a:schemeClr val="tx1"/>
              </a:solidFill>
            </a:endParaRPr>
          </a:p>
        </p:txBody>
      </p:sp>
      <p:sp>
        <p:nvSpPr>
          <p:cNvPr id="243" name="Google Shape;243;g361ad93cfdf_0_34"/>
          <p:cNvSpPr txBox="1"/>
          <p:nvPr/>
        </p:nvSpPr>
        <p:spPr>
          <a:xfrm>
            <a:off x="8526625" y="3464950"/>
            <a:ext cx="1393500" cy="276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600">
                <a:solidFill>
                  <a:schemeClr val="tx1"/>
                </a:solidFill>
              </a:rPr>
              <a:t>Price</a:t>
            </a:r>
            <a:endParaRPr sz="600">
              <a:solidFill>
                <a:schemeClr val="tx1"/>
              </a:solidFill>
            </a:endParaRPr>
          </a:p>
        </p:txBody>
      </p:sp>
      <p:sp>
        <p:nvSpPr>
          <p:cNvPr id="244" name="Google Shape;244;g361ad93cfdf_0_34"/>
          <p:cNvSpPr txBox="1"/>
          <p:nvPr/>
        </p:nvSpPr>
        <p:spPr>
          <a:xfrm>
            <a:off x="7301175" y="931025"/>
            <a:ext cx="1393500" cy="276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600" b="1">
                <a:solidFill>
                  <a:schemeClr val="tx1"/>
                </a:solidFill>
              </a:rPr>
              <a:t>Stock Price (-1,0,1,3,6 months)</a:t>
            </a:r>
            <a:endParaRPr sz="600" b="1">
              <a:solidFill>
                <a:schemeClr val="tx1"/>
              </a:solidFill>
            </a:endParaRPr>
          </a:p>
        </p:txBody>
      </p:sp>
      <p:sp>
        <p:nvSpPr>
          <p:cNvPr id="245" name="Google Shape;245;g361ad93cfdf_0_34"/>
          <p:cNvSpPr txBox="1"/>
          <p:nvPr/>
        </p:nvSpPr>
        <p:spPr>
          <a:xfrm>
            <a:off x="9720925" y="931025"/>
            <a:ext cx="1393500" cy="276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600" b="1">
                <a:solidFill>
                  <a:schemeClr val="tx1"/>
                </a:solidFill>
              </a:rPr>
              <a:t>SPY Price (-1,0,1,3,6 months)</a:t>
            </a:r>
            <a:endParaRPr sz="600" b="1">
              <a:solidFill>
                <a:schemeClr val="tx1"/>
              </a:solidFill>
            </a:endParaRPr>
          </a:p>
        </p:txBody>
      </p:sp>
      <p:sp>
        <p:nvSpPr>
          <p:cNvPr id="248" name="Google Shape;248;g361ad93cfdf_0_34"/>
          <p:cNvSpPr/>
          <p:nvPr/>
        </p:nvSpPr>
        <p:spPr>
          <a:xfrm>
            <a:off x="9646250" y="256574"/>
            <a:ext cx="1957500" cy="436800"/>
          </a:xfrm>
          <a:prstGeom prst="chevron">
            <a:avLst>
              <a:gd name="adj" fmla="val 50000"/>
            </a:avLst>
          </a:prstGeom>
          <a:solidFill>
            <a:schemeClr val="accent1">
              <a:lumMod val="20000"/>
              <a:lumOff val="80000"/>
            </a:schemeClr>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9" name="Google Shape;249;g361ad93cfdf_0_34"/>
          <p:cNvSpPr/>
          <p:nvPr/>
        </p:nvSpPr>
        <p:spPr>
          <a:xfrm>
            <a:off x="9341450" y="256574"/>
            <a:ext cx="1957500" cy="436800"/>
          </a:xfrm>
          <a:prstGeom prst="chevron">
            <a:avLst>
              <a:gd name="adj" fmla="val 50000"/>
            </a:avLst>
          </a:prstGeom>
          <a:solidFill>
            <a:schemeClr val="accent1">
              <a:lumMod val="20000"/>
              <a:lumOff val="80000"/>
            </a:schemeClr>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0" name="Google Shape;250;g361ad93cfdf_0_34"/>
          <p:cNvSpPr/>
          <p:nvPr/>
        </p:nvSpPr>
        <p:spPr>
          <a:xfrm>
            <a:off x="8046050" y="256574"/>
            <a:ext cx="1957500" cy="436800"/>
          </a:xfrm>
          <a:prstGeom prst="chevron">
            <a:avLst>
              <a:gd name="adj" fmla="val 50000"/>
            </a:avLst>
          </a:prstGeom>
          <a:solidFill>
            <a:schemeClr val="accent1">
              <a:lumMod val="20000"/>
              <a:lumOff val="80000"/>
            </a:schemeClr>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1" name="Google Shape;251;g361ad93cfdf_0_34"/>
          <p:cNvSpPr/>
          <p:nvPr/>
        </p:nvSpPr>
        <p:spPr>
          <a:xfrm>
            <a:off x="8427050" y="256574"/>
            <a:ext cx="1957500" cy="436800"/>
          </a:xfrm>
          <a:prstGeom prst="chevron">
            <a:avLst>
              <a:gd name="adj" fmla="val 50000"/>
            </a:avLst>
          </a:prstGeom>
          <a:solidFill>
            <a:schemeClr val="accent1">
              <a:lumMod val="20000"/>
              <a:lumOff val="80000"/>
            </a:schemeClr>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2" name="Google Shape;252;g361ad93cfdf_0_34"/>
          <p:cNvSpPr/>
          <p:nvPr/>
        </p:nvSpPr>
        <p:spPr>
          <a:xfrm>
            <a:off x="8780630" y="242375"/>
            <a:ext cx="2220300" cy="470700"/>
          </a:xfrm>
          <a:prstGeom prst="chevron">
            <a:avLst>
              <a:gd name="adj" fmla="val 50000"/>
            </a:avLst>
          </a:prstGeom>
          <a:solidFill>
            <a:schemeClr val="accent1"/>
          </a:solidFill>
          <a:ln w="19050"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chemeClr val="tx1"/>
                </a:solidFill>
              </a:rPr>
              <a:t>Data Manipulation</a:t>
            </a:r>
            <a:endParaRPr b="1" dirty="0">
              <a:solidFill>
                <a:schemeClr val="tx1"/>
              </a:solidFill>
            </a:endParaRPr>
          </a:p>
        </p:txBody>
      </p:sp>
      <p:sp>
        <p:nvSpPr>
          <p:cNvPr id="253" name="Google Shape;253;g361ad93cfdf_0_34"/>
          <p:cNvSpPr txBox="1">
            <a:spLocks noGrp="1"/>
          </p:cNvSpPr>
          <p:nvPr>
            <p:ph type="title"/>
          </p:nvPr>
        </p:nvSpPr>
        <p:spPr>
          <a:xfrm>
            <a:off x="433650" y="388325"/>
            <a:ext cx="5661000" cy="512700"/>
          </a:xfrm>
          <a:prstGeom prst="rect">
            <a:avLst/>
          </a:prstGeom>
          <a:noFill/>
          <a:ln>
            <a:noFill/>
          </a:ln>
        </p:spPr>
        <p:txBody>
          <a:bodyPr spcFirstLastPara="1" wrap="square" lIns="121875" tIns="121875" rIns="121875" bIns="121875" anchor="t" anchorCtr="0">
            <a:noAutofit/>
          </a:bodyPr>
          <a:lstStyle/>
          <a:p>
            <a:pPr marL="0" lvl="0" indent="0" algn="l" rtl="0">
              <a:lnSpc>
                <a:spcPct val="100000"/>
              </a:lnSpc>
              <a:spcBef>
                <a:spcPts val="0"/>
              </a:spcBef>
              <a:spcAft>
                <a:spcPts val="0"/>
              </a:spcAft>
              <a:buSzPts val="3700"/>
              <a:buNone/>
            </a:pPr>
            <a:r>
              <a:rPr lang="en" sz="2400" dirty="0">
                <a:solidFill>
                  <a:schemeClr val="tx1"/>
                </a:solidFill>
              </a:rPr>
              <a:t>Data Manipulation and Exploratory Analysis</a:t>
            </a:r>
            <a:endParaRPr sz="2400" dirty="0">
              <a:solidFill>
                <a:schemeClr val="tx1"/>
              </a:solidFill>
            </a:endParaRPr>
          </a:p>
        </p:txBody>
      </p:sp>
      <p:sp>
        <p:nvSpPr>
          <p:cNvPr id="2" name="Rectangle 1">
            <a:extLst>
              <a:ext uri="{FF2B5EF4-FFF2-40B4-BE49-F238E27FC236}">
                <a16:creationId xmlns:a16="http://schemas.microsoft.com/office/drawing/2014/main" id="{F0AD08A3-D56F-67E3-964A-84C3FD3C5DB1}"/>
              </a:ext>
            </a:extLst>
          </p:cNvPr>
          <p:cNvSpPr/>
          <p:nvPr/>
        </p:nvSpPr>
        <p:spPr>
          <a:xfrm rot="10800000" flipV="1">
            <a:off x="-1" y="946962"/>
            <a:ext cx="9068025" cy="45719"/>
          </a:xfrm>
          <a:prstGeom prst="rect">
            <a:avLst/>
          </a:prstGeom>
          <a:gradFill>
            <a:gsLst>
              <a:gs pos="100000">
                <a:srgbClr val="14232E"/>
              </a:gs>
              <a:gs pos="0">
                <a:schemeClr val="tx2">
                  <a:lumMod val="20000"/>
                  <a:lumOff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ACC1985-6652-2BCD-E829-F83B72ED79B2}"/>
              </a:ext>
            </a:extLst>
          </p:cNvPr>
          <p:cNvSpPr/>
          <p:nvPr/>
        </p:nvSpPr>
        <p:spPr>
          <a:xfrm>
            <a:off x="3410275" y="6456178"/>
            <a:ext cx="8781725" cy="45719"/>
          </a:xfrm>
          <a:prstGeom prst="rect">
            <a:avLst/>
          </a:prstGeom>
          <a:gradFill>
            <a:gsLst>
              <a:gs pos="100000">
                <a:srgbClr val="9E7316"/>
              </a:gs>
              <a:gs pos="0">
                <a:schemeClr val="tx2">
                  <a:lumMod val="20000"/>
                  <a:lumOff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3"/>
        <p:cNvGrpSpPr/>
        <p:nvPr/>
      </p:nvGrpSpPr>
      <p:grpSpPr>
        <a:xfrm>
          <a:off x="0" y="0"/>
          <a:ext cx="0" cy="0"/>
          <a:chOff x="0" y="0"/>
          <a:chExt cx="0" cy="0"/>
        </a:xfrm>
      </p:grpSpPr>
      <p:pic>
        <p:nvPicPr>
          <p:cNvPr id="9" name="Picture 8">
            <a:extLst>
              <a:ext uri="{FF2B5EF4-FFF2-40B4-BE49-F238E27FC236}">
                <a16:creationId xmlns:a16="http://schemas.microsoft.com/office/drawing/2014/main" id="{083108CA-6343-30E4-C0F8-7FE51A030F75}"/>
              </a:ext>
            </a:extLst>
          </p:cNvPr>
          <p:cNvPicPr>
            <a:picLocks noChangeAspect="1"/>
          </p:cNvPicPr>
          <p:nvPr/>
        </p:nvPicPr>
        <p:blipFill>
          <a:blip r:embed="rId3"/>
          <a:stretch>
            <a:fillRect/>
          </a:stretch>
        </p:blipFill>
        <p:spPr>
          <a:xfrm>
            <a:off x="9334782" y="1133017"/>
            <a:ext cx="2286010" cy="4409157"/>
          </a:xfrm>
          <a:prstGeom prst="rect">
            <a:avLst/>
          </a:prstGeom>
        </p:spPr>
      </p:pic>
      <p:sp>
        <p:nvSpPr>
          <p:cNvPr id="284" name="Google Shape;284;g36a64e074a5_0_0"/>
          <p:cNvSpPr txBox="1">
            <a:spLocks noGrp="1"/>
          </p:cNvSpPr>
          <p:nvPr>
            <p:ph type="body" idx="1"/>
          </p:nvPr>
        </p:nvSpPr>
        <p:spPr>
          <a:xfrm>
            <a:off x="455100" y="1012762"/>
            <a:ext cx="4785600" cy="1316700"/>
          </a:xfrm>
          <a:prstGeom prst="rect">
            <a:avLst/>
          </a:prstGeom>
          <a:noFill/>
          <a:ln>
            <a:noFill/>
          </a:ln>
        </p:spPr>
        <p:txBody>
          <a:bodyPr spcFirstLastPara="1" wrap="square" lIns="91425" tIns="0" rIns="91425" bIns="91425" anchor="t" anchorCtr="0">
            <a:noAutofit/>
          </a:bodyPr>
          <a:lstStyle/>
          <a:p>
            <a:pPr marL="0" lvl="0" indent="0" algn="l" rtl="0">
              <a:lnSpc>
                <a:spcPct val="115000"/>
              </a:lnSpc>
              <a:spcBef>
                <a:spcPts val="600"/>
              </a:spcBef>
              <a:spcAft>
                <a:spcPts val="0"/>
              </a:spcAft>
              <a:buSzPts val="1100"/>
              <a:buNone/>
            </a:pPr>
            <a:r>
              <a:rPr lang="en" sz="1200" b="1" dirty="0">
                <a:solidFill>
                  <a:schemeClr val="dk1"/>
                </a:solidFill>
              </a:rPr>
              <a:t>Sector Distribution and Market Capitalization Patterns</a:t>
            </a:r>
            <a:endParaRPr sz="1200" b="1"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000" dirty="0">
                <a:solidFill>
                  <a:schemeClr val="dk1"/>
                </a:solidFill>
              </a:rPr>
              <a:t>Building upon our price data validation and return calculations, we classified each company by sector and calculated market cap categories to identify structural patterns in our dataset.</a:t>
            </a:r>
            <a:endParaRPr dirty="0">
              <a:solidFill>
                <a:schemeClr val="dk1"/>
              </a:solidFill>
            </a:endParaRPr>
          </a:p>
        </p:txBody>
      </p:sp>
      <p:sp>
        <p:nvSpPr>
          <p:cNvPr id="285" name="Google Shape;285;g36a64e074a5_0_0"/>
          <p:cNvSpPr txBox="1"/>
          <p:nvPr/>
        </p:nvSpPr>
        <p:spPr>
          <a:xfrm>
            <a:off x="-84050" y="-938500"/>
            <a:ext cx="2423400" cy="630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2"/>
              </a:solidFill>
              <a:latin typeface="Arial"/>
              <a:ea typeface="Arial"/>
              <a:cs typeface="Arial"/>
              <a:sym typeface="Arial"/>
            </a:endParaRPr>
          </a:p>
        </p:txBody>
      </p:sp>
      <p:sp>
        <p:nvSpPr>
          <p:cNvPr id="286" name="Google Shape;286;g36a64e074a5_0_0"/>
          <p:cNvSpPr txBox="1"/>
          <p:nvPr/>
        </p:nvSpPr>
        <p:spPr>
          <a:xfrm>
            <a:off x="11773475" y="6502122"/>
            <a:ext cx="261600" cy="295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Arial"/>
                <a:ea typeface="Arial"/>
                <a:cs typeface="Arial"/>
                <a:sym typeface="Arial"/>
              </a:rPr>
              <a:t>7</a:t>
            </a:r>
            <a:endParaRPr sz="1200" b="1" i="0" u="none" strike="noStrike" cap="none" dirty="0">
              <a:solidFill>
                <a:schemeClr val="dk1"/>
              </a:solidFill>
              <a:latin typeface="Arial"/>
              <a:ea typeface="Arial"/>
              <a:cs typeface="Arial"/>
              <a:sym typeface="Arial"/>
            </a:endParaRPr>
          </a:p>
        </p:txBody>
      </p:sp>
      <p:sp>
        <p:nvSpPr>
          <p:cNvPr id="287" name="Google Shape;287;g36a64e074a5_0_0"/>
          <p:cNvSpPr txBox="1">
            <a:spLocks noGrp="1"/>
          </p:cNvSpPr>
          <p:nvPr>
            <p:ph type="body" idx="1"/>
          </p:nvPr>
        </p:nvSpPr>
        <p:spPr>
          <a:xfrm>
            <a:off x="5506871" y="1034654"/>
            <a:ext cx="3578508" cy="5796000"/>
          </a:xfrm>
          <a:prstGeom prst="rect">
            <a:avLst/>
          </a:prstGeom>
          <a:noFill/>
          <a:ln>
            <a:noFill/>
          </a:ln>
        </p:spPr>
        <p:txBody>
          <a:bodyPr spcFirstLastPara="1" wrap="square" lIns="91425" tIns="0" rIns="91425" bIns="91425" anchor="t" anchorCtr="0">
            <a:noAutofit/>
          </a:bodyPr>
          <a:lstStyle/>
          <a:p>
            <a:pPr marL="0" lvl="0" indent="0" algn="l" rtl="0">
              <a:lnSpc>
                <a:spcPct val="115000"/>
              </a:lnSpc>
              <a:spcBef>
                <a:spcPts val="600"/>
              </a:spcBef>
              <a:spcAft>
                <a:spcPts val="0"/>
              </a:spcAft>
              <a:buSzPts val="1100"/>
              <a:buNone/>
            </a:pPr>
            <a:r>
              <a:rPr lang="en" sz="1200" b="1" dirty="0">
                <a:solidFill>
                  <a:schemeClr val="dk1"/>
                </a:solidFill>
              </a:rPr>
              <a:t>Sector and Market Cap Distribution</a:t>
            </a:r>
            <a:endParaRPr sz="1200" b="1"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000" dirty="0">
                <a:solidFill>
                  <a:schemeClr val="dk1"/>
                </a:solidFill>
              </a:rPr>
              <a:t>Our enhanced dataset reveals significant alpha patterns across both dimensions </a:t>
            </a:r>
            <a:r>
              <a:rPr lang="en" sz="1000" b="1" dirty="0">
                <a:solidFill>
                  <a:schemeClr val="dk1"/>
                </a:solidFill>
              </a:rPr>
              <a:t>(Fig 7)</a:t>
            </a:r>
            <a:r>
              <a:rPr lang="en" sz="1000" dirty="0">
                <a:solidFill>
                  <a:schemeClr val="dk1"/>
                </a:solidFill>
              </a:rPr>
              <a:t>. Healthcare shows the best average positive alpha in both mid and large cap stocks. (&gt;$2B). Utilities show substantial alpha levels with approximately 26.6% excess returns in the large cap category (&gt;$10B). </a:t>
            </a:r>
            <a:r>
              <a:rPr lang="en-US" sz="1000" dirty="0">
                <a:solidFill>
                  <a:schemeClr val="dk1"/>
                </a:solidFill>
              </a:rPr>
              <a:t>It’s important to note that this could be due to low numbers of transactions in this category.</a:t>
            </a:r>
          </a:p>
          <a:p>
            <a:pPr marL="0" lvl="0" indent="0" algn="l" rtl="0">
              <a:lnSpc>
                <a:spcPct val="115000"/>
              </a:lnSpc>
              <a:spcBef>
                <a:spcPts val="1200"/>
              </a:spcBef>
              <a:spcAft>
                <a:spcPts val="0"/>
              </a:spcAft>
              <a:buClr>
                <a:schemeClr val="dk1"/>
              </a:buClr>
              <a:buSzPts val="1100"/>
              <a:buFont typeface="Arial"/>
              <a:buNone/>
            </a:pPr>
            <a:endParaRPr sz="500" dirty="0">
              <a:solidFill>
                <a:schemeClr val="dk1"/>
              </a:solidFill>
            </a:endParaRPr>
          </a:p>
          <a:p>
            <a:pPr marL="0" lvl="0" indent="0" algn="ctr" rtl="0">
              <a:lnSpc>
                <a:spcPct val="115000"/>
              </a:lnSpc>
              <a:spcBef>
                <a:spcPts val="1200"/>
              </a:spcBef>
              <a:spcAft>
                <a:spcPts val="0"/>
              </a:spcAft>
              <a:buClr>
                <a:schemeClr val="dk1"/>
              </a:buClr>
              <a:buSzPts val="1100"/>
              <a:buFont typeface="Arial"/>
              <a:buNone/>
            </a:pPr>
            <a:r>
              <a:rPr lang="en" b="1" dirty="0">
                <a:solidFill>
                  <a:schemeClr val="bg2"/>
                </a:solidFill>
              </a:rPr>
              <a:t>Large-cap utility companies account for the highest alpha of insider activity when looking at sectors split based on market capitalization</a:t>
            </a:r>
          </a:p>
          <a:p>
            <a:pPr marL="0" lvl="0" indent="0" algn="ctr" rtl="0">
              <a:lnSpc>
                <a:spcPct val="115000"/>
              </a:lnSpc>
              <a:spcBef>
                <a:spcPts val="1200"/>
              </a:spcBef>
              <a:spcAft>
                <a:spcPts val="0"/>
              </a:spcAft>
              <a:buClr>
                <a:schemeClr val="dk1"/>
              </a:buClr>
              <a:buSzPts val="1100"/>
              <a:buFont typeface="Arial"/>
              <a:buNone/>
            </a:pPr>
            <a:endParaRPr sz="500" dirty="0">
              <a:solidFill>
                <a:schemeClr val="bg2"/>
              </a:solidFill>
            </a:endParaRPr>
          </a:p>
          <a:p>
            <a:pPr marL="0" lvl="0" indent="0" algn="l" rtl="0">
              <a:lnSpc>
                <a:spcPct val="115000"/>
              </a:lnSpc>
              <a:spcBef>
                <a:spcPts val="1200"/>
              </a:spcBef>
              <a:spcAft>
                <a:spcPts val="0"/>
              </a:spcAft>
              <a:buClr>
                <a:schemeClr val="dk1"/>
              </a:buClr>
              <a:buSzPts val="1100"/>
              <a:buFont typeface="Arial"/>
              <a:buNone/>
            </a:pPr>
            <a:r>
              <a:rPr lang="en" sz="1000" dirty="0">
                <a:solidFill>
                  <a:schemeClr val="dk1"/>
                </a:solidFill>
              </a:rPr>
              <a:t>Small-cap companies show consistently low excess returns across all sectors, suggesting insider trading patterns in mid- to large-cap stocks are more reliable. Notably, some sectors like Technology and Financial Services show relatively low excess returns in all categories, potentially reflecting industry-specific characteristics where insider transactions show little informational advantages.</a:t>
            </a:r>
            <a:endParaRPr sz="1000"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000" dirty="0">
                <a:solidFill>
                  <a:schemeClr val="dk1"/>
                </a:solidFill>
              </a:rPr>
              <a:t>This distribution analysis provides essential context for understanding the representativeness of our dataset and identifying potential sector-specific patterns that may influence subsequent performance analysis.</a:t>
            </a:r>
            <a:endParaRPr sz="1000" dirty="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1000" dirty="0">
              <a:solidFill>
                <a:schemeClr val="dk1"/>
              </a:solidFill>
            </a:endParaRPr>
          </a:p>
          <a:p>
            <a:pPr marL="0" lvl="0" indent="0" algn="l" rtl="0">
              <a:lnSpc>
                <a:spcPct val="115000"/>
              </a:lnSpc>
              <a:spcBef>
                <a:spcPts val="1200"/>
              </a:spcBef>
              <a:spcAft>
                <a:spcPts val="1200"/>
              </a:spcAft>
              <a:buClr>
                <a:schemeClr val="dk1"/>
              </a:buClr>
              <a:buSzPts val="1100"/>
              <a:buFont typeface="Arial"/>
              <a:buNone/>
            </a:pPr>
            <a:endParaRPr sz="1000" dirty="0">
              <a:solidFill>
                <a:schemeClr val="dk1"/>
              </a:solidFill>
            </a:endParaRPr>
          </a:p>
        </p:txBody>
      </p:sp>
      <p:sp>
        <p:nvSpPr>
          <p:cNvPr id="288" name="Google Shape;288;g36a64e074a5_0_0"/>
          <p:cNvSpPr txBox="1"/>
          <p:nvPr/>
        </p:nvSpPr>
        <p:spPr>
          <a:xfrm>
            <a:off x="767550" y="4226825"/>
            <a:ext cx="4250700" cy="677078"/>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 sz="800" b="1" i="0" u="none" strike="noStrike" cap="none" dirty="0">
                <a:solidFill>
                  <a:schemeClr val="tx1">
                    <a:lumMod val="90000"/>
                    <a:lumOff val="10000"/>
                  </a:schemeClr>
                </a:solidFill>
                <a:latin typeface="Arial"/>
                <a:ea typeface="Arial"/>
                <a:cs typeface="Arial"/>
                <a:sym typeface="Arial"/>
              </a:rPr>
              <a:t>Figure 6:</a:t>
            </a:r>
            <a:r>
              <a:rPr lang="en" sz="800" b="0" i="0" u="none" strike="noStrike" cap="none" dirty="0">
                <a:solidFill>
                  <a:schemeClr val="tx1">
                    <a:lumMod val="90000"/>
                    <a:lumOff val="10000"/>
                  </a:schemeClr>
                </a:solidFill>
                <a:latin typeface="Arial"/>
                <a:ea typeface="Arial"/>
                <a:cs typeface="Arial"/>
                <a:sym typeface="Arial"/>
              </a:rPr>
              <a:t> Scatter plot showing the relationship between success rates (percentage of positive returns) and market-adjusted returns by sector. Bubble size represents transaction volume, while color indicates average beta of the sector (volatility). The red dashed lines mark 50% success rate and zero market-adjusted return thresholds.</a:t>
            </a:r>
            <a:endParaRPr sz="800" b="0" i="0" u="none" strike="noStrike" cap="none" dirty="0">
              <a:solidFill>
                <a:schemeClr val="tx1">
                  <a:lumMod val="90000"/>
                  <a:lumOff val="10000"/>
                </a:schemeClr>
              </a:solidFill>
              <a:latin typeface="Arial"/>
              <a:ea typeface="Arial"/>
              <a:cs typeface="Arial"/>
              <a:sym typeface="Arial"/>
            </a:endParaRPr>
          </a:p>
        </p:txBody>
      </p:sp>
      <p:sp>
        <p:nvSpPr>
          <p:cNvPr id="291" name="Google Shape;291;g36a64e074a5_0_0"/>
          <p:cNvSpPr/>
          <p:nvPr/>
        </p:nvSpPr>
        <p:spPr>
          <a:xfrm>
            <a:off x="9646250" y="256574"/>
            <a:ext cx="1957500" cy="436800"/>
          </a:xfrm>
          <a:prstGeom prst="chevron">
            <a:avLst>
              <a:gd name="adj" fmla="val 50000"/>
            </a:avLst>
          </a:prstGeom>
          <a:solidFill>
            <a:schemeClr val="accent1">
              <a:lumMod val="20000"/>
              <a:lumOff val="80000"/>
            </a:schemeClr>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 name="Google Shape;292;g36a64e074a5_0_0"/>
          <p:cNvSpPr/>
          <p:nvPr/>
        </p:nvSpPr>
        <p:spPr>
          <a:xfrm>
            <a:off x="9341450" y="256574"/>
            <a:ext cx="1957500" cy="436800"/>
          </a:xfrm>
          <a:prstGeom prst="chevron">
            <a:avLst>
              <a:gd name="adj" fmla="val 50000"/>
            </a:avLst>
          </a:prstGeom>
          <a:solidFill>
            <a:schemeClr val="accent1">
              <a:lumMod val="20000"/>
              <a:lumOff val="80000"/>
            </a:schemeClr>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3" name="Google Shape;293;g36a64e074a5_0_0"/>
          <p:cNvSpPr/>
          <p:nvPr/>
        </p:nvSpPr>
        <p:spPr>
          <a:xfrm>
            <a:off x="8046050" y="256574"/>
            <a:ext cx="1957500" cy="436800"/>
          </a:xfrm>
          <a:prstGeom prst="chevron">
            <a:avLst>
              <a:gd name="adj" fmla="val 50000"/>
            </a:avLst>
          </a:prstGeom>
          <a:solidFill>
            <a:schemeClr val="accent1">
              <a:lumMod val="20000"/>
              <a:lumOff val="80000"/>
            </a:schemeClr>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4" name="Google Shape;294;g36a64e074a5_0_0"/>
          <p:cNvSpPr/>
          <p:nvPr/>
        </p:nvSpPr>
        <p:spPr>
          <a:xfrm>
            <a:off x="8427050" y="256574"/>
            <a:ext cx="1957500" cy="436800"/>
          </a:xfrm>
          <a:prstGeom prst="chevron">
            <a:avLst>
              <a:gd name="adj" fmla="val 50000"/>
            </a:avLst>
          </a:prstGeom>
          <a:solidFill>
            <a:schemeClr val="accent1">
              <a:lumMod val="20000"/>
              <a:lumOff val="80000"/>
            </a:schemeClr>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5" name="Google Shape;295;g36a64e074a5_0_0"/>
          <p:cNvSpPr/>
          <p:nvPr/>
        </p:nvSpPr>
        <p:spPr>
          <a:xfrm>
            <a:off x="8794278" y="242375"/>
            <a:ext cx="2220300" cy="470700"/>
          </a:xfrm>
          <a:prstGeom prst="chevron">
            <a:avLst>
              <a:gd name="adj" fmla="val 50000"/>
            </a:avLst>
          </a:prstGeom>
          <a:solidFill>
            <a:schemeClr val="accent1"/>
          </a:solidFill>
          <a:ln w="19050"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chemeClr val="tx1"/>
                </a:solidFill>
                <a:latin typeface="Arial"/>
                <a:ea typeface="Arial"/>
                <a:cs typeface="Arial"/>
                <a:sym typeface="Arial"/>
              </a:rPr>
              <a:t>Data Manipulation</a:t>
            </a:r>
            <a:endParaRPr sz="1400" b="1" i="0" u="none" strike="noStrike" cap="none">
              <a:solidFill>
                <a:schemeClr val="tx1"/>
              </a:solidFill>
              <a:latin typeface="Arial"/>
              <a:ea typeface="Arial"/>
              <a:cs typeface="Arial"/>
              <a:sym typeface="Arial"/>
            </a:endParaRPr>
          </a:p>
        </p:txBody>
      </p:sp>
      <p:sp>
        <p:nvSpPr>
          <p:cNvPr id="296" name="Google Shape;296;g36a64e074a5_0_0"/>
          <p:cNvSpPr txBox="1">
            <a:spLocks noGrp="1"/>
          </p:cNvSpPr>
          <p:nvPr>
            <p:ph type="title"/>
          </p:nvPr>
        </p:nvSpPr>
        <p:spPr>
          <a:xfrm>
            <a:off x="433650" y="388325"/>
            <a:ext cx="5661000" cy="512700"/>
          </a:xfrm>
          <a:prstGeom prst="rect">
            <a:avLst/>
          </a:prstGeom>
          <a:noFill/>
          <a:ln>
            <a:noFill/>
          </a:ln>
        </p:spPr>
        <p:txBody>
          <a:bodyPr spcFirstLastPara="1" wrap="square" lIns="121875" tIns="121875" rIns="121875" bIns="121875" anchor="t" anchorCtr="0">
            <a:noAutofit/>
          </a:bodyPr>
          <a:lstStyle/>
          <a:p>
            <a:pPr marL="0" lvl="0" indent="0" algn="l" rtl="0">
              <a:lnSpc>
                <a:spcPct val="100000"/>
              </a:lnSpc>
              <a:spcBef>
                <a:spcPts val="0"/>
              </a:spcBef>
              <a:spcAft>
                <a:spcPts val="0"/>
              </a:spcAft>
              <a:buSzPts val="3700"/>
              <a:buNone/>
            </a:pPr>
            <a:r>
              <a:rPr lang="en" sz="2400" dirty="0">
                <a:solidFill>
                  <a:schemeClr val="tx1"/>
                </a:solidFill>
              </a:rPr>
              <a:t>Data Manipulation and Exploratory Analysis</a:t>
            </a:r>
            <a:endParaRPr sz="2400" dirty="0">
              <a:solidFill>
                <a:schemeClr val="tx1"/>
              </a:solidFill>
            </a:endParaRPr>
          </a:p>
        </p:txBody>
      </p:sp>
      <p:sp>
        <p:nvSpPr>
          <p:cNvPr id="297" name="Google Shape;297;g36a64e074a5_0_0"/>
          <p:cNvSpPr txBox="1">
            <a:spLocks noGrp="1"/>
          </p:cNvSpPr>
          <p:nvPr>
            <p:ph type="body" idx="1"/>
          </p:nvPr>
        </p:nvSpPr>
        <p:spPr>
          <a:xfrm>
            <a:off x="509850" y="4790519"/>
            <a:ext cx="4938600" cy="1850700"/>
          </a:xfrm>
          <a:prstGeom prst="rect">
            <a:avLst/>
          </a:prstGeom>
          <a:noFill/>
          <a:ln>
            <a:noFill/>
          </a:ln>
        </p:spPr>
        <p:txBody>
          <a:bodyPr spcFirstLastPara="1" wrap="square" lIns="91425" tIns="0"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1000" dirty="0">
                <a:solidFill>
                  <a:schemeClr val="dk1"/>
                </a:solidFill>
              </a:rPr>
              <a:t>The sector performance exploration reveals notable variations in both success rates and market-adjusted returns </a:t>
            </a:r>
            <a:r>
              <a:rPr lang="en" sz="1000" b="1" dirty="0">
                <a:solidFill>
                  <a:schemeClr val="dk1"/>
                </a:solidFill>
              </a:rPr>
              <a:t>(Fig 6)</a:t>
            </a:r>
            <a:r>
              <a:rPr lang="en" sz="1000" dirty="0">
                <a:solidFill>
                  <a:schemeClr val="dk1"/>
                </a:solidFill>
              </a:rPr>
              <a:t>. The Consumer Cyclical sector shows positive average market-adjusted returns (~4.2%), demonstrating a high success rate (~ 51% positive returns) and the highest volatility (Beta = 1.36). </a:t>
            </a:r>
            <a:endParaRPr sz="1000"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000" dirty="0">
                <a:solidFill>
                  <a:schemeClr val="dk1"/>
                </a:solidFill>
              </a:rPr>
              <a:t>Energy shows strong market-adjusted performance but with slightly worse success rates, while Healthcare represents the largest volume of transactions with positive market-adjusted returns (~4.0%) despite only reasonable success rates.</a:t>
            </a:r>
            <a:endParaRPr sz="1000" dirty="0">
              <a:solidFill>
                <a:schemeClr val="dk1"/>
              </a:solidFill>
            </a:endParaRPr>
          </a:p>
          <a:p>
            <a:pPr marL="0" lvl="0" indent="0" algn="l" rtl="0">
              <a:lnSpc>
                <a:spcPct val="115000"/>
              </a:lnSpc>
              <a:spcBef>
                <a:spcPts val="1200"/>
              </a:spcBef>
              <a:spcAft>
                <a:spcPts val="600"/>
              </a:spcAft>
              <a:buSzPts val="1100"/>
              <a:buNone/>
            </a:pPr>
            <a:endParaRPr sz="1000" dirty="0">
              <a:solidFill>
                <a:schemeClr val="dk1"/>
              </a:solidFill>
            </a:endParaRPr>
          </a:p>
        </p:txBody>
      </p:sp>
      <p:sp>
        <p:nvSpPr>
          <p:cNvPr id="299" name="Google Shape;299;g36a64e074a5_0_0"/>
          <p:cNvSpPr txBox="1"/>
          <p:nvPr/>
        </p:nvSpPr>
        <p:spPr>
          <a:xfrm rot="-5400000">
            <a:off x="8640189" y="3007143"/>
            <a:ext cx="1393500" cy="2769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600"/>
              <a:buFont typeface="Arial"/>
              <a:buNone/>
            </a:pPr>
            <a:r>
              <a:rPr lang="en" sz="600" b="1" i="0" u="none" strike="noStrike" cap="none" dirty="0">
                <a:solidFill>
                  <a:schemeClr val="tx1"/>
                </a:solidFill>
                <a:latin typeface="Arial"/>
                <a:ea typeface="Arial"/>
                <a:cs typeface="Arial"/>
                <a:sym typeface="Arial"/>
              </a:rPr>
              <a:t>Sector</a:t>
            </a:r>
            <a:endParaRPr sz="600" b="1" i="0" u="none" strike="noStrike" cap="none" dirty="0">
              <a:solidFill>
                <a:schemeClr val="tx1"/>
              </a:solidFill>
              <a:latin typeface="Arial"/>
              <a:ea typeface="Arial"/>
              <a:cs typeface="Arial"/>
              <a:sym typeface="Arial"/>
            </a:endParaRPr>
          </a:p>
        </p:txBody>
      </p:sp>
      <p:sp>
        <p:nvSpPr>
          <p:cNvPr id="300" name="Google Shape;300;g36a64e074a5_0_0"/>
          <p:cNvSpPr txBox="1"/>
          <p:nvPr/>
        </p:nvSpPr>
        <p:spPr>
          <a:xfrm>
            <a:off x="9857227" y="5469293"/>
            <a:ext cx="1393500" cy="2769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600"/>
              <a:buFont typeface="Arial"/>
              <a:buNone/>
            </a:pPr>
            <a:r>
              <a:rPr lang="en" sz="600" b="1" i="0" u="none" strike="noStrike" cap="none" dirty="0">
                <a:solidFill>
                  <a:schemeClr val="tx1"/>
                </a:solidFill>
                <a:latin typeface="Arial"/>
                <a:ea typeface="Arial"/>
                <a:cs typeface="Arial"/>
                <a:sym typeface="Arial"/>
              </a:rPr>
              <a:t>Market Capitalization</a:t>
            </a:r>
            <a:endParaRPr sz="600" b="1" i="0" u="none" strike="noStrike" cap="none" dirty="0">
              <a:solidFill>
                <a:schemeClr val="tx1"/>
              </a:solidFill>
              <a:latin typeface="Arial"/>
              <a:ea typeface="Arial"/>
              <a:cs typeface="Arial"/>
              <a:sym typeface="Arial"/>
            </a:endParaRPr>
          </a:p>
        </p:txBody>
      </p:sp>
      <p:sp>
        <p:nvSpPr>
          <p:cNvPr id="303" name="Google Shape;303;g36a64e074a5_0_0"/>
          <p:cNvSpPr txBox="1"/>
          <p:nvPr/>
        </p:nvSpPr>
        <p:spPr>
          <a:xfrm>
            <a:off x="9202435" y="5624607"/>
            <a:ext cx="2691588" cy="677078"/>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 sz="800" b="1" i="0" u="none" strike="noStrike" cap="none" dirty="0">
                <a:solidFill>
                  <a:schemeClr val="tx1">
                    <a:lumMod val="90000"/>
                    <a:lumOff val="10000"/>
                  </a:schemeClr>
                </a:solidFill>
                <a:latin typeface="Arial"/>
                <a:ea typeface="Arial"/>
                <a:cs typeface="Arial"/>
                <a:sym typeface="Arial"/>
              </a:rPr>
              <a:t>Figure 7:</a:t>
            </a:r>
            <a:r>
              <a:rPr lang="en" sz="800" b="0" i="0" u="none" strike="noStrike" cap="none" dirty="0">
                <a:solidFill>
                  <a:schemeClr val="tx1">
                    <a:lumMod val="90000"/>
                    <a:lumOff val="10000"/>
                  </a:schemeClr>
                </a:solidFill>
                <a:latin typeface="Arial"/>
                <a:ea typeface="Arial"/>
                <a:cs typeface="Arial"/>
                <a:sym typeface="Arial"/>
              </a:rPr>
              <a:t> Heatmap displaying the distribution of excess returns across sectors and market capitalization categories. Cell values represent alpha, with color intensity indicating excessive returns. </a:t>
            </a:r>
            <a:endParaRPr sz="800" b="0" i="0" u="none" strike="noStrike" cap="none" dirty="0">
              <a:solidFill>
                <a:schemeClr val="tx1">
                  <a:lumMod val="90000"/>
                  <a:lumOff val="10000"/>
                </a:schemeClr>
              </a:solidFill>
              <a:latin typeface="Arial"/>
              <a:ea typeface="Arial"/>
              <a:cs typeface="Arial"/>
              <a:sym typeface="Arial"/>
            </a:endParaRPr>
          </a:p>
        </p:txBody>
      </p:sp>
      <p:sp>
        <p:nvSpPr>
          <p:cNvPr id="2" name="Rectangle 1">
            <a:extLst>
              <a:ext uri="{FF2B5EF4-FFF2-40B4-BE49-F238E27FC236}">
                <a16:creationId xmlns:a16="http://schemas.microsoft.com/office/drawing/2014/main" id="{ED86F423-F807-D3EA-E5CB-71829DF7AA87}"/>
              </a:ext>
            </a:extLst>
          </p:cNvPr>
          <p:cNvSpPr/>
          <p:nvPr/>
        </p:nvSpPr>
        <p:spPr>
          <a:xfrm rot="10800000" flipV="1">
            <a:off x="-1" y="946962"/>
            <a:ext cx="9068025" cy="45719"/>
          </a:xfrm>
          <a:prstGeom prst="rect">
            <a:avLst/>
          </a:prstGeom>
          <a:gradFill>
            <a:gsLst>
              <a:gs pos="100000">
                <a:srgbClr val="14232E"/>
              </a:gs>
              <a:gs pos="0">
                <a:schemeClr val="tx2">
                  <a:lumMod val="20000"/>
                  <a:lumOff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89D374C-37A8-BDBB-270D-606447CC2037}"/>
              </a:ext>
            </a:extLst>
          </p:cNvPr>
          <p:cNvSpPr/>
          <p:nvPr/>
        </p:nvSpPr>
        <p:spPr>
          <a:xfrm>
            <a:off x="3410275" y="6456178"/>
            <a:ext cx="8781725" cy="45719"/>
          </a:xfrm>
          <a:prstGeom prst="rect">
            <a:avLst/>
          </a:prstGeom>
          <a:gradFill>
            <a:gsLst>
              <a:gs pos="100000">
                <a:srgbClr val="9E7316"/>
              </a:gs>
              <a:gs pos="0">
                <a:schemeClr val="tx2">
                  <a:lumMod val="20000"/>
                  <a:lumOff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B154F37C-89DE-5D77-A893-9F4783FDFB1F}"/>
              </a:ext>
            </a:extLst>
          </p:cNvPr>
          <p:cNvPicPr>
            <a:picLocks noChangeAspect="1"/>
          </p:cNvPicPr>
          <p:nvPr/>
        </p:nvPicPr>
        <p:blipFill>
          <a:blip r:embed="rId4"/>
          <a:stretch>
            <a:fillRect/>
          </a:stretch>
        </p:blipFill>
        <p:spPr>
          <a:xfrm>
            <a:off x="1044054" y="2043673"/>
            <a:ext cx="3365039" cy="225087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7"/>
        <p:cNvGrpSpPr/>
        <p:nvPr/>
      </p:nvGrpSpPr>
      <p:grpSpPr>
        <a:xfrm>
          <a:off x="0" y="0"/>
          <a:ext cx="0" cy="0"/>
          <a:chOff x="0" y="0"/>
          <a:chExt cx="0" cy="0"/>
        </a:xfrm>
      </p:grpSpPr>
      <p:sp>
        <p:nvSpPr>
          <p:cNvPr id="3" name="Rectangle 2">
            <a:extLst>
              <a:ext uri="{FF2B5EF4-FFF2-40B4-BE49-F238E27FC236}">
                <a16:creationId xmlns:a16="http://schemas.microsoft.com/office/drawing/2014/main" id="{EB8A87D9-62E2-BA30-7295-5B1426DE0C82}"/>
              </a:ext>
            </a:extLst>
          </p:cNvPr>
          <p:cNvSpPr/>
          <p:nvPr/>
        </p:nvSpPr>
        <p:spPr>
          <a:xfrm>
            <a:off x="3410275" y="6456178"/>
            <a:ext cx="8781725" cy="45719"/>
          </a:xfrm>
          <a:prstGeom prst="rect">
            <a:avLst/>
          </a:prstGeom>
          <a:gradFill>
            <a:gsLst>
              <a:gs pos="100000">
                <a:srgbClr val="9E7316"/>
              </a:gs>
              <a:gs pos="0">
                <a:schemeClr val="tx2">
                  <a:lumMod val="20000"/>
                  <a:lumOff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B1BF3C6A-8127-FAD6-6D74-96E4A14A82A2}"/>
              </a:ext>
            </a:extLst>
          </p:cNvPr>
          <p:cNvPicPr>
            <a:picLocks noChangeAspect="1"/>
          </p:cNvPicPr>
          <p:nvPr/>
        </p:nvPicPr>
        <p:blipFill>
          <a:blip r:embed="rId3"/>
          <a:stretch>
            <a:fillRect/>
          </a:stretch>
        </p:blipFill>
        <p:spPr>
          <a:xfrm>
            <a:off x="8306360" y="3789283"/>
            <a:ext cx="2871157" cy="2200816"/>
          </a:xfrm>
          <a:prstGeom prst="rect">
            <a:avLst/>
          </a:prstGeom>
        </p:spPr>
      </p:pic>
      <p:pic>
        <p:nvPicPr>
          <p:cNvPr id="9" name="Picture 8">
            <a:extLst>
              <a:ext uri="{FF2B5EF4-FFF2-40B4-BE49-F238E27FC236}">
                <a16:creationId xmlns:a16="http://schemas.microsoft.com/office/drawing/2014/main" id="{FBFA196B-00E6-A899-1EE4-C0F7DBE1CAA9}"/>
              </a:ext>
            </a:extLst>
          </p:cNvPr>
          <p:cNvPicPr>
            <a:picLocks noChangeAspect="1"/>
          </p:cNvPicPr>
          <p:nvPr/>
        </p:nvPicPr>
        <p:blipFill>
          <a:blip r:embed="rId4"/>
          <a:stretch>
            <a:fillRect/>
          </a:stretch>
        </p:blipFill>
        <p:spPr>
          <a:xfrm>
            <a:off x="591946" y="3972570"/>
            <a:ext cx="3058497" cy="2044824"/>
          </a:xfrm>
          <a:prstGeom prst="rect">
            <a:avLst/>
          </a:prstGeom>
        </p:spPr>
      </p:pic>
      <p:pic>
        <p:nvPicPr>
          <p:cNvPr id="7" name="Picture 6">
            <a:extLst>
              <a:ext uri="{FF2B5EF4-FFF2-40B4-BE49-F238E27FC236}">
                <a16:creationId xmlns:a16="http://schemas.microsoft.com/office/drawing/2014/main" id="{16EA61A9-ED60-B173-1E4C-9F7FAFDFB11E}"/>
              </a:ext>
            </a:extLst>
          </p:cNvPr>
          <p:cNvPicPr>
            <a:picLocks noChangeAspect="1"/>
          </p:cNvPicPr>
          <p:nvPr/>
        </p:nvPicPr>
        <p:blipFill>
          <a:blip r:embed="rId5"/>
          <a:stretch>
            <a:fillRect/>
          </a:stretch>
        </p:blipFill>
        <p:spPr>
          <a:xfrm>
            <a:off x="4231445" y="1011943"/>
            <a:ext cx="3405275" cy="2107264"/>
          </a:xfrm>
          <a:prstGeom prst="rect">
            <a:avLst/>
          </a:prstGeom>
        </p:spPr>
      </p:pic>
      <p:sp>
        <p:nvSpPr>
          <p:cNvPr id="259" name="Google Shape;259;p6"/>
          <p:cNvSpPr txBox="1"/>
          <p:nvPr/>
        </p:nvSpPr>
        <p:spPr>
          <a:xfrm>
            <a:off x="-84050" y="-938500"/>
            <a:ext cx="2423400" cy="630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2"/>
              </a:solidFill>
              <a:latin typeface="Arial"/>
              <a:ea typeface="Arial"/>
              <a:cs typeface="Arial"/>
              <a:sym typeface="Arial"/>
            </a:endParaRPr>
          </a:p>
        </p:txBody>
      </p:sp>
      <p:sp>
        <p:nvSpPr>
          <p:cNvPr id="260" name="Google Shape;260;p6"/>
          <p:cNvSpPr txBox="1"/>
          <p:nvPr/>
        </p:nvSpPr>
        <p:spPr>
          <a:xfrm>
            <a:off x="11773475" y="6502122"/>
            <a:ext cx="261600" cy="295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Arial"/>
                <a:ea typeface="Arial"/>
                <a:cs typeface="Arial"/>
                <a:sym typeface="Arial"/>
              </a:rPr>
              <a:t>8</a:t>
            </a:r>
            <a:endParaRPr sz="1200" b="1" i="0" u="none" strike="noStrike" cap="none" dirty="0">
              <a:solidFill>
                <a:schemeClr val="dk1"/>
              </a:solidFill>
              <a:latin typeface="Arial"/>
              <a:ea typeface="Arial"/>
              <a:cs typeface="Arial"/>
              <a:sym typeface="Arial"/>
            </a:endParaRPr>
          </a:p>
        </p:txBody>
      </p:sp>
      <p:sp>
        <p:nvSpPr>
          <p:cNvPr id="261" name="Google Shape;261;p6"/>
          <p:cNvSpPr txBox="1"/>
          <p:nvPr/>
        </p:nvSpPr>
        <p:spPr>
          <a:xfrm>
            <a:off x="4419806" y="3041502"/>
            <a:ext cx="35637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dirty="0">
                <a:solidFill>
                  <a:schemeClr val="tx1">
                    <a:lumMod val="90000"/>
                    <a:lumOff val="10000"/>
                  </a:schemeClr>
                </a:solidFill>
              </a:rPr>
              <a:t>Figure 9:</a:t>
            </a:r>
            <a:r>
              <a:rPr lang="en" sz="800" dirty="0">
                <a:solidFill>
                  <a:schemeClr val="tx1">
                    <a:lumMod val="90000"/>
                    <a:lumOff val="10000"/>
                  </a:schemeClr>
                </a:solidFill>
              </a:rPr>
              <a:t> Box plot of returns for 6 months following insider transactions based on insider position. The median return is reported as the primary measure of central tendency for non-parametric data.</a:t>
            </a:r>
            <a:endParaRPr sz="800" dirty="0">
              <a:solidFill>
                <a:schemeClr val="tx1">
                  <a:lumMod val="90000"/>
                  <a:lumOff val="10000"/>
                </a:schemeClr>
              </a:solidFill>
            </a:endParaRPr>
          </a:p>
        </p:txBody>
      </p:sp>
      <p:sp>
        <p:nvSpPr>
          <p:cNvPr id="262" name="Google Shape;262;p6"/>
          <p:cNvSpPr txBox="1">
            <a:spLocks noGrp="1"/>
          </p:cNvSpPr>
          <p:nvPr>
            <p:ph type="body" idx="1"/>
          </p:nvPr>
        </p:nvSpPr>
        <p:spPr>
          <a:xfrm>
            <a:off x="461700" y="997978"/>
            <a:ext cx="3563700" cy="3374700"/>
          </a:xfrm>
          <a:prstGeom prst="rect">
            <a:avLst/>
          </a:prstGeom>
          <a:noFill/>
          <a:ln>
            <a:noFill/>
          </a:ln>
        </p:spPr>
        <p:txBody>
          <a:bodyPr spcFirstLastPara="1" wrap="square" lIns="91425" tIns="0" rIns="91425" bIns="91425" anchor="t" anchorCtr="0">
            <a:noAutofit/>
          </a:bodyPr>
          <a:lstStyle/>
          <a:p>
            <a:pPr marL="0" lvl="0" indent="0" algn="l" rtl="0">
              <a:lnSpc>
                <a:spcPct val="115000"/>
              </a:lnSpc>
              <a:spcBef>
                <a:spcPts val="600"/>
              </a:spcBef>
              <a:spcAft>
                <a:spcPts val="0"/>
              </a:spcAft>
              <a:buSzPts val="1100"/>
              <a:buNone/>
            </a:pPr>
            <a:r>
              <a:rPr lang="en" sz="1200" b="1" dirty="0">
                <a:solidFill>
                  <a:schemeClr val="dk1"/>
                </a:solidFill>
              </a:rPr>
              <a:t>Distribution of Returns: Insiders vs. Market</a:t>
            </a:r>
            <a:endParaRPr sz="1200" b="1"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000" dirty="0">
                <a:solidFill>
                  <a:schemeClr val="dk1"/>
                </a:solidFill>
              </a:rPr>
              <a:t>Due to the right-skewed nature of the return distribution, we employed the Wilcoxon signed-rank test, a non-parametric alternative to the paired t-test, to evaluate our hypothesis.</a:t>
            </a:r>
            <a:endParaRPr sz="1000" dirty="0">
              <a:solidFill>
                <a:schemeClr val="dk1"/>
              </a:solidFill>
            </a:endParaRPr>
          </a:p>
          <a:p>
            <a:pPr marL="228600" lvl="0" indent="-177800" algn="l" rtl="0">
              <a:lnSpc>
                <a:spcPct val="115000"/>
              </a:lnSpc>
              <a:spcBef>
                <a:spcPts val="1200"/>
              </a:spcBef>
              <a:spcAft>
                <a:spcPts val="0"/>
              </a:spcAft>
              <a:buClr>
                <a:schemeClr val="dk1"/>
              </a:buClr>
              <a:buSzPts val="1000"/>
              <a:buChar char="-"/>
            </a:pPr>
            <a:r>
              <a:rPr lang="en" sz="1000" b="1" dirty="0">
                <a:solidFill>
                  <a:schemeClr val="dk1"/>
                </a:solidFill>
              </a:rPr>
              <a:t>Null Hypothesis (H</a:t>
            </a:r>
            <a:r>
              <a:rPr lang="en" sz="1000" b="1" baseline="-25000" dirty="0">
                <a:solidFill>
                  <a:schemeClr val="dk1"/>
                </a:solidFill>
              </a:rPr>
              <a:t>0</a:t>
            </a:r>
            <a:r>
              <a:rPr lang="en" sz="1000" b="1" dirty="0">
                <a:solidFill>
                  <a:schemeClr val="dk1"/>
                </a:solidFill>
              </a:rPr>
              <a:t>):</a:t>
            </a:r>
            <a:r>
              <a:rPr lang="en" sz="1000" dirty="0">
                <a:solidFill>
                  <a:schemeClr val="dk1"/>
                </a:solidFill>
              </a:rPr>
              <a:t>  Insider transactions yield returns similar to the market, indicating no informative value.</a:t>
            </a:r>
            <a:endParaRPr sz="1000" dirty="0">
              <a:solidFill>
                <a:schemeClr val="dk1"/>
              </a:solidFill>
            </a:endParaRPr>
          </a:p>
          <a:p>
            <a:pPr marL="228600" lvl="0" indent="-177800" algn="l" rtl="0">
              <a:lnSpc>
                <a:spcPct val="115000"/>
              </a:lnSpc>
              <a:spcBef>
                <a:spcPts val="0"/>
              </a:spcBef>
              <a:spcAft>
                <a:spcPts val="0"/>
              </a:spcAft>
              <a:buClr>
                <a:schemeClr val="dk1"/>
              </a:buClr>
              <a:buSzPts val="1000"/>
              <a:buChar char="-"/>
            </a:pPr>
            <a:r>
              <a:rPr lang="en" sz="1000" b="1" dirty="0">
                <a:solidFill>
                  <a:schemeClr val="dk1"/>
                </a:solidFill>
              </a:rPr>
              <a:t>Alternative Hypothesis (H</a:t>
            </a:r>
            <a:r>
              <a:rPr lang="en" sz="1000" b="1" baseline="-25000" dirty="0">
                <a:solidFill>
                  <a:schemeClr val="dk1"/>
                </a:solidFill>
              </a:rPr>
              <a:t>a</a:t>
            </a:r>
            <a:r>
              <a:rPr lang="en" sz="1000" b="1" dirty="0">
                <a:solidFill>
                  <a:schemeClr val="dk1"/>
                </a:solidFill>
              </a:rPr>
              <a:t>): </a:t>
            </a:r>
            <a:r>
              <a:rPr lang="en" sz="1000" dirty="0">
                <a:solidFill>
                  <a:schemeClr val="dk1"/>
                </a:solidFill>
              </a:rPr>
              <a:t>Insider transactions either outperform or underperform the broader market. </a:t>
            </a:r>
            <a:endParaRPr sz="1000"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000" dirty="0">
                <a:solidFill>
                  <a:schemeClr val="dk1"/>
                </a:solidFill>
              </a:rPr>
              <a:t>The test results indicated that the </a:t>
            </a:r>
            <a:r>
              <a:rPr lang="en" sz="1000" b="1" dirty="0">
                <a:solidFill>
                  <a:schemeClr val="dk1"/>
                </a:solidFill>
              </a:rPr>
              <a:t>median return</a:t>
            </a:r>
            <a:r>
              <a:rPr lang="en" sz="1000" dirty="0">
                <a:solidFill>
                  <a:schemeClr val="dk1"/>
                </a:solidFill>
              </a:rPr>
              <a:t> from insider transactions was significantly lower than that of the market (p&lt;0.05), providing statistical evidence that insiders, on average, underperformed the benchmark </a:t>
            </a:r>
            <a:r>
              <a:rPr lang="en" sz="1000" b="1" dirty="0">
                <a:solidFill>
                  <a:schemeClr val="dk1"/>
                </a:solidFill>
              </a:rPr>
              <a:t>(Fig 8)</a:t>
            </a:r>
            <a:r>
              <a:rPr lang="en" sz="1000" dirty="0">
                <a:solidFill>
                  <a:schemeClr val="dk1"/>
                </a:solidFill>
              </a:rPr>
              <a:t>.</a:t>
            </a:r>
            <a:endParaRPr sz="1000" dirty="0">
              <a:solidFill>
                <a:schemeClr val="dk1"/>
              </a:solidFill>
            </a:endParaRPr>
          </a:p>
        </p:txBody>
      </p:sp>
      <p:sp>
        <p:nvSpPr>
          <p:cNvPr id="263" name="Google Shape;263;p6"/>
          <p:cNvSpPr txBox="1">
            <a:spLocks noGrp="1"/>
          </p:cNvSpPr>
          <p:nvPr>
            <p:ph type="body" idx="1"/>
          </p:nvPr>
        </p:nvSpPr>
        <p:spPr>
          <a:xfrm>
            <a:off x="4290150" y="3568306"/>
            <a:ext cx="3563700" cy="2715900"/>
          </a:xfrm>
          <a:prstGeom prst="rect">
            <a:avLst/>
          </a:prstGeom>
          <a:noFill/>
          <a:ln>
            <a:noFill/>
          </a:ln>
        </p:spPr>
        <p:txBody>
          <a:bodyPr spcFirstLastPara="1" wrap="square" lIns="91425" tIns="0" rIns="91425" bIns="91425" anchor="t" anchorCtr="0">
            <a:noAutofit/>
          </a:bodyPr>
          <a:lstStyle/>
          <a:p>
            <a:pPr marL="0" lvl="0" indent="0" algn="l" rtl="0">
              <a:lnSpc>
                <a:spcPct val="115000"/>
              </a:lnSpc>
              <a:spcBef>
                <a:spcPts val="600"/>
              </a:spcBef>
              <a:spcAft>
                <a:spcPts val="0"/>
              </a:spcAft>
              <a:buSzPts val="1100"/>
              <a:buNone/>
            </a:pPr>
            <a:r>
              <a:rPr lang="en" sz="1200" b="1">
                <a:solidFill>
                  <a:schemeClr val="dk1"/>
                </a:solidFill>
              </a:rPr>
              <a:t>Performance Comparison by Insider Position</a:t>
            </a:r>
            <a:endParaRPr sz="105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000">
                <a:solidFill>
                  <a:schemeClr val="dk1"/>
                </a:solidFill>
              </a:rPr>
              <a:t>To explore whether certain insider roles are associated with superior returns, we conducted a Mann-Whitney U test, a non-parametric method appropriate for comparing independent groups. </a:t>
            </a:r>
            <a:endParaRPr sz="1000">
              <a:solidFill>
                <a:schemeClr val="dk1"/>
              </a:solidFill>
            </a:endParaRPr>
          </a:p>
          <a:p>
            <a:pPr marL="228600" lvl="0" indent="-177800" algn="l" rtl="0">
              <a:lnSpc>
                <a:spcPct val="115000"/>
              </a:lnSpc>
              <a:spcBef>
                <a:spcPts val="1200"/>
              </a:spcBef>
              <a:spcAft>
                <a:spcPts val="0"/>
              </a:spcAft>
              <a:buClr>
                <a:schemeClr val="dk1"/>
              </a:buClr>
              <a:buSzPts val="1000"/>
              <a:buChar char="-"/>
            </a:pPr>
            <a:r>
              <a:rPr lang="en" sz="1000" b="1">
                <a:solidFill>
                  <a:schemeClr val="dk1"/>
                </a:solidFill>
              </a:rPr>
              <a:t>Null Hypothesis</a:t>
            </a:r>
            <a:r>
              <a:rPr lang="en" sz="1000">
                <a:solidFill>
                  <a:schemeClr val="dk1"/>
                </a:solidFill>
              </a:rPr>
              <a:t> </a:t>
            </a:r>
            <a:r>
              <a:rPr lang="en" sz="1000" b="1">
                <a:solidFill>
                  <a:schemeClr val="dk1"/>
                </a:solidFill>
              </a:rPr>
              <a:t>(H</a:t>
            </a:r>
            <a:r>
              <a:rPr lang="en" sz="1000" b="1" baseline="-25000">
                <a:solidFill>
                  <a:schemeClr val="dk1"/>
                </a:solidFill>
              </a:rPr>
              <a:t>0</a:t>
            </a:r>
            <a:r>
              <a:rPr lang="en" sz="1000" b="1">
                <a:solidFill>
                  <a:schemeClr val="dk1"/>
                </a:solidFill>
              </a:rPr>
              <a:t>):</a:t>
            </a:r>
            <a:r>
              <a:rPr lang="en" sz="1000">
                <a:solidFill>
                  <a:schemeClr val="dk1"/>
                </a:solidFill>
              </a:rPr>
              <a:t>  There is no difference in returns based on insider role. </a:t>
            </a:r>
            <a:endParaRPr sz="1000">
              <a:solidFill>
                <a:schemeClr val="dk1"/>
              </a:solidFill>
            </a:endParaRPr>
          </a:p>
          <a:p>
            <a:pPr marL="228600" lvl="0" indent="-177800" algn="l" rtl="0">
              <a:lnSpc>
                <a:spcPct val="115000"/>
              </a:lnSpc>
              <a:spcBef>
                <a:spcPts val="0"/>
              </a:spcBef>
              <a:spcAft>
                <a:spcPts val="0"/>
              </a:spcAft>
              <a:buClr>
                <a:schemeClr val="dk1"/>
              </a:buClr>
              <a:buSzPts val="1000"/>
              <a:buChar char="-"/>
            </a:pPr>
            <a:r>
              <a:rPr lang="en" sz="1000" b="1">
                <a:solidFill>
                  <a:schemeClr val="dk1"/>
                </a:solidFill>
              </a:rPr>
              <a:t>Alternative Hypothesis (H</a:t>
            </a:r>
            <a:r>
              <a:rPr lang="en" sz="1000" b="1" baseline="-25000">
                <a:solidFill>
                  <a:schemeClr val="dk1"/>
                </a:solidFill>
              </a:rPr>
              <a:t>a</a:t>
            </a:r>
            <a:r>
              <a:rPr lang="en" sz="1000" b="1">
                <a:solidFill>
                  <a:schemeClr val="dk1"/>
                </a:solidFill>
              </a:rPr>
              <a:t>):</a:t>
            </a:r>
            <a:r>
              <a:rPr lang="en" sz="1000">
                <a:solidFill>
                  <a:schemeClr val="dk1"/>
                </a:solidFill>
              </a:rPr>
              <a:t> Insider roles with privileged access to corporate financials, such as the Chief Financial Officer, may generate higher returns than others. </a:t>
            </a:r>
            <a:endParaRPr sz="1000">
              <a:solidFill>
                <a:schemeClr val="dk1"/>
              </a:solidFill>
            </a:endParaRPr>
          </a:p>
          <a:p>
            <a:pPr marL="0" lvl="0" indent="0" algn="l" rtl="0">
              <a:lnSpc>
                <a:spcPct val="115000"/>
              </a:lnSpc>
              <a:spcBef>
                <a:spcPts val="1200"/>
              </a:spcBef>
              <a:spcAft>
                <a:spcPts val="0"/>
              </a:spcAft>
              <a:buNone/>
            </a:pPr>
            <a:r>
              <a:rPr lang="en" sz="1000">
                <a:solidFill>
                  <a:schemeClr val="dk1"/>
                </a:solidFill>
              </a:rPr>
              <a:t>The test revealed </a:t>
            </a:r>
            <a:r>
              <a:rPr lang="en" sz="1000" b="1">
                <a:solidFill>
                  <a:schemeClr val="dk1"/>
                </a:solidFill>
              </a:rPr>
              <a:t>no statistically significant differences</a:t>
            </a:r>
            <a:endParaRPr sz="100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1050">
              <a:solidFill>
                <a:schemeClr val="dk1"/>
              </a:solidFill>
            </a:endParaRPr>
          </a:p>
        </p:txBody>
      </p:sp>
      <p:sp>
        <p:nvSpPr>
          <p:cNvPr id="264" name="Google Shape;264;p6"/>
          <p:cNvSpPr txBox="1">
            <a:spLocks noGrp="1"/>
          </p:cNvSpPr>
          <p:nvPr>
            <p:ph type="body" idx="1"/>
          </p:nvPr>
        </p:nvSpPr>
        <p:spPr>
          <a:xfrm>
            <a:off x="8008475" y="967131"/>
            <a:ext cx="3742106" cy="1020900"/>
          </a:xfrm>
          <a:prstGeom prst="rect">
            <a:avLst/>
          </a:prstGeom>
          <a:noFill/>
          <a:ln>
            <a:noFill/>
          </a:ln>
        </p:spPr>
        <p:txBody>
          <a:bodyPr spcFirstLastPara="1" wrap="square" lIns="91425" tIns="0" rIns="91425" bIns="91425" anchor="t" anchorCtr="0">
            <a:noAutofit/>
          </a:bodyPr>
          <a:lstStyle/>
          <a:p>
            <a:pPr marL="0" lvl="0" indent="0" algn="l" rtl="0">
              <a:spcBef>
                <a:spcPts val="1200"/>
              </a:spcBef>
              <a:spcAft>
                <a:spcPts val="0"/>
              </a:spcAft>
              <a:buClr>
                <a:schemeClr val="dk1"/>
              </a:buClr>
              <a:buSzPts val="1100"/>
              <a:buFont typeface="Arial"/>
              <a:buNone/>
            </a:pPr>
            <a:r>
              <a:rPr lang="en" sz="1000" dirty="0">
                <a:solidFill>
                  <a:schemeClr val="dk1"/>
                </a:solidFill>
              </a:rPr>
              <a:t>among the median returns of the top five insider positions    </a:t>
            </a:r>
            <a:r>
              <a:rPr lang="en" sz="1000" b="1" dirty="0">
                <a:solidFill>
                  <a:schemeClr val="dk1"/>
                </a:solidFill>
              </a:rPr>
              <a:t>(Fig 9)</a:t>
            </a:r>
            <a:r>
              <a:rPr lang="en" sz="1000" dirty="0">
                <a:solidFill>
                  <a:schemeClr val="dk1"/>
                </a:solidFill>
              </a:rPr>
              <a:t>, suggesting that no single role consistently outperformed others in terms of post-transaction returns. </a:t>
            </a:r>
            <a:endParaRPr sz="1050" dirty="0">
              <a:solidFill>
                <a:schemeClr val="dk1"/>
              </a:solidFill>
            </a:endParaRPr>
          </a:p>
          <a:p>
            <a:pPr marL="0" lvl="0" indent="0" algn="l" rtl="0">
              <a:lnSpc>
                <a:spcPct val="115000"/>
              </a:lnSpc>
              <a:spcBef>
                <a:spcPts val="1200"/>
              </a:spcBef>
              <a:spcAft>
                <a:spcPts val="600"/>
              </a:spcAft>
              <a:buSzPts val="1100"/>
              <a:buNone/>
            </a:pPr>
            <a:endParaRPr dirty="0">
              <a:solidFill>
                <a:schemeClr val="dk1"/>
              </a:solidFill>
            </a:endParaRPr>
          </a:p>
        </p:txBody>
      </p:sp>
      <p:sp>
        <p:nvSpPr>
          <p:cNvPr id="265" name="Google Shape;265;p6"/>
          <p:cNvSpPr txBox="1">
            <a:spLocks noGrp="1"/>
          </p:cNvSpPr>
          <p:nvPr>
            <p:ph type="body" idx="1"/>
          </p:nvPr>
        </p:nvSpPr>
        <p:spPr>
          <a:xfrm>
            <a:off x="7998275" y="1683231"/>
            <a:ext cx="3699000" cy="2715900"/>
          </a:xfrm>
          <a:prstGeom prst="rect">
            <a:avLst/>
          </a:prstGeom>
          <a:noFill/>
          <a:ln>
            <a:noFill/>
          </a:ln>
        </p:spPr>
        <p:txBody>
          <a:bodyPr spcFirstLastPara="1" wrap="square" lIns="91425" tIns="0" rIns="91425" bIns="91425" anchor="t" anchorCtr="0">
            <a:noAutofit/>
          </a:bodyPr>
          <a:lstStyle/>
          <a:p>
            <a:pPr marL="0" lvl="0" indent="0" algn="l" rtl="0">
              <a:lnSpc>
                <a:spcPct val="115000"/>
              </a:lnSpc>
              <a:spcBef>
                <a:spcPts val="600"/>
              </a:spcBef>
              <a:spcAft>
                <a:spcPts val="0"/>
              </a:spcAft>
              <a:buSzPts val="1100"/>
              <a:buNone/>
            </a:pPr>
            <a:r>
              <a:rPr lang="en" sz="1200" b="1" dirty="0">
                <a:solidFill>
                  <a:schemeClr val="dk1"/>
                </a:solidFill>
              </a:rPr>
              <a:t>Do Insider Positions Predict Alpha?</a:t>
            </a:r>
            <a:endParaRPr sz="1050"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000" dirty="0">
                <a:solidFill>
                  <a:schemeClr val="dk1"/>
                </a:solidFill>
              </a:rPr>
              <a:t>Taken together, these results suggest that insider transactions alone are not reliable predictors of alpha. Most trades cluster around zero excess return and monthly price trend, reinforcing the hypothesis that the majority of insider activity is random noise </a:t>
            </a:r>
            <a:r>
              <a:rPr lang="en" sz="1000" b="1" dirty="0">
                <a:solidFill>
                  <a:schemeClr val="dk1"/>
                </a:solidFill>
              </a:rPr>
              <a:t>(Fig 10)</a:t>
            </a:r>
            <a:r>
              <a:rPr lang="en" sz="1000" dirty="0">
                <a:solidFill>
                  <a:schemeClr val="dk1"/>
                </a:solidFill>
              </a:rPr>
              <a:t>. However, the right-skewed distribution and elevated kurtosis indicate the presence of occasional, outsized returns. This suggests potential for identifying alpha-generating trades using additional contextual behavioral variables beyond role. </a:t>
            </a:r>
            <a:endParaRPr sz="1000" dirty="0">
              <a:solidFill>
                <a:schemeClr val="dk1"/>
              </a:solidFill>
            </a:endParaRPr>
          </a:p>
        </p:txBody>
      </p:sp>
      <p:sp>
        <p:nvSpPr>
          <p:cNvPr id="266" name="Google Shape;266;p6"/>
          <p:cNvSpPr txBox="1"/>
          <p:nvPr/>
        </p:nvSpPr>
        <p:spPr>
          <a:xfrm>
            <a:off x="641381" y="5890705"/>
            <a:ext cx="3563700" cy="67707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dirty="0">
                <a:solidFill>
                  <a:schemeClr val="tx1">
                    <a:lumMod val="90000"/>
                    <a:lumOff val="10000"/>
                  </a:schemeClr>
                </a:solidFill>
              </a:rPr>
              <a:t>Figure 8:</a:t>
            </a:r>
            <a:r>
              <a:rPr lang="en" sz="800" dirty="0">
                <a:solidFill>
                  <a:schemeClr val="tx1">
                    <a:lumMod val="90000"/>
                    <a:lumOff val="10000"/>
                  </a:schemeClr>
                </a:solidFill>
              </a:rPr>
              <a:t> Distribution of returns for 6 months following insider transactions. Returns are compared to the SPY ETF. The median return is reported as the primary measure of central tendency for non-parametric data.</a:t>
            </a:r>
            <a:endParaRPr sz="800" dirty="0">
              <a:solidFill>
                <a:schemeClr val="tx1">
                  <a:lumMod val="90000"/>
                  <a:lumOff val="10000"/>
                </a:schemeClr>
              </a:solidFill>
            </a:endParaRPr>
          </a:p>
        </p:txBody>
      </p:sp>
      <p:sp>
        <p:nvSpPr>
          <p:cNvPr id="267" name="Google Shape;267;p6"/>
          <p:cNvSpPr txBox="1"/>
          <p:nvPr/>
        </p:nvSpPr>
        <p:spPr>
          <a:xfrm>
            <a:off x="8086381" y="5890705"/>
            <a:ext cx="36642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dirty="0">
                <a:solidFill>
                  <a:schemeClr val="tx1">
                    <a:lumMod val="90000"/>
                    <a:lumOff val="10000"/>
                  </a:schemeClr>
                </a:solidFill>
              </a:rPr>
              <a:t>Figure 10:</a:t>
            </a:r>
            <a:r>
              <a:rPr lang="en" sz="800" dirty="0">
                <a:solidFill>
                  <a:schemeClr val="tx1">
                    <a:lumMod val="90000"/>
                    <a:lumOff val="10000"/>
                  </a:schemeClr>
                </a:solidFill>
              </a:rPr>
              <a:t> Distribution of average stock trend per day in the month following Officer insider transactions. While insider-related stocks exhibited greater volatility, their overall trend closely mirrored that of the broader market.</a:t>
            </a:r>
            <a:endParaRPr sz="800" dirty="0">
              <a:solidFill>
                <a:schemeClr val="tx1">
                  <a:lumMod val="90000"/>
                  <a:lumOff val="10000"/>
                </a:schemeClr>
              </a:solidFill>
            </a:endParaRPr>
          </a:p>
        </p:txBody>
      </p:sp>
      <p:sp>
        <p:nvSpPr>
          <p:cNvPr id="270" name="Google Shape;270;p6"/>
          <p:cNvSpPr/>
          <p:nvPr/>
        </p:nvSpPr>
        <p:spPr>
          <a:xfrm>
            <a:off x="0" y="958550"/>
            <a:ext cx="7602600" cy="28800"/>
          </a:xfrm>
          <a:prstGeom prst="rect">
            <a:avLst/>
          </a:prstGeom>
          <a:gradFill>
            <a:gsLst>
              <a:gs pos="0">
                <a:srgbClr val="EF977A"/>
              </a:gs>
              <a:gs pos="100000">
                <a:schemeClr val="lt1"/>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72" name="Google Shape;272;p6"/>
          <p:cNvSpPr/>
          <p:nvPr/>
        </p:nvSpPr>
        <p:spPr>
          <a:xfrm>
            <a:off x="9646250" y="256574"/>
            <a:ext cx="1957500" cy="436800"/>
          </a:xfrm>
          <a:prstGeom prst="chevron">
            <a:avLst>
              <a:gd name="adj" fmla="val 50000"/>
            </a:avLst>
          </a:prstGeom>
          <a:solidFill>
            <a:schemeClr val="accent1">
              <a:lumMod val="20000"/>
              <a:lumOff val="80000"/>
            </a:schemeClr>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73" name="Google Shape;273;p6"/>
          <p:cNvSpPr/>
          <p:nvPr/>
        </p:nvSpPr>
        <p:spPr>
          <a:xfrm>
            <a:off x="8046050" y="256574"/>
            <a:ext cx="1957500" cy="436800"/>
          </a:xfrm>
          <a:prstGeom prst="chevron">
            <a:avLst>
              <a:gd name="adj" fmla="val 50000"/>
            </a:avLst>
          </a:prstGeom>
          <a:solidFill>
            <a:schemeClr val="accent1">
              <a:lumMod val="20000"/>
              <a:lumOff val="80000"/>
            </a:schemeClr>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74" name="Google Shape;274;p6"/>
          <p:cNvSpPr/>
          <p:nvPr/>
        </p:nvSpPr>
        <p:spPr>
          <a:xfrm>
            <a:off x="8427050" y="256574"/>
            <a:ext cx="1957500" cy="436800"/>
          </a:xfrm>
          <a:prstGeom prst="chevron">
            <a:avLst>
              <a:gd name="adj" fmla="val 50000"/>
            </a:avLst>
          </a:prstGeom>
          <a:solidFill>
            <a:schemeClr val="accent1">
              <a:lumMod val="20000"/>
              <a:lumOff val="80000"/>
            </a:schemeClr>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75" name="Google Shape;275;p6"/>
          <p:cNvSpPr/>
          <p:nvPr/>
        </p:nvSpPr>
        <p:spPr>
          <a:xfrm>
            <a:off x="8780754" y="256574"/>
            <a:ext cx="1957500" cy="436800"/>
          </a:xfrm>
          <a:prstGeom prst="chevron">
            <a:avLst>
              <a:gd name="adj" fmla="val 50000"/>
            </a:avLst>
          </a:prstGeom>
          <a:solidFill>
            <a:schemeClr val="accent1">
              <a:lumMod val="20000"/>
              <a:lumOff val="80000"/>
            </a:schemeClr>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76" name="Google Shape;276;p6"/>
          <p:cNvSpPr/>
          <p:nvPr/>
        </p:nvSpPr>
        <p:spPr>
          <a:xfrm>
            <a:off x="9085430" y="242375"/>
            <a:ext cx="2220300" cy="470700"/>
          </a:xfrm>
          <a:prstGeom prst="chevron">
            <a:avLst>
              <a:gd name="adj" fmla="val 50000"/>
            </a:avLst>
          </a:prstGeom>
          <a:solidFill>
            <a:schemeClr val="accent1"/>
          </a:solidFill>
          <a:ln w="19050"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tx1"/>
                </a:solidFill>
              </a:rPr>
              <a:t>Analysis</a:t>
            </a:r>
            <a:endParaRPr b="1">
              <a:solidFill>
                <a:schemeClr val="tx1"/>
              </a:solidFill>
            </a:endParaRPr>
          </a:p>
        </p:txBody>
      </p:sp>
      <p:sp>
        <p:nvSpPr>
          <p:cNvPr id="277" name="Google Shape;277;p6"/>
          <p:cNvSpPr txBox="1">
            <a:spLocks noGrp="1"/>
          </p:cNvSpPr>
          <p:nvPr>
            <p:ph type="title"/>
          </p:nvPr>
        </p:nvSpPr>
        <p:spPr>
          <a:xfrm>
            <a:off x="433650" y="388325"/>
            <a:ext cx="3812400" cy="512700"/>
          </a:xfrm>
          <a:prstGeom prst="rect">
            <a:avLst/>
          </a:prstGeom>
          <a:noFill/>
          <a:ln>
            <a:noFill/>
          </a:ln>
        </p:spPr>
        <p:txBody>
          <a:bodyPr spcFirstLastPara="1" wrap="square" lIns="121875" tIns="121875" rIns="121875" bIns="121875" anchor="t" anchorCtr="0">
            <a:noAutofit/>
          </a:bodyPr>
          <a:lstStyle/>
          <a:p>
            <a:pPr marL="0" lvl="0" indent="0" algn="l" rtl="0">
              <a:lnSpc>
                <a:spcPct val="100000"/>
              </a:lnSpc>
              <a:spcBef>
                <a:spcPts val="0"/>
              </a:spcBef>
              <a:spcAft>
                <a:spcPts val="0"/>
              </a:spcAft>
              <a:buSzPts val="3700"/>
              <a:buNone/>
            </a:pPr>
            <a:r>
              <a:rPr lang="en" sz="2400" dirty="0">
                <a:solidFill>
                  <a:schemeClr val="tx1"/>
                </a:solidFill>
              </a:rPr>
              <a:t>Insider Position Analysis</a:t>
            </a:r>
            <a:endParaRPr sz="2400" dirty="0">
              <a:solidFill>
                <a:schemeClr val="tx1"/>
              </a:solidFill>
            </a:endParaRPr>
          </a:p>
        </p:txBody>
      </p:sp>
      <p:cxnSp>
        <p:nvCxnSpPr>
          <p:cNvPr id="278" name="Google Shape;278;p6"/>
          <p:cNvCxnSpPr/>
          <p:nvPr/>
        </p:nvCxnSpPr>
        <p:spPr>
          <a:xfrm flipH="1">
            <a:off x="2729425" y="5259225"/>
            <a:ext cx="352800" cy="507600"/>
          </a:xfrm>
          <a:prstGeom prst="straightConnector1">
            <a:avLst/>
          </a:prstGeom>
          <a:noFill/>
          <a:ln w="9525" cap="flat" cmpd="sng">
            <a:solidFill>
              <a:schemeClr val="tx1">
                <a:lumMod val="90000"/>
                <a:lumOff val="10000"/>
              </a:schemeClr>
            </a:solidFill>
            <a:prstDash val="solid"/>
            <a:round/>
            <a:headEnd type="none" w="med" len="med"/>
            <a:tailEnd type="triangle" w="med" len="med"/>
          </a:ln>
        </p:spPr>
      </p:cxnSp>
      <p:sp>
        <p:nvSpPr>
          <p:cNvPr id="279" name="Google Shape;279;p6"/>
          <p:cNvSpPr txBox="1"/>
          <p:nvPr/>
        </p:nvSpPr>
        <p:spPr>
          <a:xfrm>
            <a:off x="2729425" y="4922425"/>
            <a:ext cx="19104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dirty="0">
                <a:solidFill>
                  <a:schemeClr val="tx1">
                    <a:lumMod val="90000"/>
                    <a:lumOff val="10000"/>
                  </a:schemeClr>
                </a:solidFill>
              </a:rPr>
              <a:t>Right Skew</a:t>
            </a:r>
            <a:endParaRPr sz="800" dirty="0">
              <a:solidFill>
                <a:schemeClr val="tx1">
                  <a:lumMod val="90000"/>
                  <a:lumOff val="10000"/>
                </a:schemeClr>
              </a:solidFill>
            </a:endParaRPr>
          </a:p>
          <a:p>
            <a:pPr marL="0" lvl="0" indent="0" algn="l" rtl="0">
              <a:spcBef>
                <a:spcPts val="0"/>
              </a:spcBef>
              <a:spcAft>
                <a:spcPts val="0"/>
              </a:spcAft>
              <a:buNone/>
            </a:pPr>
            <a:r>
              <a:rPr lang="en" sz="800" dirty="0">
                <a:solidFill>
                  <a:schemeClr val="tx1">
                    <a:lumMod val="90000"/>
                    <a:lumOff val="10000"/>
                  </a:schemeClr>
                </a:solidFill>
              </a:rPr>
              <a:t>Elevated Kurtosis</a:t>
            </a:r>
            <a:endParaRPr sz="800" dirty="0">
              <a:solidFill>
                <a:schemeClr val="tx1">
                  <a:lumMod val="90000"/>
                  <a:lumOff val="10000"/>
                </a:schemeClr>
              </a:solidFill>
            </a:endParaRPr>
          </a:p>
        </p:txBody>
      </p:sp>
      <p:sp>
        <p:nvSpPr>
          <p:cNvPr id="2" name="Rectangle 1">
            <a:extLst>
              <a:ext uri="{FF2B5EF4-FFF2-40B4-BE49-F238E27FC236}">
                <a16:creationId xmlns:a16="http://schemas.microsoft.com/office/drawing/2014/main" id="{CC971324-499D-87DB-8FF1-01EB186F8F41}"/>
              </a:ext>
            </a:extLst>
          </p:cNvPr>
          <p:cNvSpPr/>
          <p:nvPr/>
        </p:nvSpPr>
        <p:spPr>
          <a:xfrm rot="10800000" flipV="1">
            <a:off x="-1" y="946962"/>
            <a:ext cx="9068025" cy="45719"/>
          </a:xfrm>
          <a:prstGeom prst="rect">
            <a:avLst/>
          </a:prstGeom>
          <a:gradFill>
            <a:gsLst>
              <a:gs pos="100000">
                <a:srgbClr val="14232E"/>
              </a:gs>
              <a:gs pos="0">
                <a:schemeClr val="tx2">
                  <a:lumMod val="20000"/>
                  <a:lumOff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7"/>
        <p:cNvGrpSpPr/>
        <p:nvPr/>
      </p:nvGrpSpPr>
      <p:grpSpPr>
        <a:xfrm>
          <a:off x="0" y="0"/>
          <a:ext cx="0" cy="0"/>
          <a:chOff x="0" y="0"/>
          <a:chExt cx="0" cy="0"/>
        </a:xfrm>
      </p:grpSpPr>
      <p:pic>
        <p:nvPicPr>
          <p:cNvPr id="11" name="Picture 10">
            <a:extLst>
              <a:ext uri="{FF2B5EF4-FFF2-40B4-BE49-F238E27FC236}">
                <a16:creationId xmlns:a16="http://schemas.microsoft.com/office/drawing/2014/main" id="{9D053634-70EE-F246-BA75-3143AD86262D}"/>
              </a:ext>
            </a:extLst>
          </p:cNvPr>
          <p:cNvPicPr>
            <a:picLocks noChangeAspect="1"/>
          </p:cNvPicPr>
          <p:nvPr/>
        </p:nvPicPr>
        <p:blipFill>
          <a:blip r:embed="rId3"/>
          <a:stretch>
            <a:fillRect/>
          </a:stretch>
        </p:blipFill>
        <p:spPr>
          <a:xfrm>
            <a:off x="8168386" y="3739262"/>
            <a:ext cx="3270221" cy="2157423"/>
          </a:xfrm>
          <a:prstGeom prst="rect">
            <a:avLst/>
          </a:prstGeom>
        </p:spPr>
      </p:pic>
      <p:pic>
        <p:nvPicPr>
          <p:cNvPr id="5" name="Picture 4">
            <a:extLst>
              <a:ext uri="{FF2B5EF4-FFF2-40B4-BE49-F238E27FC236}">
                <a16:creationId xmlns:a16="http://schemas.microsoft.com/office/drawing/2014/main" id="{1FC2CA35-FE55-E516-3971-C72DB90C8882}"/>
              </a:ext>
            </a:extLst>
          </p:cNvPr>
          <p:cNvPicPr>
            <a:picLocks noChangeAspect="1"/>
          </p:cNvPicPr>
          <p:nvPr/>
        </p:nvPicPr>
        <p:blipFill>
          <a:blip r:embed="rId4"/>
          <a:stretch>
            <a:fillRect/>
          </a:stretch>
        </p:blipFill>
        <p:spPr>
          <a:xfrm>
            <a:off x="3897331" y="1208726"/>
            <a:ext cx="3877566" cy="2619372"/>
          </a:xfrm>
          <a:prstGeom prst="rect">
            <a:avLst/>
          </a:prstGeom>
        </p:spPr>
      </p:pic>
      <p:sp>
        <p:nvSpPr>
          <p:cNvPr id="309" name="Google Shape;309;g336ba9d7cec_0_27"/>
          <p:cNvSpPr txBox="1"/>
          <p:nvPr/>
        </p:nvSpPr>
        <p:spPr>
          <a:xfrm>
            <a:off x="-84050" y="-938500"/>
            <a:ext cx="2423400" cy="630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2"/>
              </a:solidFill>
              <a:latin typeface="Arial"/>
              <a:ea typeface="Arial"/>
              <a:cs typeface="Arial"/>
              <a:sym typeface="Arial"/>
            </a:endParaRPr>
          </a:p>
        </p:txBody>
      </p:sp>
      <p:sp>
        <p:nvSpPr>
          <p:cNvPr id="310" name="Google Shape;310;g336ba9d7cec_0_27"/>
          <p:cNvSpPr txBox="1"/>
          <p:nvPr/>
        </p:nvSpPr>
        <p:spPr>
          <a:xfrm>
            <a:off x="11773475" y="6502122"/>
            <a:ext cx="261600" cy="295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Arial"/>
                <a:ea typeface="Arial"/>
                <a:cs typeface="Arial"/>
                <a:sym typeface="Arial"/>
              </a:rPr>
              <a:t>9</a:t>
            </a:r>
            <a:endParaRPr sz="1200" b="1" i="0" u="none" strike="noStrike" cap="none" dirty="0">
              <a:solidFill>
                <a:schemeClr val="dk1"/>
              </a:solidFill>
              <a:latin typeface="Arial"/>
              <a:ea typeface="Arial"/>
              <a:cs typeface="Arial"/>
              <a:sym typeface="Arial"/>
            </a:endParaRPr>
          </a:p>
        </p:txBody>
      </p:sp>
      <p:sp>
        <p:nvSpPr>
          <p:cNvPr id="311" name="Google Shape;311;g336ba9d7cec_0_27"/>
          <p:cNvSpPr txBox="1">
            <a:spLocks noGrp="1"/>
          </p:cNvSpPr>
          <p:nvPr>
            <p:ph type="body" idx="1"/>
          </p:nvPr>
        </p:nvSpPr>
        <p:spPr>
          <a:xfrm>
            <a:off x="474975" y="1121075"/>
            <a:ext cx="3228000" cy="431100"/>
          </a:xfrm>
          <a:prstGeom prst="rect">
            <a:avLst/>
          </a:prstGeom>
          <a:noFill/>
          <a:ln>
            <a:noFill/>
          </a:ln>
        </p:spPr>
        <p:txBody>
          <a:bodyPr spcFirstLastPara="1" wrap="square" lIns="91425" tIns="0" rIns="91425" bIns="91425" anchor="t" anchorCtr="0">
            <a:noAutofit/>
          </a:bodyPr>
          <a:lstStyle/>
          <a:p>
            <a:pPr marL="0" lvl="0" indent="0" algn="l" rtl="0">
              <a:lnSpc>
                <a:spcPct val="115000"/>
              </a:lnSpc>
              <a:spcBef>
                <a:spcPts val="600"/>
              </a:spcBef>
              <a:spcAft>
                <a:spcPts val="0"/>
              </a:spcAft>
              <a:buSzPts val="1100"/>
              <a:buNone/>
            </a:pPr>
            <a:r>
              <a:rPr lang="en" sz="1200" b="1" dirty="0">
                <a:solidFill>
                  <a:schemeClr val="tx1"/>
                </a:solidFill>
              </a:rPr>
              <a:t>Elite Alpha Insiders: The Key to Unlocking Value from Insider Activity</a:t>
            </a:r>
            <a:endParaRPr sz="1200" b="1" dirty="0">
              <a:solidFill>
                <a:schemeClr val="tx1"/>
              </a:solidFill>
            </a:endParaRPr>
          </a:p>
          <a:p>
            <a:pPr marL="0" lvl="0" indent="0" algn="l" rtl="0">
              <a:spcBef>
                <a:spcPts val="1200"/>
              </a:spcBef>
              <a:spcAft>
                <a:spcPts val="0"/>
              </a:spcAft>
              <a:buClr>
                <a:schemeClr val="dk1"/>
              </a:buClr>
              <a:buSzPts val="1100"/>
              <a:buFont typeface="Arial"/>
              <a:buNone/>
            </a:pPr>
            <a:r>
              <a:rPr lang="en" sz="1000" dirty="0">
                <a:solidFill>
                  <a:schemeClr val="tx1"/>
                </a:solidFill>
              </a:rPr>
              <a:t>While our positional analysis found no consistent relationship between job title and superior trading returns, a deeper dive at the individual level revealed a remarkable insight: A small subset of elite insiders that generated substantial alpha. After applying quality filters, we identified </a:t>
            </a:r>
            <a:r>
              <a:rPr lang="en" sz="1000" b="1" dirty="0">
                <a:solidFill>
                  <a:schemeClr val="tx1"/>
                </a:solidFill>
              </a:rPr>
              <a:t>169 “elite alpha insiders”, </a:t>
            </a:r>
            <a:r>
              <a:rPr lang="en" sz="1000" dirty="0">
                <a:solidFill>
                  <a:schemeClr val="tx1"/>
                </a:solidFill>
              </a:rPr>
              <a:t>each with 3 or more buys that yielded raw 6-month excess returns ≥ 20% (i.e., stock return less SPY return).  </a:t>
            </a:r>
            <a:endParaRPr sz="1000" dirty="0">
              <a:solidFill>
                <a:schemeClr val="tx1"/>
              </a:solidFill>
            </a:endParaRPr>
          </a:p>
          <a:p>
            <a:pPr marL="0" lvl="0" indent="0" algn="l" rtl="0">
              <a:spcBef>
                <a:spcPts val="1200"/>
              </a:spcBef>
              <a:spcAft>
                <a:spcPts val="0"/>
              </a:spcAft>
              <a:buClr>
                <a:schemeClr val="dk1"/>
              </a:buClr>
              <a:buSzPts val="1100"/>
              <a:buFont typeface="Arial"/>
              <a:buNone/>
            </a:pPr>
            <a:r>
              <a:rPr lang="en" sz="1000" dirty="0">
                <a:solidFill>
                  <a:schemeClr val="tx1"/>
                </a:solidFill>
              </a:rPr>
              <a:t>The distribution of both raw and beta-adjusted excess returns for these insiders show </a:t>
            </a:r>
            <a:r>
              <a:rPr lang="en" sz="1000" b="1" dirty="0">
                <a:solidFill>
                  <a:schemeClr val="tx1"/>
                </a:solidFill>
              </a:rPr>
              <a:t>(Fig 11)</a:t>
            </a:r>
            <a:r>
              <a:rPr lang="en" sz="1000" dirty="0">
                <a:solidFill>
                  <a:schemeClr val="tx1"/>
                </a:solidFill>
              </a:rPr>
              <a:t>: </a:t>
            </a:r>
            <a:endParaRPr sz="1000" dirty="0">
              <a:solidFill>
                <a:schemeClr val="tx1"/>
              </a:solidFill>
            </a:endParaRPr>
          </a:p>
          <a:p>
            <a:pPr marL="114300" lvl="0" indent="-177800" algn="l" rtl="0">
              <a:spcBef>
                <a:spcPts val="1200"/>
              </a:spcBef>
              <a:spcAft>
                <a:spcPts val="0"/>
              </a:spcAft>
              <a:buClr>
                <a:schemeClr val="dk1"/>
              </a:buClr>
              <a:buSzPts val="1000"/>
              <a:buChar char="●"/>
            </a:pPr>
            <a:r>
              <a:rPr lang="en" sz="1000" dirty="0">
                <a:solidFill>
                  <a:schemeClr val="tx1"/>
                </a:solidFill>
              </a:rPr>
              <a:t>Raw excess returns were clustered in the 30%-50% range, indicating consistently strong performance.</a:t>
            </a:r>
            <a:endParaRPr sz="1000" dirty="0">
              <a:solidFill>
                <a:schemeClr val="tx1"/>
              </a:solidFill>
            </a:endParaRPr>
          </a:p>
          <a:p>
            <a:pPr marL="114300" lvl="0" indent="-177800" algn="l" rtl="0">
              <a:spcBef>
                <a:spcPts val="0"/>
              </a:spcBef>
              <a:spcAft>
                <a:spcPts val="0"/>
              </a:spcAft>
              <a:buClr>
                <a:schemeClr val="dk1"/>
              </a:buClr>
              <a:buSzPts val="1000"/>
              <a:buChar char="●"/>
            </a:pPr>
            <a:r>
              <a:rPr lang="en" sz="1000" dirty="0">
                <a:solidFill>
                  <a:schemeClr val="tx1"/>
                </a:solidFill>
              </a:rPr>
              <a:t>Beta-adjusted excess returns, which normalize for risk by dividing raw excess return by the stock’s volatility (beta), showed a flatter and more dispersed distribution–as expected–but still retained a median of ~40%, underscoring robust alpha generation even after accounting for volatility.</a:t>
            </a:r>
            <a:endParaRPr sz="1000" dirty="0">
              <a:solidFill>
                <a:schemeClr val="tx1"/>
              </a:solidFill>
            </a:endParaRPr>
          </a:p>
          <a:p>
            <a:pPr marL="0" lvl="0" indent="0" algn="l" rtl="0">
              <a:spcBef>
                <a:spcPts val="1200"/>
              </a:spcBef>
              <a:spcAft>
                <a:spcPts val="0"/>
              </a:spcAft>
              <a:buNone/>
            </a:pPr>
            <a:r>
              <a:rPr lang="en" sz="1000" dirty="0">
                <a:solidFill>
                  <a:schemeClr val="tx1"/>
                </a:solidFill>
              </a:rPr>
              <a:t>These results suggest that some insiders are acting on a combination of informational advantage and market-timing skill.</a:t>
            </a:r>
            <a:r>
              <a:rPr lang="en" sz="1050" dirty="0">
                <a:solidFill>
                  <a:schemeClr val="tx1"/>
                </a:solidFill>
              </a:rPr>
              <a:t>  </a:t>
            </a:r>
            <a:endParaRPr sz="1050" dirty="0">
              <a:solidFill>
                <a:schemeClr val="tx1"/>
              </a:solidFill>
            </a:endParaRPr>
          </a:p>
          <a:p>
            <a:pPr marL="0" lvl="0" indent="0" algn="l" rtl="0">
              <a:spcBef>
                <a:spcPts val="1200"/>
              </a:spcBef>
              <a:spcAft>
                <a:spcPts val="0"/>
              </a:spcAft>
              <a:buClr>
                <a:schemeClr val="dk1"/>
              </a:buClr>
              <a:buSzPts val="1100"/>
              <a:buFont typeface="Arial"/>
              <a:buNone/>
            </a:pPr>
            <a:endParaRPr sz="1050" dirty="0">
              <a:solidFill>
                <a:schemeClr val="tx1"/>
              </a:solidFill>
            </a:endParaRPr>
          </a:p>
          <a:p>
            <a:pPr marL="0" lvl="0" indent="0" algn="l" rtl="0">
              <a:spcBef>
                <a:spcPts val="1200"/>
              </a:spcBef>
              <a:spcAft>
                <a:spcPts val="0"/>
              </a:spcAft>
              <a:buClr>
                <a:schemeClr val="dk1"/>
              </a:buClr>
              <a:buSzPts val="1100"/>
              <a:buFont typeface="Arial"/>
              <a:buNone/>
            </a:pPr>
            <a:endParaRPr sz="1050" dirty="0">
              <a:solidFill>
                <a:schemeClr val="tx1"/>
              </a:solidFill>
            </a:endParaRPr>
          </a:p>
          <a:p>
            <a:pPr marL="0" lvl="0" indent="0" algn="l" rtl="0">
              <a:spcBef>
                <a:spcPts val="1200"/>
              </a:spcBef>
              <a:spcAft>
                <a:spcPts val="0"/>
              </a:spcAft>
              <a:buClr>
                <a:schemeClr val="dk1"/>
              </a:buClr>
              <a:buSzPts val="1100"/>
              <a:buFont typeface="Arial"/>
              <a:buNone/>
            </a:pPr>
            <a:endParaRPr sz="1050" dirty="0">
              <a:solidFill>
                <a:schemeClr val="tx1"/>
              </a:solidFill>
            </a:endParaRPr>
          </a:p>
          <a:p>
            <a:pPr marL="0" lvl="0" indent="0" algn="l" rtl="0">
              <a:spcBef>
                <a:spcPts val="1200"/>
              </a:spcBef>
              <a:spcAft>
                <a:spcPts val="0"/>
              </a:spcAft>
              <a:buClr>
                <a:schemeClr val="dk1"/>
              </a:buClr>
              <a:buSzPts val="1100"/>
              <a:buFont typeface="Arial"/>
              <a:buNone/>
            </a:pPr>
            <a:endParaRPr sz="1050" dirty="0">
              <a:solidFill>
                <a:schemeClr val="tx1"/>
              </a:solidFill>
            </a:endParaRPr>
          </a:p>
          <a:p>
            <a:pPr marL="0" lvl="0" indent="0" algn="l" rtl="0">
              <a:spcBef>
                <a:spcPts val="1200"/>
              </a:spcBef>
              <a:spcAft>
                <a:spcPts val="0"/>
              </a:spcAft>
              <a:buClr>
                <a:schemeClr val="dk1"/>
              </a:buClr>
              <a:buSzPts val="1100"/>
              <a:buFont typeface="Arial"/>
              <a:buNone/>
            </a:pPr>
            <a:endParaRPr sz="1050" dirty="0">
              <a:solidFill>
                <a:schemeClr val="tx1"/>
              </a:solidFill>
            </a:endParaRPr>
          </a:p>
          <a:p>
            <a:pPr marL="0" lvl="0" indent="0" algn="l" rtl="0">
              <a:spcBef>
                <a:spcPts val="1200"/>
              </a:spcBef>
              <a:spcAft>
                <a:spcPts val="0"/>
              </a:spcAft>
              <a:buClr>
                <a:schemeClr val="dk1"/>
              </a:buClr>
              <a:buSzPts val="1100"/>
              <a:buFont typeface="Arial"/>
              <a:buNone/>
            </a:pPr>
            <a:endParaRPr sz="1050" dirty="0">
              <a:solidFill>
                <a:schemeClr val="tx1"/>
              </a:solidFill>
            </a:endParaRPr>
          </a:p>
          <a:p>
            <a:pPr marL="0" lvl="0" indent="0" algn="l" rtl="0">
              <a:spcBef>
                <a:spcPts val="1200"/>
              </a:spcBef>
              <a:spcAft>
                <a:spcPts val="0"/>
              </a:spcAft>
              <a:buClr>
                <a:schemeClr val="dk1"/>
              </a:buClr>
              <a:buSzPts val="1100"/>
              <a:buFont typeface="Arial"/>
              <a:buNone/>
            </a:pPr>
            <a:endParaRPr sz="1050" dirty="0">
              <a:solidFill>
                <a:schemeClr val="tx1"/>
              </a:solidFill>
            </a:endParaRPr>
          </a:p>
          <a:p>
            <a:pPr marL="0" lvl="0" indent="0" algn="l" rtl="0">
              <a:lnSpc>
                <a:spcPct val="115000"/>
              </a:lnSpc>
              <a:spcBef>
                <a:spcPts val="1200"/>
              </a:spcBef>
              <a:spcAft>
                <a:spcPts val="0"/>
              </a:spcAft>
              <a:buClr>
                <a:schemeClr val="dk1"/>
              </a:buClr>
              <a:buSzPts val="1100"/>
              <a:buFont typeface="Arial"/>
              <a:buNone/>
            </a:pPr>
            <a:endParaRPr sz="1050" dirty="0">
              <a:solidFill>
                <a:schemeClr val="tx1"/>
              </a:solidFill>
            </a:endParaRPr>
          </a:p>
        </p:txBody>
      </p:sp>
      <p:sp>
        <p:nvSpPr>
          <p:cNvPr id="312" name="Google Shape;312;g336ba9d7cec_0_27"/>
          <p:cNvSpPr txBox="1">
            <a:spLocks noGrp="1"/>
          </p:cNvSpPr>
          <p:nvPr>
            <p:ph type="body" idx="1"/>
          </p:nvPr>
        </p:nvSpPr>
        <p:spPr>
          <a:xfrm>
            <a:off x="4154775" y="1008075"/>
            <a:ext cx="3563700" cy="295800"/>
          </a:xfrm>
          <a:prstGeom prst="rect">
            <a:avLst/>
          </a:prstGeom>
          <a:noFill/>
          <a:ln>
            <a:noFill/>
          </a:ln>
        </p:spPr>
        <p:txBody>
          <a:bodyPr spcFirstLastPara="1" wrap="square" lIns="91425" tIns="0" rIns="91425" bIns="91425" anchor="t" anchorCtr="0">
            <a:noAutofit/>
          </a:bodyPr>
          <a:lstStyle/>
          <a:p>
            <a:pPr marL="0" lvl="0" indent="0" algn="l" rtl="0">
              <a:lnSpc>
                <a:spcPct val="115000"/>
              </a:lnSpc>
              <a:spcBef>
                <a:spcPts val="600"/>
              </a:spcBef>
              <a:spcAft>
                <a:spcPts val="0"/>
              </a:spcAft>
              <a:buSzPts val="1100"/>
              <a:buNone/>
            </a:pPr>
            <a:endParaRPr sz="1050">
              <a:solidFill>
                <a:schemeClr val="dk1"/>
              </a:solidFill>
            </a:endParaRPr>
          </a:p>
          <a:p>
            <a:pPr marL="0" lvl="0" indent="0" algn="l" rtl="0">
              <a:lnSpc>
                <a:spcPct val="115000"/>
              </a:lnSpc>
              <a:spcBef>
                <a:spcPts val="600"/>
              </a:spcBef>
              <a:spcAft>
                <a:spcPts val="0"/>
              </a:spcAft>
              <a:buSzPts val="1100"/>
              <a:buNone/>
            </a:pPr>
            <a:endParaRPr sz="1050">
              <a:solidFill>
                <a:schemeClr val="dk1"/>
              </a:solidFill>
            </a:endParaRPr>
          </a:p>
          <a:p>
            <a:pPr marL="0" lvl="0" indent="0" algn="l" rtl="0">
              <a:lnSpc>
                <a:spcPct val="115000"/>
              </a:lnSpc>
              <a:spcBef>
                <a:spcPts val="600"/>
              </a:spcBef>
              <a:spcAft>
                <a:spcPts val="0"/>
              </a:spcAft>
              <a:buSzPts val="1100"/>
              <a:buNone/>
            </a:pPr>
            <a:endParaRPr sz="1050">
              <a:solidFill>
                <a:schemeClr val="dk1"/>
              </a:solidFill>
            </a:endParaRPr>
          </a:p>
          <a:p>
            <a:pPr marL="0" lvl="0" indent="0" algn="l" rtl="0">
              <a:spcBef>
                <a:spcPts val="1200"/>
              </a:spcBef>
              <a:spcAft>
                <a:spcPts val="0"/>
              </a:spcAft>
              <a:buClr>
                <a:schemeClr val="dk1"/>
              </a:buClr>
              <a:buSzPts val="1100"/>
              <a:buFont typeface="Arial"/>
              <a:buNone/>
            </a:pPr>
            <a:endParaRPr sz="1050">
              <a:solidFill>
                <a:schemeClr val="dk1"/>
              </a:solidFill>
            </a:endParaRPr>
          </a:p>
          <a:p>
            <a:pPr marL="0" lvl="0" indent="0" algn="l" rtl="0">
              <a:spcBef>
                <a:spcPts val="1200"/>
              </a:spcBef>
              <a:spcAft>
                <a:spcPts val="0"/>
              </a:spcAft>
              <a:buClr>
                <a:schemeClr val="dk1"/>
              </a:buClr>
              <a:buSzPts val="1100"/>
              <a:buFont typeface="Arial"/>
              <a:buNone/>
            </a:pPr>
            <a:endParaRPr sz="105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1050">
              <a:solidFill>
                <a:schemeClr val="dk1"/>
              </a:solidFill>
            </a:endParaRPr>
          </a:p>
        </p:txBody>
      </p:sp>
      <p:sp>
        <p:nvSpPr>
          <p:cNvPr id="313" name="Google Shape;313;g336ba9d7cec_0_27"/>
          <p:cNvSpPr txBox="1">
            <a:spLocks noGrp="1"/>
          </p:cNvSpPr>
          <p:nvPr>
            <p:ph type="body" idx="1"/>
          </p:nvPr>
        </p:nvSpPr>
        <p:spPr>
          <a:xfrm>
            <a:off x="8142075" y="1159400"/>
            <a:ext cx="3446100" cy="2779500"/>
          </a:xfrm>
          <a:prstGeom prst="rect">
            <a:avLst/>
          </a:prstGeom>
          <a:noFill/>
          <a:ln>
            <a:noFill/>
          </a:ln>
        </p:spPr>
        <p:txBody>
          <a:bodyPr spcFirstLastPara="1" wrap="square" lIns="91425" tIns="0"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1000" b="1" dirty="0">
                <a:solidFill>
                  <a:schemeClr val="tx1"/>
                </a:solidFill>
              </a:rPr>
              <a:t>Technology, Industrials, and Consumer Cyclicals</a:t>
            </a:r>
            <a:r>
              <a:rPr lang="en" sz="1000" dirty="0">
                <a:solidFill>
                  <a:schemeClr val="tx1"/>
                </a:solidFill>
              </a:rPr>
              <a:t> collectively account for almost 47% of elite alpha buys, reflecting dynamic and event-driven sectors where insider-timing may be more valuable.</a:t>
            </a:r>
            <a:endParaRPr sz="1000" dirty="0">
              <a:solidFill>
                <a:schemeClr val="tx1"/>
              </a:solidFill>
            </a:endParaRPr>
          </a:p>
          <a:p>
            <a:pPr marL="0" lvl="0" indent="0" algn="l" rtl="0">
              <a:lnSpc>
                <a:spcPct val="115000"/>
              </a:lnSpc>
              <a:spcBef>
                <a:spcPts val="1200"/>
              </a:spcBef>
              <a:spcAft>
                <a:spcPts val="0"/>
              </a:spcAft>
              <a:buClr>
                <a:schemeClr val="dk1"/>
              </a:buClr>
              <a:buSzPts val="1100"/>
              <a:buFont typeface="Arial"/>
              <a:buNone/>
            </a:pPr>
            <a:r>
              <a:rPr lang="en" sz="1000" b="1" dirty="0">
                <a:solidFill>
                  <a:schemeClr val="tx1"/>
                </a:solidFill>
              </a:rPr>
              <a:t>Basic Materials, Real Estate, and Utilities</a:t>
            </a:r>
            <a:r>
              <a:rPr lang="en" sz="1000" dirty="0">
                <a:solidFill>
                  <a:schemeClr val="tx1"/>
                </a:solidFill>
              </a:rPr>
              <a:t> had few elite alpha buys, reflecting slower-moving and more transparent industries where alpha opportunities from insider knowledge may be more limited.  </a:t>
            </a:r>
            <a:endParaRPr sz="1000" dirty="0">
              <a:solidFill>
                <a:schemeClr val="tx1"/>
              </a:solidFill>
            </a:endParaRPr>
          </a:p>
          <a:p>
            <a:pPr marL="0" lvl="0" indent="0" algn="l" rtl="0">
              <a:lnSpc>
                <a:spcPct val="115000"/>
              </a:lnSpc>
              <a:spcBef>
                <a:spcPts val="1200"/>
              </a:spcBef>
              <a:spcAft>
                <a:spcPts val="0"/>
              </a:spcAft>
              <a:buClr>
                <a:schemeClr val="dk1"/>
              </a:buClr>
              <a:buSzPts val="1100"/>
              <a:buFont typeface="Arial"/>
              <a:buNone/>
            </a:pPr>
            <a:r>
              <a:rPr lang="en" sz="1000" dirty="0">
                <a:solidFill>
                  <a:schemeClr val="tx1"/>
                </a:solidFill>
              </a:rPr>
              <a:t>This concentration reinforces the idea that insiders’ information advantage is strongest in sectors where uncertainty and asymmetric information are highest.</a:t>
            </a:r>
            <a:endParaRPr sz="1000" dirty="0">
              <a:solidFill>
                <a:schemeClr val="tx1"/>
              </a:solidFill>
            </a:endParaRPr>
          </a:p>
          <a:p>
            <a:pPr marL="0" lvl="0" indent="0" algn="l" rtl="0">
              <a:lnSpc>
                <a:spcPct val="115000"/>
              </a:lnSpc>
              <a:spcBef>
                <a:spcPts val="1200"/>
              </a:spcBef>
              <a:spcAft>
                <a:spcPts val="0"/>
              </a:spcAft>
              <a:buClr>
                <a:schemeClr val="dk1"/>
              </a:buClr>
              <a:buSzPts val="1100"/>
              <a:buFont typeface="Arial"/>
              <a:buNone/>
            </a:pPr>
            <a:r>
              <a:rPr lang="en" sz="1000" dirty="0">
                <a:solidFill>
                  <a:schemeClr val="tx1"/>
                </a:solidFill>
              </a:rPr>
              <a:t> </a:t>
            </a:r>
            <a:endParaRPr sz="1000" dirty="0">
              <a:solidFill>
                <a:schemeClr val="tx1"/>
              </a:solidFill>
            </a:endParaRPr>
          </a:p>
        </p:txBody>
      </p:sp>
      <p:sp>
        <p:nvSpPr>
          <p:cNvPr id="316" name="Google Shape;316;g336ba9d7cec_0_27"/>
          <p:cNvSpPr txBox="1">
            <a:spLocks noGrp="1"/>
          </p:cNvSpPr>
          <p:nvPr>
            <p:ph type="title"/>
          </p:nvPr>
        </p:nvSpPr>
        <p:spPr>
          <a:xfrm>
            <a:off x="433650" y="388325"/>
            <a:ext cx="4196100" cy="512700"/>
          </a:xfrm>
          <a:prstGeom prst="rect">
            <a:avLst/>
          </a:prstGeom>
          <a:noFill/>
          <a:ln>
            <a:noFill/>
          </a:ln>
        </p:spPr>
        <p:txBody>
          <a:bodyPr spcFirstLastPara="1" wrap="square" lIns="121875" tIns="121875" rIns="121875" bIns="121875" anchor="t" anchorCtr="0">
            <a:noAutofit/>
          </a:bodyPr>
          <a:lstStyle/>
          <a:p>
            <a:pPr marL="0" lvl="0" indent="0" algn="l" rtl="0">
              <a:lnSpc>
                <a:spcPct val="100000"/>
              </a:lnSpc>
              <a:spcBef>
                <a:spcPts val="0"/>
              </a:spcBef>
              <a:spcAft>
                <a:spcPts val="0"/>
              </a:spcAft>
              <a:buSzPts val="3700"/>
              <a:buNone/>
            </a:pPr>
            <a:r>
              <a:rPr lang="en" sz="2400" dirty="0">
                <a:solidFill>
                  <a:schemeClr val="tx1"/>
                </a:solidFill>
              </a:rPr>
              <a:t>Individual Insider Analysis</a:t>
            </a:r>
            <a:endParaRPr sz="2400" dirty="0">
              <a:solidFill>
                <a:schemeClr val="tx1"/>
              </a:solidFill>
            </a:endParaRPr>
          </a:p>
        </p:txBody>
      </p:sp>
      <p:sp>
        <p:nvSpPr>
          <p:cNvPr id="317" name="Google Shape;317;g336ba9d7cec_0_27"/>
          <p:cNvSpPr/>
          <p:nvPr/>
        </p:nvSpPr>
        <p:spPr>
          <a:xfrm>
            <a:off x="9646250" y="256574"/>
            <a:ext cx="1957500" cy="436800"/>
          </a:xfrm>
          <a:prstGeom prst="chevron">
            <a:avLst>
              <a:gd name="adj" fmla="val 50000"/>
            </a:avLst>
          </a:prstGeom>
          <a:solidFill>
            <a:schemeClr val="accent1">
              <a:lumMod val="20000"/>
              <a:lumOff val="80000"/>
            </a:schemeClr>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8" name="Google Shape;318;g336ba9d7cec_0_27"/>
          <p:cNvSpPr/>
          <p:nvPr/>
        </p:nvSpPr>
        <p:spPr>
          <a:xfrm>
            <a:off x="8046050" y="256574"/>
            <a:ext cx="1957500" cy="436800"/>
          </a:xfrm>
          <a:prstGeom prst="chevron">
            <a:avLst>
              <a:gd name="adj" fmla="val 50000"/>
            </a:avLst>
          </a:prstGeom>
          <a:solidFill>
            <a:schemeClr val="accent1">
              <a:lumMod val="20000"/>
              <a:lumOff val="80000"/>
            </a:schemeClr>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9" name="Google Shape;319;g336ba9d7cec_0_27"/>
          <p:cNvSpPr/>
          <p:nvPr/>
        </p:nvSpPr>
        <p:spPr>
          <a:xfrm>
            <a:off x="8427050" y="256574"/>
            <a:ext cx="1957500" cy="436800"/>
          </a:xfrm>
          <a:prstGeom prst="chevron">
            <a:avLst>
              <a:gd name="adj" fmla="val 50000"/>
            </a:avLst>
          </a:prstGeom>
          <a:solidFill>
            <a:schemeClr val="accent1">
              <a:lumMod val="20000"/>
              <a:lumOff val="80000"/>
            </a:schemeClr>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0" name="Google Shape;320;g336ba9d7cec_0_27"/>
          <p:cNvSpPr/>
          <p:nvPr/>
        </p:nvSpPr>
        <p:spPr>
          <a:xfrm>
            <a:off x="8780754" y="256574"/>
            <a:ext cx="1957500" cy="436800"/>
          </a:xfrm>
          <a:prstGeom prst="chevron">
            <a:avLst>
              <a:gd name="adj" fmla="val 50000"/>
            </a:avLst>
          </a:prstGeom>
          <a:solidFill>
            <a:schemeClr val="accent1">
              <a:lumMod val="20000"/>
              <a:lumOff val="80000"/>
            </a:schemeClr>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1" name="Google Shape;321;g336ba9d7cec_0_27"/>
          <p:cNvSpPr/>
          <p:nvPr/>
        </p:nvSpPr>
        <p:spPr>
          <a:xfrm>
            <a:off x="9119550" y="242375"/>
            <a:ext cx="2220300" cy="470700"/>
          </a:xfrm>
          <a:prstGeom prst="chevron">
            <a:avLst>
              <a:gd name="adj" fmla="val 50000"/>
            </a:avLst>
          </a:prstGeom>
          <a:solidFill>
            <a:schemeClr val="accent1"/>
          </a:solidFill>
          <a:ln w="19050"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chemeClr val="tx1"/>
                </a:solidFill>
              </a:rPr>
              <a:t>Analysis</a:t>
            </a:r>
            <a:endParaRPr b="1" dirty="0">
              <a:solidFill>
                <a:schemeClr val="tx1"/>
              </a:solidFill>
            </a:endParaRPr>
          </a:p>
        </p:txBody>
      </p:sp>
      <p:sp>
        <p:nvSpPr>
          <p:cNvPr id="323" name="Google Shape;323;g336ba9d7cec_0_27"/>
          <p:cNvSpPr txBox="1"/>
          <p:nvPr/>
        </p:nvSpPr>
        <p:spPr>
          <a:xfrm>
            <a:off x="4002100" y="3650899"/>
            <a:ext cx="3967800" cy="633989"/>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sz="800" b="1" dirty="0">
                <a:solidFill>
                  <a:schemeClr val="tx1">
                    <a:lumMod val="90000"/>
                    <a:lumOff val="10000"/>
                  </a:schemeClr>
                </a:solidFill>
              </a:rPr>
              <a:t>Figure 11:</a:t>
            </a:r>
            <a:r>
              <a:rPr lang="en" sz="800" dirty="0">
                <a:solidFill>
                  <a:schemeClr val="tx1">
                    <a:lumMod val="90000"/>
                    <a:lumOff val="10000"/>
                  </a:schemeClr>
                </a:solidFill>
              </a:rPr>
              <a:t> There are insider buyers who identify mispriced stocks.</a:t>
            </a:r>
            <a:endParaRPr sz="800" dirty="0">
              <a:solidFill>
                <a:schemeClr val="tx1">
                  <a:lumMod val="90000"/>
                  <a:lumOff val="10000"/>
                </a:schemeClr>
              </a:solidFill>
            </a:endParaRPr>
          </a:p>
        </p:txBody>
      </p:sp>
      <p:sp>
        <p:nvSpPr>
          <p:cNvPr id="324" name="Google Shape;324;g336ba9d7cec_0_27"/>
          <p:cNvSpPr txBox="1">
            <a:spLocks noGrp="1"/>
          </p:cNvSpPr>
          <p:nvPr>
            <p:ph type="body" idx="1"/>
          </p:nvPr>
        </p:nvSpPr>
        <p:spPr>
          <a:xfrm>
            <a:off x="4080375" y="4279238"/>
            <a:ext cx="3731100" cy="1827900"/>
          </a:xfrm>
          <a:prstGeom prst="rect">
            <a:avLst/>
          </a:prstGeom>
          <a:noFill/>
          <a:ln>
            <a:noFill/>
          </a:ln>
        </p:spPr>
        <p:txBody>
          <a:bodyPr spcFirstLastPara="1" wrap="square" lIns="91425" tIns="0"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1200" b="1" dirty="0">
                <a:solidFill>
                  <a:schemeClr val="tx1"/>
                </a:solidFill>
              </a:rPr>
              <a:t>Sector Concentration of Elite Alpha Insiders </a:t>
            </a:r>
            <a:endParaRPr sz="1200" b="1" dirty="0">
              <a:solidFill>
                <a:schemeClr val="tx1"/>
              </a:solidFill>
            </a:endParaRPr>
          </a:p>
          <a:p>
            <a:pPr marL="0" lvl="0" indent="0" algn="l" rtl="0">
              <a:lnSpc>
                <a:spcPct val="115000"/>
              </a:lnSpc>
              <a:spcBef>
                <a:spcPts val="1200"/>
              </a:spcBef>
              <a:spcAft>
                <a:spcPts val="0"/>
              </a:spcAft>
              <a:buClr>
                <a:schemeClr val="dk1"/>
              </a:buClr>
              <a:buSzPts val="1100"/>
              <a:buFont typeface="Arial"/>
              <a:buNone/>
            </a:pPr>
            <a:r>
              <a:rPr lang="en" sz="1000" dirty="0">
                <a:solidFill>
                  <a:schemeClr val="tx1"/>
                </a:solidFill>
              </a:rPr>
              <a:t>The sector distribution of insider buyers who met the “elite alpha” criteria shows four clear sector outperformers </a:t>
            </a:r>
            <a:r>
              <a:rPr lang="en" sz="1000" b="1" dirty="0">
                <a:solidFill>
                  <a:schemeClr val="tx1"/>
                </a:solidFill>
              </a:rPr>
              <a:t>(Fig 12)</a:t>
            </a:r>
            <a:r>
              <a:rPr lang="en" sz="1000" dirty="0">
                <a:solidFill>
                  <a:schemeClr val="tx1"/>
                </a:solidFill>
              </a:rPr>
              <a:t>.  </a:t>
            </a:r>
            <a:endParaRPr sz="1000" dirty="0">
              <a:solidFill>
                <a:schemeClr val="tx1"/>
              </a:solidFill>
            </a:endParaRPr>
          </a:p>
          <a:p>
            <a:pPr marL="0" lvl="0" indent="0" algn="l" rtl="0">
              <a:lnSpc>
                <a:spcPct val="115000"/>
              </a:lnSpc>
              <a:spcBef>
                <a:spcPts val="1200"/>
              </a:spcBef>
              <a:spcAft>
                <a:spcPts val="0"/>
              </a:spcAft>
              <a:buClr>
                <a:schemeClr val="dk1"/>
              </a:buClr>
              <a:buSzPts val="1100"/>
              <a:buFont typeface="Arial"/>
              <a:buNone/>
            </a:pPr>
            <a:r>
              <a:rPr lang="en" sz="1000" b="1" dirty="0">
                <a:solidFill>
                  <a:schemeClr val="tx1"/>
                </a:solidFill>
              </a:rPr>
              <a:t>Healthcare</a:t>
            </a:r>
            <a:r>
              <a:rPr lang="en" sz="1000" dirty="0">
                <a:solidFill>
                  <a:schemeClr val="tx1"/>
                </a:solidFill>
              </a:rPr>
              <a:t> dominates with 35% of insider alpha trades, more than double the next sector. This suggests strong informational advantages or market inefficiencies in this space, possibly due to complex product pipelines and asymmetric access to clinical or regulatory information.</a:t>
            </a:r>
            <a:endParaRPr sz="1000" dirty="0">
              <a:solidFill>
                <a:schemeClr val="tx1"/>
              </a:solidFill>
            </a:endParaRPr>
          </a:p>
          <a:p>
            <a:pPr marL="0" lvl="0" indent="0" algn="l" rtl="0">
              <a:lnSpc>
                <a:spcPct val="115000"/>
              </a:lnSpc>
              <a:spcBef>
                <a:spcPts val="1200"/>
              </a:spcBef>
              <a:spcAft>
                <a:spcPts val="0"/>
              </a:spcAft>
              <a:buClr>
                <a:schemeClr val="dk1"/>
              </a:buClr>
              <a:buSzPts val="1100"/>
              <a:buFont typeface="Arial"/>
              <a:buNone/>
            </a:pPr>
            <a:endParaRPr sz="1050" dirty="0">
              <a:solidFill>
                <a:schemeClr val="tx1"/>
              </a:solidFill>
            </a:endParaRPr>
          </a:p>
        </p:txBody>
      </p:sp>
      <p:sp>
        <p:nvSpPr>
          <p:cNvPr id="325" name="Google Shape;325;g336ba9d7cec_0_27"/>
          <p:cNvSpPr txBox="1"/>
          <p:nvPr/>
        </p:nvSpPr>
        <p:spPr>
          <a:xfrm>
            <a:off x="8217522" y="5724669"/>
            <a:ext cx="3391200" cy="633989"/>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sz="800" b="1" dirty="0">
                <a:solidFill>
                  <a:schemeClr val="tx1">
                    <a:lumMod val="90000"/>
                    <a:lumOff val="10000"/>
                  </a:schemeClr>
                </a:solidFill>
              </a:rPr>
              <a:t>Figure 12:</a:t>
            </a:r>
            <a:r>
              <a:rPr lang="en" sz="800" dirty="0">
                <a:solidFill>
                  <a:schemeClr val="tx1">
                    <a:lumMod val="90000"/>
                    <a:lumOff val="10000"/>
                  </a:schemeClr>
                </a:solidFill>
              </a:rPr>
              <a:t> Sector concentrations reflect information advantage</a:t>
            </a:r>
            <a:endParaRPr sz="800" dirty="0">
              <a:solidFill>
                <a:schemeClr val="tx1">
                  <a:lumMod val="90000"/>
                  <a:lumOff val="10000"/>
                </a:schemeClr>
              </a:solidFill>
            </a:endParaRPr>
          </a:p>
        </p:txBody>
      </p:sp>
      <p:sp>
        <p:nvSpPr>
          <p:cNvPr id="2" name="Rectangle 1">
            <a:extLst>
              <a:ext uri="{FF2B5EF4-FFF2-40B4-BE49-F238E27FC236}">
                <a16:creationId xmlns:a16="http://schemas.microsoft.com/office/drawing/2014/main" id="{452EA1F4-AD61-B8BD-9CBF-A9E312CB07E7}"/>
              </a:ext>
            </a:extLst>
          </p:cNvPr>
          <p:cNvSpPr/>
          <p:nvPr/>
        </p:nvSpPr>
        <p:spPr>
          <a:xfrm rot="10800000" flipV="1">
            <a:off x="-1" y="946962"/>
            <a:ext cx="9068025" cy="45719"/>
          </a:xfrm>
          <a:prstGeom prst="rect">
            <a:avLst/>
          </a:prstGeom>
          <a:gradFill>
            <a:gsLst>
              <a:gs pos="100000">
                <a:srgbClr val="14232E"/>
              </a:gs>
              <a:gs pos="0">
                <a:schemeClr val="tx2">
                  <a:lumMod val="20000"/>
                  <a:lumOff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F738A20-CB59-2DFE-934A-D22CD0B41DF8}"/>
              </a:ext>
            </a:extLst>
          </p:cNvPr>
          <p:cNvSpPr/>
          <p:nvPr/>
        </p:nvSpPr>
        <p:spPr>
          <a:xfrm>
            <a:off x="3410275" y="6456178"/>
            <a:ext cx="8781725" cy="45719"/>
          </a:xfrm>
          <a:prstGeom prst="rect">
            <a:avLst/>
          </a:prstGeom>
          <a:gradFill>
            <a:gsLst>
              <a:gs pos="100000">
                <a:srgbClr val="9E7316"/>
              </a:gs>
              <a:gs pos="0">
                <a:schemeClr val="tx2">
                  <a:lumMod val="20000"/>
                  <a:lumOff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9"/>
        <p:cNvGrpSpPr/>
        <p:nvPr/>
      </p:nvGrpSpPr>
      <p:grpSpPr>
        <a:xfrm>
          <a:off x="0" y="0"/>
          <a:ext cx="0" cy="0"/>
          <a:chOff x="0" y="0"/>
          <a:chExt cx="0" cy="0"/>
        </a:xfrm>
      </p:grpSpPr>
      <p:sp>
        <p:nvSpPr>
          <p:cNvPr id="330" name="Google Shape;330;g36592e60c4d_2_84"/>
          <p:cNvSpPr/>
          <p:nvPr/>
        </p:nvSpPr>
        <p:spPr>
          <a:xfrm>
            <a:off x="7744775" y="1103125"/>
            <a:ext cx="3975600" cy="5039100"/>
          </a:xfrm>
          <a:prstGeom prst="roundRect">
            <a:avLst>
              <a:gd name="adj" fmla="val 4753"/>
            </a:avLst>
          </a:prstGeom>
          <a:solidFill>
            <a:schemeClr val="accent1">
              <a:lumMod val="20000"/>
              <a:lumOff val="80000"/>
            </a:scheme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1" name="Graphic 10" descr="Online meeting with solid fill">
            <a:extLst>
              <a:ext uri="{FF2B5EF4-FFF2-40B4-BE49-F238E27FC236}">
                <a16:creationId xmlns:a16="http://schemas.microsoft.com/office/drawing/2014/main" id="{76343D5E-C9F7-B7B5-1023-D4A1CA31E6C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80422" y="1101394"/>
            <a:ext cx="463116" cy="463116"/>
          </a:xfrm>
          <a:prstGeom prst="rect">
            <a:avLst/>
          </a:prstGeom>
        </p:spPr>
      </p:pic>
      <p:pic>
        <p:nvPicPr>
          <p:cNvPr id="9" name="Graphic 8" descr="Lights On with solid fill">
            <a:extLst>
              <a:ext uri="{FF2B5EF4-FFF2-40B4-BE49-F238E27FC236}">
                <a16:creationId xmlns:a16="http://schemas.microsoft.com/office/drawing/2014/main" id="{79788AAD-4876-4D6F-CE69-510DC671D74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00224" y="5026730"/>
            <a:ext cx="914400" cy="914400"/>
          </a:xfrm>
          <a:prstGeom prst="rect">
            <a:avLst/>
          </a:prstGeom>
        </p:spPr>
      </p:pic>
      <p:pic>
        <p:nvPicPr>
          <p:cNvPr id="7" name="Graphic 6" descr="Scatterplot with solid fill">
            <a:extLst>
              <a:ext uri="{FF2B5EF4-FFF2-40B4-BE49-F238E27FC236}">
                <a16:creationId xmlns:a16="http://schemas.microsoft.com/office/drawing/2014/main" id="{CBCE9191-2397-68DB-3948-91BEF494A4C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551578" y="3609713"/>
            <a:ext cx="998556" cy="998556"/>
          </a:xfrm>
          <a:prstGeom prst="rect">
            <a:avLst/>
          </a:prstGeom>
        </p:spPr>
      </p:pic>
      <p:pic>
        <p:nvPicPr>
          <p:cNvPr id="6" name="Graphic 5" descr="Mop and bucket with solid fill">
            <a:extLst>
              <a:ext uri="{FF2B5EF4-FFF2-40B4-BE49-F238E27FC236}">
                <a16:creationId xmlns:a16="http://schemas.microsoft.com/office/drawing/2014/main" id="{828CA594-5A59-8D89-4AD2-278AEC41592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612930" y="2555507"/>
            <a:ext cx="827673" cy="827673"/>
          </a:xfrm>
          <a:prstGeom prst="rect">
            <a:avLst/>
          </a:prstGeom>
        </p:spPr>
      </p:pic>
      <p:pic>
        <p:nvPicPr>
          <p:cNvPr id="5" name="Picture 4" descr="A blue and white logo&#10;&#10;AI-generated content may be incorrect.">
            <a:extLst>
              <a:ext uri="{FF2B5EF4-FFF2-40B4-BE49-F238E27FC236}">
                <a16:creationId xmlns:a16="http://schemas.microsoft.com/office/drawing/2014/main" id="{A3F861C2-2DDD-CDFE-1F25-232F14A97677}"/>
              </a:ext>
            </a:extLst>
          </p:cNvPr>
          <p:cNvPicPr>
            <a:picLocks noChangeAspect="1"/>
          </p:cNvPicPr>
          <p:nvPr/>
        </p:nvPicPr>
        <p:blipFill>
          <a:blip r:embed="rId11">
            <a:extLst>
              <a:ext uri="{BEBA8EAE-BF5A-486C-A8C5-ECC9F3942E4B}">
                <a14:imgProps xmlns:a14="http://schemas.microsoft.com/office/drawing/2010/main">
                  <a14:imgLayer r:embed="rId12">
                    <a14:imgEffect>
                      <a14:backgroundRemoval t="10000" b="90000" l="10000" r="90000">
                        <a14:foregroundMark x1="34222" y1="58667" x2="56000" y2="55111"/>
                        <a14:foregroundMark x1="56000" y1="55111" x2="56000" y2="52889"/>
                      </a14:backgroundRemoval>
                    </a14:imgEffect>
                  </a14:imgLayer>
                </a14:imgProps>
              </a:ext>
            </a:extLst>
          </a:blip>
          <a:stretch>
            <a:fillRect/>
          </a:stretch>
        </p:blipFill>
        <p:spPr>
          <a:xfrm>
            <a:off x="5584712" y="1462957"/>
            <a:ext cx="956473" cy="956473"/>
          </a:xfrm>
          <a:prstGeom prst="rect">
            <a:avLst/>
          </a:prstGeom>
        </p:spPr>
      </p:pic>
      <p:sp>
        <p:nvSpPr>
          <p:cNvPr id="331" name="Google Shape;331;g36592e60c4d_2_84"/>
          <p:cNvSpPr txBox="1"/>
          <p:nvPr/>
        </p:nvSpPr>
        <p:spPr>
          <a:xfrm>
            <a:off x="-84050" y="-938500"/>
            <a:ext cx="2423400" cy="630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2"/>
              </a:solidFill>
              <a:latin typeface="Arial"/>
              <a:ea typeface="Arial"/>
              <a:cs typeface="Arial"/>
              <a:sym typeface="Arial"/>
            </a:endParaRPr>
          </a:p>
        </p:txBody>
      </p:sp>
      <p:sp>
        <p:nvSpPr>
          <p:cNvPr id="334" name="Google Shape;334;g36592e60c4d_2_84"/>
          <p:cNvSpPr/>
          <p:nvPr/>
        </p:nvSpPr>
        <p:spPr>
          <a:xfrm>
            <a:off x="8046050" y="256574"/>
            <a:ext cx="1957500" cy="436800"/>
          </a:xfrm>
          <a:prstGeom prst="chevron">
            <a:avLst>
              <a:gd name="adj" fmla="val 50000"/>
            </a:avLst>
          </a:prstGeom>
          <a:solidFill>
            <a:schemeClr val="accent1">
              <a:lumMod val="20000"/>
              <a:lumOff val="80000"/>
            </a:schemeClr>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5" name="Google Shape;335;g36592e60c4d_2_84"/>
          <p:cNvSpPr/>
          <p:nvPr/>
        </p:nvSpPr>
        <p:spPr>
          <a:xfrm>
            <a:off x="8427050" y="256574"/>
            <a:ext cx="1957500" cy="436800"/>
          </a:xfrm>
          <a:prstGeom prst="chevron">
            <a:avLst>
              <a:gd name="adj" fmla="val 50000"/>
            </a:avLst>
          </a:prstGeom>
          <a:solidFill>
            <a:schemeClr val="accent1">
              <a:lumMod val="20000"/>
              <a:lumOff val="80000"/>
            </a:schemeClr>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6" name="Google Shape;336;g36592e60c4d_2_84"/>
          <p:cNvSpPr/>
          <p:nvPr/>
        </p:nvSpPr>
        <p:spPr>
          <a:xfrm>
            <a:off x="8780754" y="256574"/>
            <a:ext cx="1957500" cy="436800"/>
          </a:xfrm>
          <a:prstGeom prst="chevron">
            <a:avLst>
              <a:gd name="adj" fmla="val 50000"/>
            </a:avLst>
          </a:prstGeom>
          <a:solidFill>
            <a:schemeClr val="accent1">
              <a:lumMod val="20000"/>
              <a:lumOff val="80000"/>
            </a:schemeClr>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7" name="Google Shape;337;g36592e60c4d_2_84"/>
          <p:cNvSpPr/>
          <p:nvPr/>
        </p:nvSpPr>
        <p:spPr>
          <a:xfrm>
            <a:off x="9112850" y="256574"/>
            <a:ext cx="1957500" cy="436800"/>
          </a:xfrm>
          <a:prstGeom prst="chevron">
            <a:avLst>
              <a:gd name="adj" fmla="val 50000"/>
            </a:avLst>
          </a:prstGeom>
          <a:solidFill>
            <a:schemeClr val="accent1">
              <a:lumMod val="20000"/>
              <a:lumOff val="80000"/>
            </a:schemeClr>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8" name="Google Shape;338;g36592e60c4d_2_84"/>
          <p:cNvSpPr/>
          <p:nvPr/>
        </p:nvSpPr>
        <p:spPr>
          <a:xfrm>
            <a:off x="9424350" y="242375"/>
            <a:ext cx="2220300" cy="470700"/>
          </a:xfrm>
          <a:prstGeom prst="chevron">
            <a:avLst>
              <a:gd name="adj" fmla="val 50000"/>
            </a:avLst>
          </a:prstGeom>
          <a:solidFill>
            <a:schemeClr val="accent1"/>
          </a:solidFill>
          <a:ln w="19050"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tx1"/>
                </a:solidFill>
              </a:rPr>
              <a:t>Conclusions</a:t>
            </a:r>
            <a:endParaRPr b="1">
              <a:solidFill>
                <a:schemeClr val="tx1"/>
              </a:solidFill>
            </a:endParaRPr>
          </a:p>
        </p:txBody>
      </p:sp>
      <p:sp>
        <p:nvSpPr>
          <p:cNvPr id="339" name="Google Shape;339;g36592e60c4d_2_84"/>
          <p:cNvSpPr txBox="1">
            <a:spLocks noGrp="1"/>
          </p:cNvSpPr>
          <p:nvPr>
            <p:ph type="title"/>
          </p:nvPr>
        </p:nvSpPr>
        <p:spPr>
          <a:xfrm>
            <a:off x="433650" y="388325"/>
            <a:ext cx="3847200" cy="512700"/>
          </a:xfrm>
          <a:prstGeom prst="rect">
            <a:avLst/>
          </a:prstGeom>
          <a:noFill/>
          <a:ln>
            <a:noFill/>
          </a:ln>
        </p:spPr>
        <p:txBody>
          <a:bodyPr spcFirstLastPara="1" wrap="square" lIns="121875" tIns="121875" rIns="121875" bIns="121875" anchor="t" anchorCtr="0">
            <a:noAutofit/>
          </a:bodyPr>
          <a:lstStyle/>
          <a:p>
            <a:pPr marL="0" lvl="0" indent="0" algn="l" rtl="0">
              <a:lnSpc>
                <a:spcPct val="100000"/>
              </a:lnSpc>
              <a:spcBef>
                <a:spcPts val="0"/>
              </a:spcBef>
              <a:spcAft>
                <a:spcPts val="0"/>
              </a:spcAft>
              <a:buSzPts val="3700"/>
              <a:buNone/>
            </a:pPr>
            <a:r>
              <a:rPr lang="en" sz="2400" dirty="0">
                <a:solidFill>
                  <a:schemeClr val="tx1"/>
                </a:solidFill>
              </a:rPr>
              <a:t>Conclusions and Future Work</a:t>
            </a:r>
            <a:endParaRPr sz="2400" dirty="0">
              <a:solidFill>
                <a:schemeClr val="tx1"/>
              </a:solidFill>
            </a:endParaRPr>
          </a:p>
        </p:txBody>
      </p:sp>
      <p:sp>
        <p:nvSpPr>
          <p:cNvPr id="340" name="Google Shape;340;g36592e60c4d_2_84"/>
          <p:cNvSpPr txBox="1">
            <a:spLocks noGrp="1"/>
          </p:cNvSpPr>
          <p:nvPr>
            <p:ph type="body" idx="1"/>
          </p:nvPr>
        </p:nvSpPr>
        <p:spPr>
          <a:xfrm>
            <a:off x="7832050" y="1230950"/>
            <a:ext cx="3753300" cy="4867500"/>
          </a:xfrm>
          <a:prstGeom prst="rect">
            <a:avLst/>
          </a:prstGeom>
          <a:noFill/>
          <a:ln>
            <a:noFill/>
          </a:ln>
        </p:spPr>
        <p:txBody>
          <a:bodyPr spcFirstLastPara="1" wrap="square" lIns="91425" tIns="0" rIns="91425" bIns="91425" anchor="t" anchorCtr="0">
            <a:noAutofit/>
          </a:bodyPr>
          <a:lstStyle/>
          <a:p>
            <a:pPr marL="0" lvl="0" indent="0" algn="l" rtl="0">
              <a:lnSpc>
                <a:spcPct val="115000"/>
              </a:lnSpc>
              <a:spcBef>
                <a:spcPts val="0"/>
              </a:spcBef>
              <a:spcAft>
                <a:spcPts val="0"/>
              </a:spcAft>
              <a:buSzPts val="1100"/>
              <a:buNone/>
            </a:pPr>
            <a:r>
              <a:rPr lang="en" sz="1200" b="1" dirty="0">
                <a:solidFill>
                  <a:schemeClr val="bg2"/>
                </a:solidFill>
              </a:rPr>
              <a:t>Future Work</a:t>
            </a:r>
            <a:endParaRPr sz="1200" b="1" dirty="0">
              <a:solidFill>
                <a:schemeClr val="bg2"/>
              </a:solidFill>
            </a:endParaRPr>
          </a:p>
          <a:p>
            <a:pPr marL="0" lvl="0" indent="0" algn="l" rtl="0">
              <a:lnSpc>
                <a:spcPct val="115000"/>
              </a:lnSpc>
              <a:spcBef>
                <a:spcPts val="1000"/>
              </a:spcBef>
              <a:spcAft>
                <a:spcPts val="0"/>
              </a:spcAft>
              <a:buSzPts val="1100"/>
              <a:buNone/>
            </a:pPr>
            <a:r>
              <a:rPr lang="en" sz="1000" dirty="0">
                <a:solidFill>
                  <a:schemeClr val="bg2"/>
                </a:solidFill>
              </a:rPr>
              <a:t>As an extension of this project, future research should explore alternative resources for stock data to overcome the limitations encountered with the Yahoo! Finance API. Both free and paid platforms may offer enhanced coverage, reliability, or granularity:</a:t>
            </a:r>
            <a:endParaRPr sz="1000" dirty="0">
              <a:solidFill>
                <a:schemeClr val="bg2"/>
              </a:solidFill>
            </a:endParaRPr>
          </a:p>
          <a:p>
            <a:pPr marL="336550" indent="-171450">
              <a:spcBef>
                <a:spcPts val="1000"/>
              </a:spcBef>
              <a:buClr>
                <a:schemeClr val="dk1"/>
              </a:buClr>
              <a:buSzPts val="1000"/>
            </a:pPr>
            <a:r>
              <a:rPr lang="en" sz="1000" b="1" dirty="0">
                <a:solidFill>
                  <a:schemeClr val="bg2"/>
                </a:solidFill>
              </a:rPr>
              <a:t>Alpha Vantage:</a:t>
            </a:r>
            <a:r>
              <a:rPr lang="en" sz="1000" dirty="0">
                <a:solidFill>
                  <a:schemeClr val="bg2"/>
                </a:solidFill>
              </a:rPr>
              <a:t> Comprehensive financial API (Free and Paid)</a:t>
            </a:r>
            <a:endParaRPr sz="1000" dirty="0">
              <a:solidFill>
                <a:schemeClr val="bg2"/>
              </a:solidFill>
            </a:endParaRPr>
          </a:p>
          <a:p>
            <a:pPr marL="336550" indent="-171450">
              <a:buClr>
                <a:schemeClr val="dk1"/>
              </a:buClr>
              <a:buSzPts val="1000"/>
            </a:pPr>
            <a:r>
              <a:rPr lang="en" sz="1000" b="1" dirty="0">
                <a:solidFill>
                  <a:schemeClr val="bg2"/>
                </a:solidFill>
              </a:rPr>
              <a:t>Finnhub:</a:t>
            </a:r>
            <a:r>
              <a:rPr lang="en" sz="1000" dirty="0">
                <a:solidFill>
                  <a:schemeClr val="bg2"/>
                </a:solidFill>
              </a:rPr>
              <a:t> Institutional-grade financial data (Free and Paid)</a:t>
            </a:r>
            <a:endParaRPr sz="1000" dirty="0">
              <a:solidFill>
                <a:schemeClr val="bg2"/>
              </a:solidFill>
            </a:endParaRPr>
          </a:p>
          <a:p>
            <a:pPr marL="336550" indent="-171450">
              <a:buClr>
                <a:schemeClr val="dk1"/>
              </a:buClr>
              <a:buSzPts val="1000"/>
            </a:pPr>
            <a:r>
              <a:rPr lang="en" sz="1000" b="1" dirty="0">
                <a:solidFill>
                  <a:schemeClr val="bg2"/>
                </a:solidFill>
              </a:rPr>
              <a:t>Marketstack:</a:t>
            </a:r>
            <a:r>
              <a:rPr lang="en" sz="1000" dirty="0">
                <a:solidFill>
                  <a:schemeClr val="bg2"/>
                </a:solidFill>
              </a:rPr>
              <a:t> Specializes in historical market data (Paid)</a:t>
            </a:r>
            <a:endParaRPr sz="1000" dirty="0">
              <a:solidFill>
                <a:schemeClr val="bg2"/>
              </a:solidFill>
            </a:endParaRPr>
          </a:p>
          <a:p>
            <a:pPr marL="336550" indent="-171450">
              <a:buClr>
                <a:schemeClr val="dk1"/>
              </a:buClr>
              <a:buSzPts val="1000"/>
            </a:pPr>
            <a:r>
              <a:rPr lang="en" sz="1000" b="1" dirty="0">
                <a:solidFill>
                  <a:schemeClr val="bg2"/>
                </a:solidFill>
              </a:rPr>
              <a:t>Alpaca:</a:t>
            </a:r>
            <a:r>
              <a:rPr lang="en" sz="1000" dirty="0">
                <a:solidFill>
                  <a:schemeClr val="bg2"/>
                </a:solidFill>
              </a:rPr>
              <a:t> Commission-free brokerage with robust API (Account Required)</a:t>
            </a:r>
            <a:endParaRPr sz="1000" dirty="0">
              <a:solidFill>
                <a:schemeClr val="bg2"/>
              </a:solidFill>
            </a:endParaRPr>
          </a:p>
          <a:p>
            <a:pPr marL="336550" indent="-171450">
              <a:buClr>
                <a:schemeClr val="dk1"/>
              </a:buClr>
              <a:buSzPts val="1000"/>
            </a:pPr>
            <a:r>
              <a:rPr lang="en" sz="1000" b="1" dirty="0">
                <a:solidFill>
                  <a:schemeClr val="bg2"/>
                </a:solidFill>
              </a:rPr>
              <a:t>Tiingo:</a:t>
            </a:r>
            <a:r>
              <a:rPr lang="en" sz="1000" dirty="0">
                <a:solidFill>
                  <a:schemeClr val="bg2"/>
                </a:solidFill>
              </a:rPr>
              <a:t> Real-time and historical price data (Paid)</a:t>
            </a:r>
            <a:endParaRPr sz="1000" dirty="0">
              <a:solidFill>
                <a:schemeClr val="bg2"/>
              </a:solidFill>
            </a:endParaRPr>
          </a:p>
          <a:p>
            <a:pPr marL="0" lvl="0" indent="0" algn="l" rtl="0">
              <a:lnSpc>
                <a:spcPct val="115000"/>
              </a:lnSpc>
              <a:spcBef>
                <a:spcPts val="1000"/>
              </a:spcBef>
              <a:spcAft>
                <a:spcPts val="0"/>
              </a:spcAft>
              <a:buNone/>
            </a:pPr>
            <a:r>
              <a:rPr lang="en" sz="1000" dirty="0">
                <a:solidFill>
                  <a:schemeClr val="bg2"/>
                </a:solidFill>
              </a:rPr>
              <a:t>Beyond expanding data sources, further research could deepen the analysis of successful insider trading patterns by incorporating dimensions such as sector classification, market capitalization, and macro-level market trends.</a:t>
            </a:r>
            <a:endParaRPr sz="1000" dirty="0">
              <a:solidFill>
                <a:schemeClr val="bg2"/>
              </a:solidFill>
            </a:endParaRPr>
          </a:p>
          <a:p>
            <a:pPr marL="0" lvl="0" indent="0" algn="l" rtl="0">
              <a:lnSpc>
                <a:spcPct val="115000"/>
              </a:lnSpc>
              <a:spcBef>
                <a:spcPts val="1000"/>
              </a:spcBef>
              <a:spcAft>
                <a:spcPts val="1000"/>
              </a:spcAft>
              <a:buNone/>
            </a:pPr>
            <a:r>
              <a:rPr lang="en" sz="1000" dirty="0">
                <a:solidFill>
                  <a:schemeClr val="bg2"/>
                </a:solidFill>
              </a:rPr>
              <a:t>The enriched dataset produced in this project offers a strong foundation for integration into a machine learning pipeline. Both unsupervised (e.g., clustering insider behavior) and supervised learning (e.g., forecasting post-trade performance) can be explored to uncover predictive relationships and enhance model-driven investment strategies.</a:t>
            </a:r>
            <a:endParaRPr sz="1000" dirty="0">
              <a:solidFill>
                <a:schemeClr val="bg2"/>
              </a:solidFill>
            </a:endParaRPr>
          </a:p>
        </p:txBody>
      </p:sp>
      <p:sp>
        <p:nvSpPr>
          <p:cNvPr id="342" name="Google Shape;342;g36592e60c4d_2_84"/>
          <p:cNvSpPr txBox="1">
            <a:spLocks noGrp="1"/>
          </p:cNvSpPr>
          <p:nvPr>
            <p:ph type="body" idx="1"/>
          </p:nvPr>
        </p:nvSpPr>
        <p:spPr>
          <a:xfrm>
            <a:off x="531300" y="1247050"/>
            <a:ext cx="4092300" cy="4867500"/>
          </a:xfrm>
          <a:prstGeom prst="rect">
            <a:avLst/>
          </a:prstGeom>
          <a:noFill/>
          <a:ln>
            <a:noFill/>
          </a:ln>
        </p:spPr>
        <p:txBody>
          <a:bodyPr spcFirstLastPara="1" wrap="square" lIns="91425" tIns="0" rIns="91425" bIns="91425" anchor="t" anchorCtr="0">
            <a:noAutofit/>
          </a:bodyPr>
          <a:lstStyle/>
          <a:p>
            <a:pPr marL="0" lvl="0" indent="0" algn="l" rtl="0">
              <a:lnSpc>
                <a:spcPct val="115000"/>
              </a:lnSpc>
              <a:spcBef>
                <a:spcPts val="600"/>
              </a:spcBef>
              <a:spcAft>
                <a:spcPts val="0"/>
              </a:spcAft>
              <a:buSzPts val="1100"/>
              <a:buNone/>
            </a:pPr>
            <a:r>
              <a:rPr lang="en" sz="1200" b="1" dirty="0">
                <a:solidFill>
                  <a:schemeClr val="dk1"/>
                </a:solidFill>
              </a:rPr>
              <a:t>Sift Through The Noise To Find The Gold</a:t>
            </a:r>
            <a:endParaRPr sz="1200" b="1" dirty="0">
              <a:solidFill>
                <a:schemeClr val="dk1"/>
              </a:solidFill>
            </a:endParaRPr>
          </a:p>
          <a:p>
            <a:pPr marL="0" lvl="0" indent="0" algn="l" rtl="0">
              <a:spcBef>
                <a:spcPts val="600"/>
              </a:spcBef>
              <a:spcAft>
                <a:spcPts val="0"/>
              </a:spcAft>
              <a:buSzPts val="1100"/>
              <a:buNone/>
            </a:pPr>
            <a:r>
              <a:rPr lang="en" sz="1000" dirty="0">
                <a:solidFill>
                  <a:schemeClr val="dk1"/>
                </a:solidFill>
              </a:rPr>
              <a:t>The U.S. Securities and Exchange Commision (SEC) requires corporate insiders to disclose stock acquisitions or dispositions in their own firms within 48 hours via Form 4 filings. These mandated disclosures offer a valuable opportunity to extract unstructured data that can inform financial models designed to outperform the broader market and generate alpha. </a:t>
            </a:r>
            <a:endParaRPr sz="1000" dirty="0">
              <a:solidFill>
                <a:schemeClr val="dk1"/>
              </a:solidFill>
            </a:endParaRPr>
          </a:p>
          <a:p>
            <a:pPr marL="0" lvl="0" indent="0" algn="l" rtl="0">
              <a:spcBef>
                <a:spcPts val="600"/>
              </a:spcBef>
              <a:spcAft>
                <a:spcPts val="0"/>
              </a:spcAft>
              <a:buSzPts val="1100"/>
              <a:buNone/>
            </a:pPr>
            <a:r>
              <a:rPr lang="en" sz="1000" dirty="0">
                <a:solidFill>
                  <a:schemeClr val="dk1"/>
                </a:solidFill>
              </a:rPr>
              <a:t>In this study, we constructed a novel dataset by merging SEC Form 4 data with market and corporate information from the Yahoo! Finance API (yfinance). The result was a comprehensive dataset covering over 3,000 companies and more than 100,000 insider transactions, enabling detailed analysis at both the role and individual level. </a:t>
            </a:r>
            <a:endParaRPr sz="1000" dirty="0">
              <a:solidFill>
                <a:schemeClr val="dk1"/>
              </a:solidFill>
            </a:endParaRPr>
          </a:p>
          <a:p>
            <a:pPr marL="0" lvl="0" indent="0" algn="l" rtl="0">
              <a:spcBef>
                <a:spcPts val="600"/>
              </a:spcBef>
              <a:spcAft>
                <a:spcPts val="0"/>
              </a:spcAft>
              <a:buSzPts val="1100"/>
              <a:buNone/>
            </a:pPr>
            <a:r>
              <a:rPr lang="en" sz="1000" dirty="0">
                <a:solidFill>
                  <a:schemeClr val="dk1"/>
                </a:solidFill>
              </a:rPr>
              <a:t>Throughout the data engineering process, we addressed challenges such as inconsistencies in transaction dates, stock prices, and insider role classifications. Using data science techniques such as regular expressions, normalization, and robust filtering, we were able to deploy a clean and reliable dataset to support our analysis.</a:t>
            </a:r>
            <a:endParaRPr sz="1000" dirty="0">
              <a:solidFill>
                <a:schemeClr val="dk1"/>
              </a:solidFill>
            </a:endParaRPr>
          </a:p>
          <a:p>
            <a:pPr marL="0" lvl="0" indent="0" algn="l" rtl="0">
              <a:spcBef>
                <a:spcPts val="600"/>
              </a:spcBef>
              <a:spcAft>
                <a:spcPts val="0"/>
              </a:spcAft>
              <a:buSzPts val="1100"/>
              <a:buNone/>
            </a:pPr>
            <a:r>
              <a:rPr lang="en" sz="1000" dirty="0">
                <a:solidFill>
                  <a:schemeClr val="dk1"/>
                </a:solidFill>
              </a:rPr>
              <a:t>Our results indicate that, in aggregate, insider trading activity behaves like random noise</a:t>
            </a:r>
            <a:r>
              <a:rPr lang="en" sz="1000" b="1" dirty="0">
                <a:solidFill>
                  <a:schemeClr val="dk1"/>
                </a:solidFill>
              </a:rPr>
              <a:t> </a:t>
            </a:r>
            <a:r>
              <a:rPr lang="en" sz="1000" dirty="0">
                <a:solidFill>
                  <a:schemeClr val="dk1"/>
                </a:solidFill>
              </a:rPr>
              <a:t>and often underperforms the market. However,</a:t>
            </a:r>
            <a:r>
              <a:rPr lang="en" sz="1000" b="1" dirty="0">
                <a:solidFill>
                  <a:schemeClr val="dk1"/>
                </a:solidFill>
              </a:rPr>
              <a:t> </a:t>
            </a:r>
            <a:r>
              <a:rPr lang="en" sz="1000" dirty="0">
                <a:solidFill>
                  <a:schemeClr val="dk1"/>
                </a:solidFill>
              </a:rPr>
              <a:t>we identified a distinct subset of individuals that we term</a:t>
            </a:r>
            <a:r>
              <a:rPr lang="en" sz="1000" b="1" dirty="0">
                <a:solidFill>
                  <a:schemeClr val="dk1"/>
                </a:solidFill>
              </a:rPr>
              <a:t> ‘elite alpha insiders’ who consistently generated six-month, risk adjusted returns exceeding 20% above and beyond the market benchmark.</a:t>
            </a:r>
            <a:r>
              <a:rPr lang="en" sz="1000" dirty="0">
                <a:solidFill>
                  <a:schemeClr val="dk1"/>
                </a:solidFill>
              </a:rPr>
              <a:t> These finding suggest that while most insider activity lacks predictive value, there exists a small but potentially exploitable signal within the noise.</a:t>
            </a:r>
            <a:endParaRPr dirty="0">
              <a:solidFill>
                <a:schemeClr val="dk1"/>
              </a:solidFill>
            </a:endParaRPr>
          </a:p>
        </p:txBody>
      </p:sp>
      <p:sp>
        <p:nvSpPr>
          <p:cNvPr id="347" name="Google Shape;347;g36592e60c4d_2_84"/>
          <p:cNvSpPr txBox="1"/>
          <p:nvPr/>
        </p:nvSpPr>
        <p:spPr>
          <a:xfrm>
            <a:off x="5101400" y="1139750"/>
            <a:ext cx="19575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600"/>
              </a:spcBef>
              <a:spcAft>
                <a:spcPts val="0"/>
              </a:spcAft>
              <a:buNone/>
            </a:pPr>
            <a:r>
              <a:rPr lang="en" sz="1200" b="1">
                <a:solidFill>
                  <a:schemeClr val="dk1"/>
                </a:solidFill>
              </a:rPr>
              <a:t>Data Science Pipeline</a:t>
            </a:r>
            <a:endParaRPr/>
          </a:p>
        </p:txBody>
      </p:sp>
      <p:sp>
        <p:nvSpPr>
          <p:cNvPr id="348" name="Google Shape;348;g36592e60c4d_2_84"/>
          <p:cNvSpPr txBox="1"/>
          <p:nvPr/>
        </p:nvSpPr>
        <p:spPr>
          <a:xfrm>
            <a:off x="5071850" y="2182965"/>
            <a:ext cx="1957500" cy="3078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600"/>
              </a:spcBef>
              <a:spcAft>
                <a:spcPts val="0"/>
              </a:spcAft>
              <a:buNone/>
            </a:pPr>
            <a:r>
              <a:rPr lang="en" sz="800" dirty="0">
                <a:solidFill>
                  <a:schemeClr val="dk1"/>
                </a:solidFill>
              </a:rPr>
              <a:t>Data Acquisition</a:t>
            </a:r>
            <a:endParaRPr sz="1000" dirty="0"/>
          </a:p>
        </p:txBody>
      </p:sp>
      <p:sp>
        <p:nvSpPr>
          <p:cNvPr id="349" name="Google Shape;349;g36592e60c4d_2_84"/>
          <p:cNvSpPr txBox="1"/>
          <p:nvPr/>
        </p:nvSpPr>
        <p:spPr>
          <a:xfrm>
            <a:off x="5051125" y="3179564"/>
            <a:ext cx="1957500" cy="3078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600"/>
              </a:spcBef>
              <a:spcAft>
                <a:spcPts val="0"/>
              </a:spcAft>
              <a:buNone/>
            </a:pPr>
            <a:r>
              <a:rPr lang="en" sz="800" dirty="0">
                <a:solidFill>
                  <a:schemeClr val="dk1"/>
                </a:solidFill>
              </a:rPr>
              <a:t>Data Cleaning</a:t>
            </a:r>
            <a:endParaRPr sz="1000" dirty="0"/>
          </a:p>
        </p:txBody>
      </p:sp>
      <p:sp>
        <p:nvSpPr>
          <p:cNvPr id="350" name="Google Shape;350;g36592e60c4d_2_84"/>
          <p:cNvSpPr txBox="1"/>
          <p:nvPr/>
        </p:nvSpPr>
        <p:spPr>
          <a:xfrm>
            <a:off x="5101400" y="4321714"/>
            <a:ext cx="1957500" cy="3078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600"/>
              </a:spcBef>
              <a:spcAft>
                <a:spcPts val="0"/>
              </a:spcAft>
              <a:buNone/>
            </a:pPr>
            <a:r>
              <a:rPr lang="en" sz="800" dirty="0">
                <a:solidFill>
                  <a:schemeClr val="dk1"/>
                </a:solidFill>
              </a:rPr>
              <a:t>Exploratory Analysis</a:t>
            </a:r>
            <a:endParaRPr sz="1000" dirty="0"/>
          </a:p>
        </p:txBody>
      </p:sp>
      <p:sp>
        <p:nvSpPr>
          <p:cNvPr id="351" name="Google Shape;351;g36592e60c4d_2_84"/>
          <p:cNvSpPr txBox="1"/>
          <p:nvPr/>
        </p:nvSpPr>
        <p:spPr>
          <a:xfrm>
            <a:off x="5101400" y="5753294"/>
            <a:ext cx="1957500" cy="3078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600"/>
              </a:spcBef>
              <a:spcAft>
                <a:spcPts val="0"/>
              </a:spcAft>
              <a:buNone/>
            </a:pPr>
            <a:r>
              <a:rPr lang="en" sz="800">
                <a:solidFill>
                  <a:schemeClr val="dk1"/>
                </a:solidFill>
              </a:rPr>
              <a:t>Insights</a:t>
            </a:r>
            <a:endParaRPr sz="1000"/>
          </a:p>
        </p:txBody>
      </p:sp>
      <p:cxnSp>
        <p:nvCxnSpPr>
          <p:cNvPr id="352" name="Google Shape;352;g36592e60c4d_2_84"/>
          <p:cNvCxnSpPr/>
          <p:nvPr/>
        </p:nvCxnSpPr>
        <p:spPr>
          <a:xfrm>
            <a:off x="6050600" y="2518061"/>
            <a:ext cx="3300" cy="326400"/>
          </a:xfrm>
          <a:prstGeom prst="straightConnector1">
            <a:avLst/>
          </a:prstGeom>
          <a:noFill/>
          <a:ln w="38100" cap="flat" cmpd="sng">
            <a:solidFill>
              <a:schemeClr val="tx2">
                <a:lumMod val="60000"/>
                <a:lumOff val="40000"/>
              </a:schemeClr>
            </a:solidFill>
            <a:prstDash val="solid"/>
            <a:round/>
            <a:headEnd type="none" w="med" len="med"/>
            <a:tailEnd type="stealth" w="med" len="med"/>
          </a:ln>
        </p:spPr>
      </p:cxnSp>
      <p:cxnSp>
        <p:nvCxnSpPr>
          <p:cNvPr id="353" name="Google Shape;353;g36592e60c4d_2_84"/>
          <p:cNvCxnSpPr/>
          <p:nvPr/>
        </p:nvCxnSpPr>
        <p:spPr>
          <a:xfrm>
            <a:off x="6050600" y="3507525"/>
            <a:ext cx="3300" cy="326400"/>
          </a:xfrm>
          <a:prstGeom prst="straightConnector1">
            <a:avLst/>
          </a:prstGeom>
          <a:noFill/>
          <a:ln w="38100" cap="flat" cmpd="sng">
            <a:solidFill>
              <a:schemeClr val="tx2">
                <a:lumMod val="60000"/>
                <a:lumOff val="40000"/>
              </a:schemeClr>
            </a:solidFill>
            <a:prstDash val="solid"/>
            <a:round/>
            <a:headEnd type="none" w="med" len="med"/>
            <a:tailEnd type="stealth" w="med" len="med"/>
          </a:ln>
        </p:spPr>
      </p:cxnSp>
      <p:cxnSp>
        <p:nvCxnSpPr>
          <p:cNvPr id="354" name="Google Shape;354;g36592e60c4d_2_84"/>
          <p:cNvCxnSpPr/>
          <p:nvPr/>
        </p:nvCxnSpPr>
        <p:spPr>
          <a:xfrm>
            <a:off x="6050600" y="4643701"/>
            <a:ext cx="3300" cy="326400"/>
          </a:xfrm>
          <a:prstGeom prst="straightConnector1">
            <a:avLst/>
          </a:prstGeom>
          <a:noFill/>
          <a:ln w="38100" cap="flat" cmpd="sng">
            <a:solidFill>
              <a:schemeClr val="tx2">
                <a:lumMod val="60000"/>
                <a:lumOff val="40000"/>
              </a:schemeClr>
            </a:solidFill>
            <a:prstDash val="solid"/>
            <a:round/>
            <a:headEnd type="none" w="med" len="med"/>
            <a:tailEnd type="stealth" w="med" len="med"/>
          </a:ln>
        </p:spPr>
      </p:cxnSp>
      <p:sp>
        <p:nvSpPr>
          <p:cNvPr id="2" name="Rectangle 1">
            <a:extLst>
              <a:ext uri="{FF2B5EF4-FFF2-40B4-BE49-F238E27FC236}">
                <a16:creationId xmlns:a16="http://schemas.microsoft.com/office/drawing/2014/main" id="{1A23AD8C-A5C3-9E10-6911-011B638DDC8D}"/>
              </a:ext>
            </a:extLst>
          </p:cNvPr>
          <p:cNvSpPr/>
          <p:nvPr/>
        </p:nvSpPr>
        <p:spPr>
          <a:xfrm rot="10800000" flipV="1">
            <a:off x="-1" y="946962"/>
            <a:ext cx="9068025" cy="45719"/>
          </a:xfrm>
          <a:prstGeom prst="rect">
            <a:avLst/>
          </a:prstGeom>
          <a:gradFill>
            <a:gsLst>
              <a:gs pos="100000">
                <a:srgbClr val="14232E"/>
              </a:gs>
              <a:gs pos="0">
                <a:schemeClr val="tx2">
                  <a:lumMod val="20000"/>
                  <a:lumOff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C087A33-A96F-C408-BE8E-082919D7CFFF}"/>
              </a:ext>
            </a:extLst>
          </p:cNvPr>
          <p:cNvSpPr/>
          <p:nvPr/>
        </p:nvSpPr>
        <p:spPr>
          <a:xfrm>
            <a:off x="3410275" y="6456178"/>
            <a:ext cx="8781725" cy="45719"/>
          </a:xfrm>
          <a:prstGeom prst="rect">
            <a:avLst/>
          </a:prstGeom>
          <a:gradFill>
            <a:gsLst>
              <a:gs pos="100000">
                <a:srgbClr val="9E7316"/>
              </a:gs>
              <a:gs pos="0">
                <a:schemeClr val="tx2">
                  <a:lumMod val="20000"/>
                  <a:lumOff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Google Shape;361;p7">
            <a:extLst>
              <a:ext uri="{FF2B5EF4-FFF2-40B4-BE49-F238E27FC236}">
                <a16:creationId xmlns:a16="http://schemas.microsoft.com/office/drawing/2014/main" id="{1CB899FA-0A23-C7EF-3D45-540431AEA05A}"/>
              </a:ext>
            </a:extLst>
          </p:cNvPr>
          <p:cNvSpPr txBox="1"/>
          <p:nvPr/>
        </p:nvSpPr>
        <p:spPr>
          <a:xfrm>
            <a:off x="11680100" y="6502122"/>
            <a:ext cx="354900" cy="295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dirty="0">
                <a:solidFill>
                  <a:schemeClr val="dk1"/>
                </a:solidFill>
              </a:rPr>
              <a:t>10</a:t>
            </a:r>
            <a:endParaRPr sz="1200" b="1" i="0" u="none" strike="noStrike" cap="none" dirty="0">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9"/>
        <p:cNvGrpSpPr/>
        <p:nvPr/>
      </p:nvGrpSpPr>
      <p:grpSpPr>
        <a:xfrm>
          <a:off x="0" y="0"/>
          <a:ext cx="0" cy="0"/>
          <a:chOff x="0" y="0"/>
          <a:chExt cx="0" cy="0"/>
        </a:xfrm>
      </p:grpSpPr>
      <p:sp>
        <p:nvSpPr>
          <p:cNvPr id="367" name="Google Shape;367;p7"/>
          <p:cNvSpPr/>
          <p:nvPr/>
        </p:nvSpPr>
        <p:spPr>
          <a:xfrm>
            <a:off x="656150" y="1103125"/>
            <a:ext cx="4130100" cy="5297100"/>
          </a:xfrm>
          <a:prstGeom prst="roundRect">
            <a:avLst>
              <a:gd name="adj" fmla="val 4753"/>
            </a:avLst>
          </a:prstGeom>
          <a:solidFill>
            <a:schemeClr val="accent1">
              <a:lumMod val="20000"/>
              <a:lumOff val="80000"/>
            </a:scheme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5" name="Graphic 4" descr="Labor with solid fill">
            <a:extLst>
              <a:ext uri="{FF2B5EF4-FFF2-40B4-BE49-F238E27FC236}">
                <a16:creationId xmlns:a16="http://schemas.microsoft.com/office/drawing/2014/main" id="{65A71BB8-D7CD-A59C-8607-904A736860F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717100" y="1186653"/>
            <a:ext cx="544547" cy="544547"/>
          </a:xfrm>
          <a:prstGeom prst="rect">
            <a:avLst/>
          </a:prstGeom>
        </p:spPr>
      </p:pic>
      <p:sp>
        <p:nvSpPr>
          <p:cNvPr id="360" name="Google Shape;360;p7"/>
          <p:cNvSpPr txBox="1"/>
          <p:nvPr/>
        </p:nvSpPr>
        <p:spPr>
          <a:xfrm>
            <a:off x="-84050" y="-938500"/>
            <a:ext cx="2423400" cy="630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2"/>
              </a:solidFill>
              <a:latin typeface="Arial"/>
              <a:ea typeface="Arial"/>
              <a:cs typeface="Arial"/>
              <a:sym typeface="Arial"/>
            </a:endParaRPr>
          </a:p>
        </p:txBody>
      </p:sp>
      <p:sp>
        <p:nvSpPr>
          <p:cNvPr id="361" name="Google Shape;361;p7"/>
          <p:cNvSpPr txBox="1"/>
          <p:nvPr/>
        </p:nvSpPr>
        <p:spPr>
          <a:xfrm>
            <a:off x="11680100" y="6502122"/>
            <a:ext cx="354900" cy="295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dirty="0">
                <a:solidFill>
                  <a:schemeClr val="dk1"/>
                </a:solidFill>
              </a:rPr>
              <a:t>11</a:t>
            </a:r>
            <a:endParaRPr sz="1200" b="1" i="0" u="none" strike="noStrike" cap="none" dirty="0">
              <a:solidFill>
                <a:schemeClr val="dk1"/>
              </a:solidFill>
              <a:latin typeface="Arial"/>
              <a:ea typeface="Arial"/>
              <a:cs typeface="Arial"/>
              <a:sym typeface="Arial"/>
            </a:endParaRPr>
          </a:p>
        </p:txBody>
      </p:sp>
      <p:sp>
        <p:nvSpPr>
          <p:cNvPr id="362" name="Google Shape;362;p7"/>
          <p:cNvSpPr txBox="1">
            <a:spLocks noGrp="1"/>
          </p:cNvSpPr>
          <p:nvPr>
            <p:ph type="body" idx="1"/>
          </p:nvPr>
        </p:nvSpPr>
        <p:spPr>
          <a:xfrm>
            <a:off x="4967925" y="1197275"/>
            <a:ext cx="6548100" cy="5610300"/>
          </a:xfrm>
          <a:prstGeom prst="rect">
            <a:avLst/>
          </a:prstGeom>
          <a:noFill/>
          <a:ln>
            <a:noFill/>
          </a:ln>
        </p:spPr>
        <p:txBody>
          <a:bodyPr spcFirstLastPara="1" wrap="square" lIns="91425" tIns="0" rIns="91425" bIns="91425" anchor="t" anchorCtr="0">
            <a:noAutofit/>
          </a:bodyPr>
          <a:lstStyle/>
          <a:p>
            <a:pPr marL="0" lvl="0" indent="0" algn="l" rtl="0">
              <a:spcBef>
                <a:spcPts val="600"/>
              </a:spcBef>
              <a:spcAft>
                <a:spcPts val="0"/>
              </a:spcAft>
              <a:buNone/>
            </a:pPr>
            <a:r>
              <a:rPr lang="en" sz="1200" b="1" dirty="0">
                <a:solidFill>
                  <a:schemeClr val="tx1"/>
                </a:solidFill>
              </a:rPr>
              <a:t>References</a:t>
            </a:r>
            <a:endParaRPr sz="1000" dirty="0">
              <a:solidFill>
                <a:schemeClr val="tx1"/>
              </a:solidFill>
            </a:endParaRPr>
          </a:p>
          <a:p>
            <a:pPr marL="457200" lvl="0" indent="0" algn="l" rtl="0">
              <a:lnSpc>
                <a:spcPct val="115000"/>
              </a:lnSpc>
              <a:spcBef>
                <a:spcPts val="0"/>
              </a:spcBef>
              <a:spcAft>
                <a:spcPts val="0"/>
              </a:spcAft>
              <a:buNone/>
            </a:pPr>
            <a:endParaRPr sz="1000" dirty="0">
              <a:solidFill>
                <a:schemeClr val="tx1"/>
              </a:solidFill>
            </a:endParaRPr>
          </a:p>
          <a:p>
            <a:pPr marL="457200" lvl="0" indent="-298450" algn="l" rtl="0">
              <a:lnSpc>
                <a:spcPct val="115000"/>
              </a:lnSpc>
              <a:spcBef>
                <a:spcPts val="0"/>
              </a:spcBef>
              <a:spcAft>
                <a:spcPts val="0"/>
              </a:spcAft>
              <a:buClr>
                <a:schemeClr val="dk1"/>
              </a:buClr>
              <a:buSzPts val="1100"/>
              <a:buChar char="●"/>
            </a:pPr>
            <a:r>
              <a:rPr lang="en" dirty="0">
                <a:solidFill>
                  <a:schemeClr val="tx1"/>
                </a:solidFill>
              </a:rPr>
              <a:t>Hussain, A. (2022, December 09) </a:t>
            </a:r>
            <a:r>
              <a:rPr lang="en" i="1" dirty="0">
                <a:solidFill>
                  <a:schemeClr val="tx1"/>
                </a:solidFill>
              </a:rPr>
              <a:t>Insider: Definition, Types, Trading Laws, Examples</a:t>
            </a:r>
            <a:r>
              <a:rPr lang="en" dirty="0">
                <a:solidFill>
                  <a:schemeClr val="tx1"/>
                </a:solidFill>
              </a:rPr>
              <a:t>. Investopedia. Retrieved from </a:t>
            </a:r>
            <a:r>
              <a:rPr lang="en" u="sng" dirty="0">
                <a:solidFill>
                  <a:schemeClr val="accent1"/>
                </a:solidFill>
                <a:hlinkClick r:id="rId5">
                  <a:extLst>
                    <a:ext uri="{A12FA001-AC4F-418D-AE19-62706E023703}">
                      <ahyp:hlinkClr xmlns:ahyp="http://schemas.microsoft.com/office/drawing/2018/hyperlinkcolor" val="tx"/>
                    </a:ext>
                  </a:extLst>
                </a:hlinkClick>
              </a:rPr>
              <a:t>https://www.investopedia.com/terms/i/insider.asp</a:t>
            </a:r>
            <a:r>
              <a:rPr lang="en" dirty="0">
                <a:solidFill>
                  <a:schemeClr val="accent1"/>
                </a:solidFill>
              </a:rPr>
              <a:t> </a:t>
            </a:r>
            <a:endParaRPr dirty="0">
              <a:solidFill>
                <a:schemeClr val="accent1"/>
              </a:solidFill>
            </a:endParaRPr>
          </a:p>
          <a:p>
            <a:pPr marL="0" lvl="0" indent="0" algn="l" rtl="0">
              <a:lnSpc>
                <a:spcPct val="115000"/>
              </a:lnSpc>
              <a:spcBef>
                <a:spcPts val="0"/>
              </a:spcBef>
              <a:spcAft>
                <a:spcPts val="0"/>
              </a:spcAft>
              <a:buNone/>
            </a:pPr>
            <a:endParaRPr dirty="0">
              <a:solidFill>
                <a:schemeClr val="tx1"/>
              </a:solidFill>
            </a:endParaRPr>
          </a:p>
          <a:p>
            <a:pPr marL="457200" lvl="0" indent="-298450" algn="l" rtl="0">
              <a:lnSpc>
                <a:spcPct val="115000"/>
              </a:lnSpc>
              <a:spcBef>
                <a:spcPts val="0"/>
              </a:spcBef>
              <a:spcAft>
                <a:spcPts val="0"/>
              </a:spcAft>
              <a:buClr>
                <a:schemeClr val="dk1"/>
              </a:buClr>
              <a:buSzPts val="1100"/>
              <a:buChar char="●"/>
            </a:pPr>
            <a:r>
              <a:rPr lang="en" dirty="0">
                <a:solidFill>
                  <a:schemeClr val="tx1"/>
                </a:solidFill>
              </a:rPr>
              <a:t>Ran, A. (n.d.) y</a:t>
            </a:r>
            <a:r>
              <a:rPr lang="en" i="1" dirty="0">
                <a:solidFill>
                  <a:schemeClr val="tx1"/>
                </a:solidFill>
              </a:rPr>
              <a:t>finance: Yahoo! Finance market data downloader.</a:t>
            </a:r>
            <a:r>
              <a:rPr lang="en" dirty="0">
                <a:solidFill>
                  <a:schemeClr val="tx1"/>
                </a:solidFill>
              </a:rPr>
              <a:t> GitHub. Retrieved from </a:t>
            </a:r>
            <a:r>
              <a:rPr lang="en" u="sng" dirty="0">
                <a:solidFill>
                  <a:schemeClr val="accent1"/>
                </a:solidFill>
                <a:hlinkClick r:id="rId6">
                  <a:extLst>
                    <a:ext uri="{A12FA001-AC4F-418D-AE19-62706E023703}">
                      <ahyp:hlinkClr xmlns:ahyp="http://schemas.microsoft.com/office/drawing/2018/hyperlinkcolor" val="tx"/>
                    </a:ext>
                  </a:extLst>
                </a:hlinkClick>
              </a:rPr>
              <a:t>https://ranaroussi.github.io/yfinance/</a:t>
            </a:r>
            <a:endParaRPr dirty="0">
              <a:solidFill>
                <a:schemeClr val="accent1"/>
              </a:solidFill>
            </a:endParaRPr>
          </a:p>
          <a:p>
            <a:pPr marL="457200" lvl="0" indent="0" algn="l" rtl="0">
              <a:spcBef>
                <a:spcPts val="0"/>
              </a:spcBef>
              <a:spcAft>
                <a:spcPts val="0"/>
              </a:spcAft>
              <a:buNone/>
            </a:pPr>
            <a:endParaRPr dirty="0">
              <a:solidFill>
                <a:schemeClr val="tx1"/>
              </a:solidFill>
            </a:endParaRPr>
          </a:p>
          <a:p>
            <a:pPr marL="457200" lvl="0" indent="-298450" algn="l" rtl="0">
              <a:spcBef>
                <a:spcPts val="0"/>
              </a:spcBef>
              <a:spcAft>
                <a:spcPts val="0"/>
              </a:spcAft>
              <a:buClr>
                <a:schemeClr val="dk1"/>
              </a:buClr>
              <a:buSzPts val="1100"/>
              <a:buChar char="●"/>
            </a:pPr>
            <a:r>
              <a:rPr lang="en" dirty="0">
                <a:solidFill>
                  <a:schemeClr val="tx1"/>
                </a:solidFill>
              </a:rPr>
              <a:t>Charles Schwab &amp; Co., Inc. (2023, November 20). </a:t>
            </a:r>
            <a:r>
              <a:rPr lang="en" i="1" dirty="0">
                <a:solidFill>
                  <a:schemeClr val="tx1"/>
                </a:solidFill>
              </a:rPr>
              <a:t>How well do you know market cap?</a:t>
            </a:r>
            <a:r>
              <a:rPr lang="en" dirty="0">
                <a:solidFill>
                  <a:schemeClr val="tx1"/>
                </a:solidFill>
              </a:rPr>
              <a:t> Charles Schwab. Retrieved from </a:t>
            </a:r>
            <a:r>
              <a:rPr lang="en" dirty="0">
                <a:solidFill>
                  <a:schemeClr val="accent1"/>
                </a:solidFill>
                <a:uFill>
                  <a:noFill/>
                </a:uFill>
                <a:hlinkClick r:id="rId7">
                  <a:extLst>
                    <a:ext uri="{A12FA001-AC4F-418D-AE19-62706E023703}">
                      <ahyp:hlinkClr xmlns:ahyp="http://schemas.microsoft.com/office/drawing/2018/hyperlinkcolor" val="tx"/>
                    </a:ext>
                  </a:extLst>
                </a:hlinkClick>
              </a:rPr>
              <a:t>https://www.schwab.com/learn/story/how-well-do-you-know-market-cap</a:t>
            </a:r>
            <a:endParaRPr dirty="0">
              <a:solidFill>
                <a:schemeClr val="accent1"/>
              </a:solidFill>
            </a:endParaRPr>
          </a:p>
          <a:p>
            <a:pPr marL="457200" lvl="0" indent="0" algn="l" rtl="0">
              <a:spcBef>
                <a:spcPts val="0"/>
              </a:spcBef>
              <a:spcAft>
                <a:spcPts val="0"/>
              </a:spcAft>
              <a:buNone/>
            </a:pPr>
            <a:endParaRPr dirty="0">
              <a:solidFill>
                <a:schemeClr val="tx1"/>
              </a:solidFill>
            </a:endParaRPr>
          </a:p>
          <a:p>
            <a:pPr marL="457200" lvl="0" indent="-298450" algn="l" rtl="0">
              <a:spcBef>
                <a:spcPts val="0"/>
              </a:spcBef>
              <a:spcAft>
                <a:spcPts val="0"/>
              </a:spcAft>
              <a:buClr>
                <a:schemeClr val="dk1"/>
              </a:buClr>
              <a:buSzPts val="1100"/>
              <a:buChar char="●"/>
            </a:pPr>
            <a:r>
              <a:rPr lang="en" dirty="0">
                <a:solidFill>
                  <a:schemeClr val="tx1"/>
                </a:solidFill>
              </a:rPr>
              <a:t>U.S. Securities and Exchange Commission. (n.d.). </a:t>
            </a:r>
            <a:r>
              <a:rPr lang="en" i="1" dirty="0">
                <a:solidFill>
                  <a:schemeClr val="tx1"/>
                </a:solidFill>
              </a:rPr>
              <a:t>Insider Transactions Data Sets</a:t>
            </a:r>
            <a:r>
              <a:rPr lang="en" dirty="0">
                <a:solidFill>
                  <a:schemeClr val="tx1"/>
                </a:solidFill>
              </a:rPr>
              <a:t>. </a:t>
            </a:r>
            <a:r>
              <a:rPr lang="en" dirty="0">
                <a:solidFill>
                  <a:schemeClr val="tx1"/>
                </a:solidFill>
                <a:uFill>
                  <a:noFill/>
                </a:uFill>
                <a:hlinkClick r:id="rId8">
                  <a:extLst>
                    <a:ext uri="{A12FA001-AC4F-418D-AE19-62706E023703}">
                      <ahyp:hlinkClr xmlns:ahyp="http://schemas.microsoft.com/office/drawing/2018/hyperlinkcolor" val="tx"/>
                    </a:ext>
                  </a:extLst>
                </a:hlinkClick>
              </a:rPr>
              <a:t>SEC.gov</a:t>
            </a:r>
            <a:r>
              <a:rPr lang="en" dirty="0">
                <a:solidFill>
                  <a:schemeClr val="tx1"/>
                </a:solidFill>
              </a:rPr>
              <a:t>. Retrieved from </a:t>
            </a:r>
            <a:r>
              <a:rPr lang="en" dirty="0">
                <a:solidFill>
                  <a:schemeClr val="accent1"/>
                </a:solidFill>
                <a:uFill>
                  <a:noFill/>
                </a:uFill>
                <a:hlinkClick r:id="rId9">
                  <a:extLst>
                    <a:ext uri="{A12FA001-AC4F-418D-AE19-62706E023703}">
                      <ahyp:hlinkClr xmlns:ahyp="http://schemas.microsoft.com/office/drawing/2018/hyperlinkcolor" val="tx"/>
                    </a:ext>
                  </a:extLst>
                </a:hlinkClick>
              </a:rPr>
              <a:t>https://www.sec.gov/data-research/sec-markets-data/insider-transactions-data-sets</a:t>
            </a:r>
            <a:endParaRPr dirty="0">
              <a:solidFill>
                <a:schemeClr val="accent1"/>
              </a:solidFill>
            </a:endParaRPr>
          </a:p>
          <a:p>
            <a:pPr marL="457200" lvl="0" indent="0" algn="l" rtl="0">
              <a:spcBef>
                <a:spcPts val="0"/>
              </a:spcBef>
              <a:spcAft>
                <a:spcPts val="0"/>
              </a:spcAft>
              <a:buNone/>
            </a:pPr>
            <a:endParaRPr dirty="0">
              <a:solidFill>
                <a:schemeClr val="tx1"/>
              </a:solidFill>
            </a:endParaRPr>
          </a:p>
          <a:p>
            <a:pPr marL="457200" lvl="0" indent="-298450" algn="l" rtl="0">
              <a:spcBef>
                <a:spcPts val="0"/>
              </a:spcBef>
              <a:spcAft>
                <a:spcPts val="0"/>
              </a:spcAft>
              <a:buClr>
                <a:schemeClr val="dk1"/>
              </a:buClr>
              <a:buSzPts val="1100"/>
              <a:buChar char="●"/>
            </a:pPr>
            <a:r>
              <a:rPr lang="en" dirty="0">
                <a:solidFill>
                  <a:schemeClr val="tx1"/>
                </a:solidFill>
              </a:rPr>
              <a:t>U.S. Securities and Exchange Commission. (n.d.). </a:t>
            </a:r>
            <a:r>
              <a:rPr lang="en" i="1" dirty="0">
                <a:solidFill>
                  <a:schemeClr val="tx1"/>
                </a:solidFill>
              </a:rPr>
              <a:t>Insider Transactions ReadMe</a:t>
            </a:r>
            <a:r>
              <a:rPr lang="en" dirty="0">
                <a:solidFill>
                  <a:schemeClr val="tx1"/>
                </a:solidFill>
              </a:rPr>
              <a:t> [PDF file]. Retrieved from </a:t>
            </a:r>
            <a:r>
              <a:rPr lang="en" dirty="0">
                <a:solidFill>
                  <a:schemeClr val="accent1"/>
                </a:solidFill>
                <a:uFill>
                  <a:noFill/>
                </a:uFill>
                <a:hlinkClick r:id="rId9">
                  <a:extLst>
                    <a:ext uri="{A12FA001-AC4F-418D-AE19-62706E023703}">
                      <ahyp:hlinkClr xmlns:ahyp="http://schemas.microsoft.com/office/drawing/2018/hyperlinkcolor" val="tx"/>
                    </a:ext>
                  </a:extLst>
                </a:hlinkClick>
              </a:rPr>
              <a:t>https://www.sec.gov/data-research/sec-markets-data/insider-transactions-data-sets</a:t>
            </a:r>
            <a:endParaRPr dirty="0">
              <a:solidFill>
                <a:schemeClr val="accent1"/>
              </a:solidFill>
            </a:endParaRPr>
          </a:p>
          <a:p>
            <a:pPr marL="0" lvl="0" indent="0" algn="l" rtl="0">
              <a:lnSpc>
                <a:spcPct val="115000"/>
              </a:lnSpc>
              <a:spcBef>
                <a:spcPts val="1200"/>
              </a:spcBef>
              <a:spcAft>
                <a:spcPts val="0"/>
              </a:spcAft>
              <a:buClr>
                <a:schemeClr val="dk1"/>
              </a:buClr>
              <a:buSzPts val="1100"/>
              <a:buFont typeface="Arial"/>
              <a:buNone/>
            </a:pPr>
            <a:endParaRPr sz="1050" dirty="0">
              <a:solidFill>
                <a:schemeClr val="tx1"/>
              </a:solidFill>
            </a:endParaRPr>
          </a:p>
          <a:p>
            <a:pPr marL="0" lvl="0" indent="0" algn="l" rtl="0">
              <a:lnSpc>
                <a:spcPct val="115000"/>
              </a:lnSpc>
              <a:spcBef>
                <a:spcPts val="1200"/>
              </a:spcBef>
              <a:spcAft>
                <a:spcPts val="0"/>
              </a:spcAft>
              <a:buSzPts val="1100"/>
              <a:buNone/>
            </a:pPr>
            <a:endParaRPr dirty="0">
              <a:solidFill>
                <a:schemeClr val="tx1"/>
              </a:solidFill>
            </a:endParaRPr>
          </a:p>
          <a:p>
            <a:pPr marL="0" lvl="0" indent="0" algn="l" rtl="0">
              <a:lnSpc>
                <a:spcPct val="115000"/>
              </a:lnSpc>
              <a:spcBef>
                <a:spcPts val="600"/>
              </a:spcBef>
              <a:spcAft>
                <a:spcPts val="600"/>
              </a:spcAft>
              <a:buSzPts val="1100"/>
              <a:buNone/>
            </a:pPr>
            <a:endParaRPr dirty="0">
              <a:solidFill>
                <a:schemeClr val="tx1"/>
              </a:solidFill>
            </a:endParaRPr>
          </a:p>
        </p:txBody>
      </p:sp>
      <p:sp>
        <p:nvSpPr>
          <p:cNvPr id="365" name="Google Shape;365;p7"/>
          <p:cNvSpPr txBox="1">
            <a:spLocks noGrp="1"/>
          </p:cNvSpPr>
          <p:nvPr>
            <p:ph type="title"/>
          </p:nvPr>
        </p:nvSpPr>
        <p:spPr>
          <a:xfrm>
            <a:off x="433650" y="388325"/>
            <a:ext cx="4692900" cy="512700"/>
          </a:xfrm>
          <a:prstGeom prst="rect">
            <a:avLst/>
          </a:prstGeom>
          <a:noFill/>
          <a:ln>
            <a:noFill/>
          </a:ln>
        </p:spPr>
        <p:txBody>
          <a:bodyPr spcFirstLastPara="1" wrap="square" lIns="121875" tIns="121875" rIns="121875" bIns="121875" anchor="t" anchorCtr="0">
            <a:noAutofit/>
          </a:bodyPr>
          <a:lstStyle/>
          <a:p>
            <a:pPr marL="0" lvl="0" indent="0" algn="l" rtl="0">
              <a:lnSpc>
                <a:spcPct val="100000"/>
              </a:lnSpc>
              <a:spcBef>
                <a:spcPts val="0"/>
              </a:spcBef>
              <a:spcAft>
                <a:spcPts val="0"/>
              </a:spcAft>
              <a:buSzPts val="3700"/>
              <a:buNone/>
            </a:pPr>
            <a:r>
              <a:rPr lang="en" sz="2400" dirty="0">
                <a:solidFill>
                  <a:schemeClr val="tx1"/>
                </a:solidFill>
              </a:rPr>
              <a:t>Statement of Work and References</a:t>
            </a:r>
            <a:endParaRPr sz="2400" dirty="0">
              <a:solidFill>
                <a:schemeClr val="tx1"/>
              </a:solidFill>
            </a:endParaRPr>
          </a:p>
        </p:txBody>
      </p:sp>
      <p:sp>
        <p:nvSpPr>
          <p:cNvPr id="366" name="Google Shape;366;p7"/>
          <p:cNvSpPr/>
          <p:nvPr/>
        </p:nvSpPr>
        <p:spPr>
          <a:xfrm>
            <a:off x="7763225" y="242375"/>
            <a:ext cx="3700200" cy="470700"/>
          </a:xfrm>
          <a:prstGeom prst="chevron">
            <a:avLst>
              <a:gd name="adj" fmla="val 50000"/>
            </a:avLst>
          </a:prstGeom>
          <a:solidFill>
            <a:schemeClr val="accent1"/>
          </a:solidFill>
          <a:ln w="19050"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chemeClr val="tx1"/>
                </a:solidFill>
              </a:rPr>
              <a:t>Statement of Work and References</a:t>
            </a:r>
            <a:endParaRPr b="1" dirty="0">
              <a:solidFill>
                <a:schemeClr val="tx1"/>
              </a:solidFill>
            </a:endParaRPr>
          </a:p>
        </p:txBody>
      </p:sp>
      <p:sp>
        <p:nvSpPr>
          <p:cNvPr id="368" name="Google Shape;368;p7"/>
          <p:cNvSpPr txBox="1"/>
          <p:nvPr/>
        </p:nvSpPr>
        <p:spPr>
          <a:xfrm>
            <a:off x="797900" y="1216225"/>
            <a:ext cx="3988200" cy="4786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1200" b="1" dirty="0">
                <a:solidFill>
                  <a:schemeClr val="bg2"/>
                </a:solidFill>
              </a:rPr>
              <a:t>Statement of Work</a:t>
            </a:r>
            <a:endParaRPr sz="1200" b="1" dirty="0">
              <a:solidFill>
                <a:schemeClr val="bg2"/>
              </a:solidFill>
            </a:endParaRPr>
          </a:p>
          <a:p>
            <a:pPr marL="0" lvl="0" indent="0" algn="l" rtl="0">
              <a:lnSpc>
                <a:spcPct val="115000"/>
              </a:lnSpc>
              <a:spcBef>
                <a:spcPts val="600"/>
              </a:spcBef>
              <a:spcAft>
                <a:spcPts val="0"/>
              </a:spcAft>
              <a:buNone/>
            </a:pPr>
            <a:endParaRPr sz="800" b="1" dirty="0">
              <a:solidFill>
                <a:schemeClr val="bg2"/>
              </a:solidFill>
            </a:endParaRPr>
          </a:p>
          <a:p>
            <a:pPr marL="0" lvl="0" indent="0" algn="l" rtl="0">
              <a:lnSpc>
                <a:spcPct val="115000"/>
              </a:lnSpc>
              <a:spcBef>
                <a:spcPts val="600"/>
              </a:spcBef>
              <a:spcAft>
                <a:spcPts val="0"/>
              </a:spcAft>
              <a:buNone/>
            </a:pPr>
            <a:r>
              <a:rPr lang="en" sz="1000" dirty="0">
                <a:solidFill>
                  <a:schemeClr val="bg2"/>
                </a:solidFill>
              </a:rPr>
              <a:t>Collaboration raised unique challenges. We gained experience in collaborative tools like Google Colab and GitHub. Our team had multiple video meetings and communicated through slack extensively. In the future, we can improve collaboration by more clearly outlining project tasks for each individual and creating an environment where colleagues are encouraged to engage and ask questions.</a:t>
            </a:r>
            <a:endParaRPr sz="1000" dirty="0">
              <a:solidFill>
                <a:schemeClr val="bg2"/>
              </a:solidFill>
            </a:endParaRPr>
          </a:p>
          <a:p>
            <a:pPr marL="0" lvl="0" indent="0" algn="l" rtl="0">
              <a:lnSpc>
                <a:spcPct val="115000"/>
              </a:lnSpc>
              <a:spcBef>
                <a:spcPts val="600"/>
              </a:spcBef>
              <a:spcAft>
                <a:spcPts val="0"/>
              </a:spcAft>
              <a:buNone/>
            </a:pPr>
            <a:endParaRPr sz="800" dirty="0">
              <a:solidFill>
                <a:schemeClr val="bg2"/>
              </a:solidFill>
            </a:endParaRPr>
          </a:p>
          <a:p>
            <a:pPr marL="0" lvl="0" indent="0" algn="l" rtl="0">
              <a:lnSpc>
                <a:spcPct val="115000"/>
              </a:lnSpc>
              <a:spcBef>
                <a:spcPts val="600"/>
              </a:spcBef>
              <a:spcAft>
                <a:spcPts val="0"/>
              </a:spcAft>
              <a:buNone/>
            </a:pPr>
            <a:r>
              <a:rPr lang="en" sz="1000" b="1" dirty="0">
                <a:solidFill>
                  <a:schemeClr val="bg2"/>
                </a:solidFill>
              </a:rPr>
              <a:t>Thomas MacPherson</a:t>
            </a:r>
            <a:endParaRPr sz="1000" b="1" dirty="0">
              <a:solidFill>
                <a:schemeClr val="bg2"/>
              </a:solidFill>
            </a:endParaRPr>
          </a:p>
          <a:p>
            <a:pPr marL="0" lvl="0" indent="0" algn="l" rtl="0">
              <a:lnSpc>
                <a:spcPct val="115000"/>
              </a:lnSpc>
              <a:spcBef>
                <a:spcPts val="600"/>
              </a:spcBef>
              <a:spcAft>
                <a:spcPts val="0"/>
              </a:spcAft>
              <a:buNone/>
            </a:pPr>
            <a:r>
              <a:rPr lang="en" sz="1000" dirty="0">
                <a:solidFill>
                  <a:schemeClr val="bg2"/>
                </a:solidFill>
              </a:rPr>
              <a:t>Project proposal, financial data aggregation, data manipulation, exploratory data analysis, Insider role and position analysis, visualizations, report writing and editing</a:t>
            </a:r>
            <a:endParaRPr sz="1000" dirty="0">
              <a:solidFill>
                <a:schemeClr val="bg2"/>
              </a:solidFill>
            </a:endParaRPr>
          </a:p>
          <a:p>
            <a:pPr marL="0" lvl="0" indent="0" algn="l" rtl="0">
              <a:lnSpc>
                <a:spcPct val="115000"/>
              </a:lnSpc>
              <a:spcBef>
                <a:spcPts val="600"/>
              </a:spcBef>
              <a:spcAft>
                <a:spcPts val="0"/>
              </a:spcAft>
              <a:buNone/>
            </a:pPr>
            <a:endParaRPr sz="1000" b="1" dirty="0">
              <a:solidFill>
                <a:schemeClr val="bg2"/>
              </a:solidFill>
            </a:endParaRPr>
          </a:p>
          <a:p>
            <a:pPr marL="0" lvl="0" indent="0" algn="l" rtl="0">
              <a:lnSpc>
                <a:spcPct val="115000"/>
              </a:lnSpc>
              <a:spcBef>
                <a:spcPts val="600"/>
              </a:spcBef>
              <a:spcAft>
                <a:spcPts val="0"/>
              </a:spcAft>
              <a:buNone/>
            </a:pPr>
            <a:r>
              <a:rPr lang="en" sz="1000" b="1" dirty="0">
                <a:solidFill>
                  <a:schemeClr val="bg2"/>
                </a:solidFill>
              </a:rPr>
              <a:t>Kirtland Corregan</a:t>
            </a:r>
            <a:endParaRPr sz="1000" b="1" dirty="0">
              <a:solidFill>
                <a:schemeClr val="bg2"/>
              </a:solidFill>
            </a:endParaRPr>
          </a:p>
          <a:p>
            <a:pPr marL="0" lvl="0" indent="0" algn="l" rtl="0">
              <a:lnSpc>
                <a:spcPct val="115000"/>
              </a:lnSpc>
              <a:spcBef>
                <a:spcPts val="600"/>
              </a:spcBef>
              <a:spcAft>
                <a:spcPts val="0"/>
              </a:spcAft>
              <a:buNone/>
            </a:pPr>
            <a:r>
              <a:rPr lang="en" sz="1000" dirty="0">
                <a:solidFill>
                  <a:schemeClr val="bg2"/>
                </a:solidFill>
              </a:rPr>
              <a:t>Project proposal, Insider data acquisition, data manipulation, exploratory analysis, Individual Insider analysis, visualizations, report writing and editing</a:t>
            </a:r>
            <a:endParaRPr sz="1000" dirty="0">
              <a:solidFill>
                <a:schemeClr val="bg2"/>
              </a:solidFill>
            </a:endParaRPr>
          </a:p>
          <a:p>
            <a:pPr marL="0" lvl="0" indent="0" algn="l" rtl="0">
              <a:lnSpc>
                <a:spcPct val="115000"/>
              </a:lnSpc>
              <a:spcBef>
                <a:spcPts val="600"/>
              </a:spcBef>
              <a:spcAft>
                <a:spcPts val="0"/>
              </a:spcAft>
              <a:buNone/>
            </a:pPr>
            <a:endParaRPr sz="1000" b="1" dirty="0">
              <a:solidFill>
                <a:schemeClr val="bg2"/>
              </a:solidFill>
            </a:endParaRPr>
          </a:p>
          <a:p>
            <a:pPr marL="0" lvl="0" indent="0" algn="l" rtl="0">
              <a:lnSpc>
                <a:spcPct val="115000"/>
              </a:lnSpc>
              <a:spcBef>
                <a:spcPts val="600"/>
              </a:spcBef>
              <a:spcAft>
                <a:spcPts val="0"/>
              </a:spcAft>
              <a:buNone/>
            </a:pPr>
            <a:r>
              <a:rPr lang="en" sz="1000" b="1" dirty="0">
                <a:solidFill>
                  <a:schemeClr val="bg2"/>
                </a:solidFill>
              </a:rPr>
              <a:t>Rami Abushamalah</a:t>
            </a:r>
            <a:endParaRPr sz="1000" b="1" dirty="0">
              <a:solidFill>
                <a:schemeClr val="bg2"/>
              </a:solidFill>
            </a:endParaRPr>
          </a:p>
          <a:p>
            <a:pPr marL="0" lvl="0" indent="0" algn="l" rtl="0">
              <a:lnSpc>
                <a:spcPct val="115000"/>
              </a:lnSpc>
              <a:spcBef>
                <a:spcPts val="600"/>
              </a:spcBef>
              <a:spcAft>
                <a:spcPts val="0"/>
              </a:spcAft>
              <a:buClr>
                <a:schemeClr val="dk1"/>
              </a:buClr>
              <a:buSzPts val="1100"/>
              <a:buFont typeface="Arial"/>
              <a:buNone/>
            </a:pPr>
            <a:r>
              <a:rPr lang="en" sz="1000" dirty="0">
                <a:solidFill>
                  <a:schemeClr val="bg2"/>
                </a:solidFill>
              </a:rPr>
              <a:t>Editing project proposal, Corporate data acquisition, exploratory analysis, visualizations, report writing and editing</a:t>
            </a:r>
            <a:endParaRPr sz="1000" dirty="0">
              <a:solidFill>
                <a:schemeClr val="bg2"/>
              </a:solidFill>
            </a:endParaRPr>
          </a:p>
          <a:p>
            <a:pPr marL="0" lvl="0" indent="0" algn="l" rtl="0">
              <a:spcBef>
                <a:spcPts val="0"/>
              </a:spcBef>
              <a:spcAft>
                <a:spcPts val="0"/>
              </a:spcAft>
              <a:buNone/>
            </a:pPr>
            <a:endParaRPr sz="2400" dirty="0">
              <a:solidFill>
                <a:schemeClr val="bg2"/>
              </a:solidFill>
            </a:endParaRPr>
          </a:p>
        </p:txBody>
      </p:sp>
      <p:sp>
        <p:nvSpPr>
          <p:cNvPr id="2" name="Rectangle 1">
            <a:extLst>
              <a:ext uri="{FF2B5EF4-FFF2-40B4-BE49-F238E27FC236}">
                <a16:creationId xmlns:a16="http://schemas.microsoft.com/office/drawing/2014/main" id="{828F9CC5-402E-5DB4-0A3F-D4512BEFD26C}"/>
              </a:ext>
            </a:extLst>
          </p:cNvPr>
          <p:cNvSpPr/>
          <p:nvPr/>
        </p:nvSpPr>
        <p:spPr>
          <a:xfrm rot="10800000" flipV="1">
            <a:off x="-1" y="946962"/>
            <a:ext cx="9068025" cy="45719"/>
          </a:xfrm>
          <a:prstGeom prst="rect">
            <a:avLst/>
          </a:prstGeom>
          <a:gradFill>
            <a:gsLst>
              <a:gs pos="100000">
                <a:srgbClr val="14232E"/>
              </a:gs>
              <a:gs pos="0">
                <a:schemeClr val="tx2">
                  <a:lumMod val="20000"/>
                  <a:lumOff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ECAD126-7B2C-1A1B-EEEE-BA3D1F961E8A}"/>
              </a:ext>
            </a:extLst>
          </p:cNvPr>
          <p:cNvSpPr/>
          <p:nvPr/>
        </p:nvSpPr>
        <p:spPr>
          <a:xfrm>
            <a:off x="3410275" y="6456178"/>
            <a:ext cx="8781725" cy="45719"/>
          </a:xfrm>
          <a:prstGeom prst="rect">
            <a:avLst/>
          </a:prstGeom>
          <a:gradFill>
            <a:gsLst>
              <a:gs pos="100000">
                <a:srgbClr val="9E7316"/>
              </a:gs>
              <a:gs pos="0">
                <a:schemeClr val="tx2">
                  <a:lumMod val="20000"/>
                  <a:lumOff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Simple Light">
  <a:themeElements>
    <a:clrScheme name="River Rose Financial">
      <a:dk1>
        <a:srgbClr val="14232E"/>
      </a:dk1>
      <a:lt1>
        <a:srgbClr val="DAD7CD"/>
      </a:lt1>
      <a:dk2>
        <a:srgbClr val="702632"/>
      </a:dk2>
      <a:lt2>
        <a:srgbClr val="EADAA2"/>
      </a:lt2>
      <a:accent1>
        <a:srgbClr val="9A7116"/>
      </a:accent1>
      <a:accent2>
        <a:srgbClr val="2A4D14"/>
      </a:accent2>
      <a:accent3>
        <a:srgbClr val="F5E0B7"/>
      </a:accent3>
      <a:accent4>
        <a:srgbClr val="C9CBA3"/>
      </a:accent4>
      <a:accent5>
        <a:srgbClr val="DFD5A5"/>
      </a:accent5>
      <a:accent6>
        <a:srgbClr val="A7A2A9"/>
      </a:accent6>
      <a:hlink>
        <a:srgbClr val="0563C1"/>
      </a:hlink>
      <a:folHlink>
        <a:srgbClr val="9A711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290</TotalTime>
  <Words>4471</Words>
  <Application>Microsoft Office PowerPoint</Application>
  <PresentationFormat>Custom</PresentationFormat>
  <Paragraphs>253</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Roboto Mono</vt:lpstr>
      <vt:lpstr>Roboto Condensed</vt:lpstr>
      <vt:lpstr>Arial</vt:lpstr>
      <vt:lpstr>Simple Light</vt:lpstr>
      <vt:lpstr>PowerPoint Presentation</vt:lpstr>
      <vt:lpstr>Motivation</vt:lpstr>
      <vt:lpstr>Data Sources</vt:lpstr>
      <vt:lpstr>Data Sources</vt:lpstr>
      <vt:lpstr>Data Manipulation and Exploratory Analysis</vt:lpstr>
      <vt:lpstr>Data Manipulation and Exploratory Analysis</vt:lpstr>
      <vt:lpstr>Data Manipulation and Exploratory Analysis</vt:lpstr>
      <vt:lpstr>Insider Position Analysis</vt:lpstr>
      <vt:lpstr>Individual Insider Analysis</vt:lpstr>
      <vt:lpstr>Conclusions and Future Work</vt:lpstr>
      <vt:lpstr>Statement of Work and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Thomas MacPherson</cp:lastModifiedBy>
  <cp:revision>53</cp:revision>
  <dcterms:modified xsi:type="dcterms:W3CDTF">2025-06-23T00:24:52Z</dcterms:modified>
</cp:coreProperties>
</file>